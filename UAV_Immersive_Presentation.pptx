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unmanned aerial vehicle is the aircraft. A complete unmanned aircraft system includes the aircraft, its control station, communications, people and support equipment. This presentation uses the repository images as supplied. Aircraft identities follow asset filenames; internal diagrams are generic teaching illustrations, not verified layouts. It focuses on engineering, civil uses, history and safe operations. No model-specific dimensions or mission performance are inferred from photographs.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UAV, UAS and RPAS are related terms, but not interchangeable. A drone may also be an unmanned surface or underwater vehicle in everyday language. An autopilot is not proof of full autonomy. A flight controller stabilizes the aircraft; a mission system manages objectives and payload tasks. Distinguish human authority from the degree of automation. The same physical aircraft can support different system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deck as a system walkthrough. First establish historical context and mission needs, then follow the airframe and internal equipment, and finally connect the aircraft to its ground segment. The later sections explain how the subsystems interact in an illustrative civil survey mission. The main slides stay visual; these speaker notes provide the deeper technical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is selected from the mission rather than from appearance. Compare payload mass, flight time, launch area, wind tolerance, maintainability and regulatory constraints. HALE and MALE describe altitude/endurance categories, not a single geometry or guaranteed performance. A high-aspect-ratio wing can improve aerodynamic efficiency but increases structural and handling challenges. Tiltrotors, lift-plus-cruise aircraft and tailsitters make different compromises.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Uncrewed balloon attacks in 1849 are commonly cited as an early precursor, not as controllable powered UAVs. During World War I, the British Aerial Target and American Kettering Bug explored unmanned flight. The Kettering Bug was an experimental aerial torpedo and did not see combat in that war. Radio-controlled target aircraft became important during the interwar years. The British Queen Bee target aircraft is associated with the popularization of the term drone. These milestones should not be treated as a single uncontested invention date.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War reconnaissance drones such as the Ryan Firebee family demonstrated remote reconnaissance. In the 1980s, Israeli UAV operations helped establish practical integration of imagery, datalinks and ground operators. The Predator first flew in 1994, and later systems increased endurance and sensor capability. In the 2000s, satellite links extended operations beyond local radio line of sight. In the 2010s, lower-cost inertial sensors, GNSS, batteries and embedded computing expanded civil multirotor use. Modern developments include onboard perception and increasingly automated mission management, subject to safety and regulation.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India’s history includes different programme categories: reusable targets, reconnaissance aircraft, technology demonstrators and operational systems. Lakshya is a pilotless target aircraft; Nishant is a reconnaissance UAV programme with a distinctive launch and recovery approach. Searcher and Heron supplied by Israel are part of India’s operating history, not indigenous designs. Rustom and TAPAS represent continuing indigenous development. Programme development, flight testing, user trials and operational induction are distinct stages. Avoid assuming induction merely from a public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Selected widely reported milestones include Lakshya induction in the 1990s, Nishant’s first flight in 1995, Rustom-I’s first flight in 2009 and Rustom-II’s first flight in 2016. Rustom-II is associated with TAPAS-BH-201. ABHYAS development concerns an expendable aerial target. A DRDO autonomous flying-wing technology demonstrator flew in 2022. The Drone Rules, 2021 helped frame the civil regulatory environment. This is not an exhaustive record; current programme status, certification and individual flight permissions must be checked with authoritative 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gallery to discuss form and function. The asset names TAPAS, ARCHER, ABHYAS, SWIFT-K, SETB, HALE and SLM-UAV come from the user’s repository. They are not a verified aircraft registry. ABHYAS is a high-speed expendable aerial target programme. TAPAS is associated with medium-altitude long-endurance development. Flying-wing shapes support discussion of configuration and control rather than a claim about payload, range or stealth. HALE is a category label; a filename alone does not establish a specific programme’s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photograph is used for visible configuration discussion. It is not a dimensional drawing. Do not infer exact engine type, fuel quantity, internal redundancy or sensor capability from it. Public programme specifications can vary with test configuration and reporting date. The engineering topics here apply generically: balancing payload, energy, drag, wing bending, flight controls and ground communications.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Flight-critical control is performed onboard and must remain bounded and predictable when communication is delayed. The command-and-control channel carries operator intent and aircraft status. Payload data may share the physical link but should not overwhelm control traffic. The ground station provides planning, supervision and display. Support infrastructure includes weather information, maps, maintenance, configuration management and energy supply. Arrows in this diagram show functional relationships, not a model-specific wiring topology.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Wing lift is distributed along the span. Spars carry most wing bending loads while skins, ribs and closed sections distribute local loads and resist torsion. The fuselage supports equipment and transfers loads between major assemblies. Twin booms connect the tail to the wing or fuselage structure. Control surfaces alter moments and forces. Structural design must address fatigue, vibration, landing loads and environmental degradation. A planform drawing cannot establish material allowables or structural margins.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efficiency means meeting stiffness and strength requirements with reasonable mass. Carbon-fibre composites can offer high specific stiffness but are anisotropic and require damage-aware inspection. Sandwich structures can be efficient but susceptible to core damage and water ingress. Metals have different fatigue, corrosion and repair considerations. Joints and attachments often dominate local design constraints. Maintenance access is an engineering requirement, not an afterthought. Structural substantiation needs loads, analysis and testing; a visual blueprint is only a teaching aid.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Lift is perpendicular to the relative airflow; drag is parallel and opposite to it. In steady level flight, lift approximately equals weight and thrust approximately equals drag. During climb, acceleration and turns, the force balance changes. The lift equation is L = one-half rho V squared S C_L. Density, speed, wing area and lift coefficient all matter. Stall relates to exceeding the critical angle of attack; it is not defined by a single universal speed. Aircraft configuration and loading change operating margins.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Mass and centre of gravity must be assessed for launch, cruise and landing configurations. Fuel consumption may shift the centre of gravity, depending on tank location. Static stability is not the same as dynamic stability or closed-loop handling quality. Control-surface free play and mass balance affect aeroelastic behaviour. Flutter is a coupled instability requiring analysis and test, not a cosmetic vibration issue. Isolation for avionics must avoid introducing harmful resonances. Never substitute a generic diagram for aircraft-approved limits.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transparent schematic separates functional equipment zones. A typical fixed-wing UAV includes payload electronics, navigation sensors, flight control computers, power distribution, communication radios, energy storage or fuel and propulsion. Actual locations depend on centre of gravity, electromagnetic compatibility, thermal needs, safety separation and maintenance access. Equipment may be duplicated or distributed. The colour blocks are conceptual and deliberately do not identify a verified internal design. An LRU is an item intended to be replaced at the line-maintenance level; not every component is an LRU.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generated technical visualization is an artistic conceptual cutaway. The glowing shell suggests access to the internal architecture, while the colours indicate payload, avionics, energy and structural components. Exact placements, sizes, materials and connections are not verified engineering data. Use the adjacent editable vector schematic and LRU table for the functional explanation. Do not identify this generic aircraft as TAPAS, ARCHER or another repository model. Real installations depend on mass balance, cooling, electromagnetic compatibility and maintenance access.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Propulsion may use reciprocating engines, rotary engines, turboprops, turbojets, electric motors or hybrid architectures. A propeller accelerates a large mass of air by a moderate amount; jet propulsion uses a different balance of mass flow and exhaust velocity. No engine class is universally best. The selection depends on flight speed, altitude, endurance, payload, acoustic requirements and infrastructure. Electrification shifts substantial complexity into batteries, power electronics and thermal management. Hybrid systems add both energy-conversion options and integration burden.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Fuel passes through storage, filtration and delivery before metering into the engine. Combustion generates shaft power, which reaches the propeller directly or through a gearbox. The engine control unit may manage fuel, ignition and limits depending on architecture. Cooling and lubrication remove heat and protect mechanical components. A generator supplies onboard electrical loads. Propeller installation influences inlet airflow, cooling, vibration and sensor placement. Twin-engine configurations require procedures and control authority for asymmetric thrust; redundancy is not automatic immunity from common failures.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first-order estimate is flight time in hours approximately equal to usable energy in watt-hours divided by average electrical power in watts. For example, 800 Wh usable at 400 W average gives 2 hours before mission-specific reserve and other adjustments; this is an illustrative calculation, not a UAV specification. Battery voltage sag, cell ageing, discharge rate, temperature and state-estimation uncertainty reduce confidence in nameplate energy. Electrical propulsion needs protection against overcurrent, thermal faults and undervoltage. Hover and forward-flight power differ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distribution unit routes and protects electrical supplies. DC-DC converters supply voltages needed by individual LRUs. Essential flight controls should have an assessed power continuity strategy. Nonessential payload loads can be shed to protect essential functions. Thermal design must cover worst-case ambient conditions, low-speed ground operation and reduced-density altitude. Redundant computers can still fail together if they share an unprotected supply, thermal path or software defect. Quantitative safety analysis is needed before making reliability claims.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 and control carries authority, modes, mission updates and status. Telemetry includes position, attitude, energy state, faults and link health. Payload traffic carries imagery or other mission data and often consumes more bandwidth. Logical separation and scheduling are important even when traffic shares hardware. Link quality includes latency, jitter, loss, availability and integrity, not only received signal strength. Cryptographic authentication protects against unauthorized messages; encryption protects confidentiality. Actual spectrum use and communication architecture must comply with applicable approvals.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GDT is the ground data terminal. A ground control station may be physically separate from its antennas and RF terminal. A generic ground RF chain includes a modem, transceiver, amplifier, filtering, cabling and antenna. Directional antennas may need mechanical or electronic tracking. Antenna placement must account for obstructions, Fresnel clearance, interference and ground safety. The user-provided image is labelled gdt; its exact configuration and capabilities have not been independently verified.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 line of sight is affected by terrain, buildings, antenna height and Earth curvature. Fresnel-zone obstruction can impair a link even when the endpoints are visually visible. Beyond-line-of-sight communication may use satellites or approved relay networks, but adds latency, dependencies and potential service interruptions. Regulatory BVLOS flight permission is a separate question from having technical BLOS communication capability. The graphic is a functional illustration rather than a statement about a specific aircraft system.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SDT is used here as the repository’s satellite data terminal label. The image alone does not prove which satellite network or service it supports. Satellite links can support a ground communications segment and, when the aircraft is equipped appropriately, beyond-line-of-sight paths. Do not assume the pictured ground terminal is an airborne terminal. Account for antenna pointing, obstructions, service authorization, weather-related degradation where applicable, and operational latency. Satellite availability does not replace airspace permission or flight safety provisions.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simplified budget is P_rx in dBm = P_tx in dBm + G_tx in dBi + G_rx in dBi − losses in dB. Free-space path loss increases with distance and frequency for a specified antenna-gain comparison; it is only one component of a real propagation model. Link margin compares received performance with receiver requirements and the selected modulation and coding. Robustness may trade against throughput. Link-budget calculations require verified parameters and licensing limits, so no operational frequency, power or coverage is prescribed 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antenna converts guided electromagnetic energy into radiated energy and vice versa. Omnidirectional antennas provide broad azimuth coverage but do not have uniform three-dimensional gain. Directional antennas concentrate energy and need alignment. Polarization mismatch can reduce received power. Aircraft attitude changes can create pattern nulls or polarization changes; the airframe and cables can alter the installed pattern. GNSS antennas receive navigation signals and are separate in purpose from communication antennas. Diversity helps only when placement and switching logic are engineered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Electromagnetic compatibility is assessed at installed-system level. A communications transmitter can desensitize a navigation receiver or interfere with other electronics if filtering and layout are inadequate. Coaxial cable loss and connector condition affect the link budget. Bonding and shielding strategies must work with the structural material. Carbon composites are not electrically identical to metal skins. Antennas may require radomes whose material properties affect performance. Field checks should follow approved procedures and should not expose personnel to unsafe RF or mast hazards.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FCC processes sensor measurements, estimates state and issues commands that stabilize and guide the aircraft. Inner loops are generally faster than navigation and mission-management loops. The controller uses feedback to reduce error, but actuator authority, latency and sensor validity bound performance. Mission commands should be checked before affecting the control system. FCC and payload-processing functions may be hosted separately. This diagram shows functional blocks, not prescribed hardware or software timing.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IMU measures angular rate and specific force, not absolute position directly. GNSS can bound long-term inertial drift but can degrade or be unavailable. Air data may include static pressure, differential pressure and temperature; calibration and installation error matter. A magnetometer may aid heading on some systems but is sensitive to local magnetic disturbances. Filtering, often using a Kalman-family estimator, combines models and measurements. Time synchronization, sensor alignment, vibration filtering and fault detection are essential. No architecture makes navigation immune to all environmental or data-quality problems.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lost-link action is not a universal return-to-home instruction. The appropriate behaviour is designed and approved for the aircraft and operation. A return path may be unsuitable because of terrain, weather, energy state or airspace restrictions. A watchdog can detect some software hangs but not all incorrect outputs. Redundancy requires common-cause analysis, including shared power, sensors and software. Mode confusion is a human-factors risk; the ground display and onboard logic must agree on command authority and current state. Fault response should be validated by appropriate simulation and controlled tests.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LRU is defined by the maintenance concept, not by its physical size alone. Replacing a failed LRU at line level can reduce downtime, while detailed repair happens at a workshop. A system may combine multiple functions in one LRU or distribute a function across several LRUs. Typical items include FCC, navigation unit, radio, power distribution, engine controller, payload electronics and actuators. Some may instead be subassemblies or shop-replaceable units. Replacement must preserve software compatibility, configuration, calibration, connectors and approved release-to-service procedures.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controller output is useful only if the actuator can execute it. Torque, speed, travel, backlash and power demand affect control design. Bus choice depends on bandwidth, determinism, environmental qualification and legacy compatibility. A communications bus failure can affect multiple apparently independent LRUs. Harness damage can produce intermittent faults that built-in tests miss. Maintenance should inspect connector retention, corrosion, grounding, routing and chafing. Aircraft-specific wiring documents and approved test procedures are required for actual troubleshooting.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Payload performance is a chain from scene conditions through optics, detector, stabilization, compression and geolocation to the user display. Infrared contrast depends on environmental conditions and sensor characteristics. Mapping accuracy requires careful calibration and georeferencing; pixel resolution is not the same as positional accuracy. LiDAR adds range measurements but requires precise timing and pose. Mission sensors can impose large data and thermal loads. A payload should not compromise critical aircraft functions when it draws excess power or fails.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GCS may be a laptop, portable console or sheltered multi-operator facility. The pictured shelter is from the repository and is not proof of a particular internal arrangement. Remote pilots need current aircraft state and command acknowledgement. Payload operators may use separate consoles. Ground support includes network infrastructure, power conditioning, backup supplies, ventilation and recording. The GCS should support operation under workload and degraded conditions, not only normal flight. Personnel roles depend on the system and applicable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training mock-up, not flight software. A useful interface distinguishes flight-critical status from mission products. It should show mode, command authority, link quality, navigation health, energy state and warning priority. A map alone is insufficient, particularly when its data are stale. Alarms should be actionable, with clear acknowledgement and recovery procedures. The interface must make degraded data visible. Operational values, limits and colour meanings must follow the specific system and approved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Crew design depends on workload and mission complexity. A remote pilot and payload operator should understand who controls aircraft motion and who may request changes. Handover needs positive confirmation of authority and status. An observer may be required or useful depending on the operation, but cannot substitute for the required system capability or approval. Ground crews also need documented maintenance, emergency and communications procedures. Good interface design and training address workload, fatigue, delayed information and mode confusion.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the survey objective, terrain, airspace, weather limits, reserve and alternate recovery options. Inspect the aircraft and verify configuration, sensor calibration, control direction and communications using approved procedures. Launch and takeoff need a confirmed area and method. During the mission, monitor aircraft health, coverage and link quality while supervising payload collection. Recovery is planned before launch and revised only within authorized procedures. After flight, isolate energy safely, inspect, preserve logs and assess anomalies. This is an overview, not a substitute checklist.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test can identify some faults but may not isolate the root cause. A radio fault indication might arise from power, cabling, cooling or software. An LRU swap should follow maintenance authorization and avoid introducing a configuration mismatch. Log timestamps and configuration baselines are important when comparing aircraft and ground records. Firmware changes can affect sensor drivers, control laws and interface behaviour. Testing after maintenance is determined by approved procedures and the nature of the work. Repeated resets are not an adequate response to recurring unexplained faults.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capability does not establish legal permission. In India, consult current DGCA rules, Digital Sky information and applicable airspace restrictions; requirements vary with aircraft, location and operation. Similar checks apply with the relevant regulator elsewhere. Navigation and communication failures require a system-level response. Cybersecurity complements safety engineering by controlling access and verifying software integrity. Privacy and data retention need consideration for imaging missions. This deck provides educational context rather than a legal or operational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filename SLM-UAV is not expanded because the image and filename alone do not verify its meaning. The picture is used only to discuss scale and packaging. Compact aircraft often share processors and power rails, which reduces mass but changes fault-isolation boundaries. Small size does not remove airspace, privacy or maintenance responsibilities. Comparisons should distinguish verified aircraft data from assumptions based on appearance.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of a UAV mission lies in its delivered product, not simply in flying. Inspection workflows need repeatable views and clear defect criteria. Agriculture benefits from calibrated imagery and agronomic interpretation. Disaster response needs coordination so drones do not conflict with emergency aviation. Logistics requires robust operational and regulatory planning, including safe loading and delivery. Scientific measurements depend on calibration and sampling conditions. Each application changes the payload, flight path, data processing and maintenance priorities.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systems may place more decision making onboard, but assurance remains central. Machine-learning perception can fail under unfamiliar conditions and needs defined operating limits and monitoring. Detect and avoid is a system capability with sensing, decision and manoeuvre requirements, not just an obstacle sensor. Traffic-management services do not replace all collision-avoidance obligations. Improvements in energy density and aerodynamic efficiency may extend mission duration but must still satisfy safety, thermal and lifecycle constraints. Avoid treating research demonstrations as mature universal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message is that a UAV is a coupled system. Mission needs drive the configuration and payload. Structure and propulsion define the physical envelope; navigation and the FCC control flight within that envelope. Datalinks and antennas connect the aircraft to ground operators. LRUs make the system serviceable, while power, cooling and configuration management sustain reliability. The GCS is the human interface, not merely a monitor. History explains how these capabilities evolved; safety and regulation govern how they are used.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page as a quick audience reference. C2 means command and control, not simply any data traffic. INS is the navigation system; IMU is the sensor unit, and the two are not synonymous. EO and IR refer to sensor domains. GDT and SDT refer to data terminals, while GCS is the control-station function. LOS and BLOS describe communication geometry, whereas VLOS and BVLOS describe visual-operational conditions. MALE and HALE are category descriptions rather than guaranteed numerical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linked institutions are recommended starting points for verification and further study. Their pages were not retrieved in this session because the network proxy returned access denials. They should not be represented as newly reviewed evidence. Programme-specific claims and current status should be checked against dated DRDO, Ministry of Defence and regulator releases. The history is intentionally selective. Photos are supplied by the user via the named GitHub repository; filenames alone do not verify identities or image rights.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concepts are general educational summaries rather than extracted aircraft specifications. NASA education resources explain lift, drag and propulsion. FAA and ICAO resources provide unmanned-aircraft terminology and regulatory context. Indian civil operations require current DGCA and relevant Digital Sky checks. The authoritative documents for a particular aircraft are its approved operating and maintenance manuals, interface-control documents and limitations. None of the diagrams are approved design documents or operational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ten source images in repository commit 084ac3a561b70c9446c0d865be670f0e4e44a82e were used. The original attached collage contains views corresponding to the repository assets; the deck uses the higher-quality individual repository images. The WEBP image is transcoded to PNG for PowerPoint compatibility without visual retouching. Vector diagrams and text are editable. Canva was not available as a connected tool; this deck is therefore a PowerPoint prepared for import, not a Canva-created or Canva-verified design. Import may alter fonts, grouping, notes or layout, so inspect the imported result. Speaker notes are available in the PowerPoint and companion Markdown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www.nationalmuseum.af.mil/" TargetMode="External"/><Relationship Id="rId4" Type="http://schemas.openxmlformats.org/officeDocument/2006/relationships/hyperlink" Target="https://www.iwm.org.uk/" TargetMode="External"/><Relationship Id="rId5" Type="http://schemas.openxmlformats.org/officeDocument/2006/relationships/hyperlink" Target="https://www.drdo.gov.in/" TargetMode="External"/><Relationship Id="rId6" Type="http://schemas.openxmlformats.org/officeDocument/2006/relationships/hyperlink" Target="https://pib.gov.i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www.nasa.gov/" TargetMode="External"/><Relationship Id="rId4" Type="http://schemas.openxmlformats.org/officeDocument/2006/relationships/hyperlink" Target="https://www.faa.gov/uas" TargetMode="External"/><Relationship Id="rId5" Type="http://schemas.openxmlformats.org/officeDocument/2006/relationships/hyperlink" Target="https://digitalsky.dgca.gov.in/" TargetMode="External"/><Relationship Id="rId6" Type="http://schemas.openxmlformats.org/officeDocument/2006/relationships/hyperlink" Target="https://www.icao.in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FLIGHT SYSTEMS BRIEFING</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UAV: Unmanned Aerial Vehicles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From early experiments to the connected aircraft system</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01</a:t>
            </a:r>
          </a:p>
        </p:txBody>
      </p:sp>
      <p:pic>
        <p:nvPicPr>
          <p:cNvPr id="63" name="Picture 62" descr="TAPAS.png"/>
          <p:cNvPicPr>
            <a:picLocks noChangeAspect="1"/>
          </p:cNvPicPr>
          <p:nvPr/>
        </p:nvPicPr>
        <p:blipFill>
          <a:blip r:embed="rId3"/>
          <a:stretch>
            <a:fillRect/>
          </a:stretch>
        </p:blipFill>
        <p:spPr>
          <a:xfrm>
            <a:off x="1102129" y="2423160"/>
            <a:ext cx="9774381" cy="2971800"/>
          </a:xfrm>
          <a:prstGeom prst="rect">
            <a:avLst/>
          </a:prstGeom>
        </p:spPr>
      </p:pic>
      <p:sp>
        <p:nvSpPr>
          <p:cNvPr id="64" name="TextBox 63"/>
          <p:cNvSpPr txBox="1"/>
          <p:nvPr/>
        </p:nvSpPr>
        <p:spPr>
          <a:xfrm>
            <a:off x="731520" y="5806440"/>
            <a:ext cx="10789920" cy="365760"/>
          </a:xfrm>
          <a:prstGeom prst="rect">
            <a:avLst/>
          </a:prstGeom>
          <a:noFill/>
        </p:spPr>
        <p:txBody>
          <a:bodyPr wrap="square" lIns="0" rIns="0" tIns="0" bIns="0">
            <a:spAutoFit/>
          </a:bodyPr>
          <a:lstStyle/>
          <a:p>
            <a:pPr>
              <a:lnSpc>
                <a:spcPct val="112000"/>
              </a:lnSpc>
              <a:spcAft>
                <a:spcPts val="0"/>
              </a:spcAft>
              <a:defRPr sz="1300" b="1">
                <a:solidFill>
                  <a:srgbClr val="4EDFE3"/>
                </a:solidFill>
                <a:latin typeface="DejaVu Sans"/>
              </a:defRPr>
            </a:pPr>
            <a:r>
              <a:t>HISTORY / AIRFRAME / PROPULSION / AVIONICS / GROUND SEGMENT</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01 / ORIENTATION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The aircraft is only one part of the system</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02</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UAV</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The flying platform: airframe,</a:t>
            </a:r>
          </a:p>
          <a:p>
            <a:pPr>
              <a:lnSpc>
                <a:spcPct val="112000"/>
              </a:lnSpc>
              <a:spcAft>
                <a:spcPts val="0"/>
              </a:spcAft>
              <a:defRPr sz="1600" b="0">
                <a:solidFill>
                  <a:srgbClr val="EFF6FB"/>
                </a:solidFill>
                <a:latin typeface="DejaVu Sans"/>
              </a:defRPr>
            </a:pPr>
            <a:r>
              <a:t>propulsion, sensors,</a:t>
            </a:r>
          </a:p>
          <a:p>
            <a:pPr>
              <a:lnSpc>
                <a:spcPct val="112000"/>
              </a:lnSpc>
              <a:spcAft>
                <a:spcPts val="0"/>
              </a:spcAft>
              <a:defRPr sz="1600" b="0">
                <a:solidFill>
                  <a:srgbClr val="EFF6FB"/>
                </a:solidFill>
                <a:latin typeface="DejaVu Sans"/>
              </a:defRPr>
            </a:pPr>
            <a:r>
              <a:t>computers, payload and</a:t>
            </a:r>
          </a:p>
          <a:p>
            <a:pPr>
              <a:lnSpc>
                <a:spcPct val="112000"/>
              </a:lnSpc>
              <a:spcAft>
                <a:spcPts val="0"/>
              </a:spcAft>
              <a:defRPr sz="1600" b="0">
                <a:solidFill>
                  <a:srgbClr val="EFF6FB"/>
                </a:solidFill>
                <a:latin typeface="DejaVu Sans"/>
              </a:defRPr>
            </a:pPr>
            <a:r>
              <a:t>onboard radios.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UAS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UAV + ground station +</a:t>
            </a:r>
          </a:p>
          <a:p>
            <a:pPr>
              <a:lnSpc>
                <a:spcPct val="112000"/>
              </a:lnSpc>
              <a:spcAft>
                <a:spcPts val="0"/>
              </a:spcAft>
              <a:defRPr sz="1600" b="0">
                <a:solidFill>
                  <a:srgbClr val="EFF6FB"/>
                </a:solidFill>
                <a:latin typeface="DejaVu Sans"/>
              </a:defRPr>
            </a:pPr>
            <a:r>
              <a:t>datalinks + launch/recovery +</a:t>
            </a:r>
          </a:p>
          <a:p>
            <a:pPr>
              <a:lnSpc>
                <a:spcPct val="112000"/>
              </a:lnSpc>
              <a:spcAft>
                <a:spcPts val="0"/>
              </a:spcAft>
              <a:defRPr sz="1600" b="0">
                <a:solidFill>
                  <a:srgbClr val="EFF6FB"/>
                </a:solidFill>
                <a:latin typeface="DejaVu Sans"/>
              </a:defRPr>
            </a:pPr>
            <a:r>
              <a:t>operators + maintenance.</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RPA / RPAS</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Remotely piloted aircraft /</a:t>
            </a:r>
          </a:p>
          <a:p>
            <a:pPr>
              <a:lnSpc>
                <a:spcPct val="112000"/>
              </a:lnSpc>
              <a:spcAft>
                <a:spcPts val="0"/>
              </a:spcAft>
              <a:defRPr sz="1600" b="0">
                <a:solidFill>
                  <a:srgbClr val="EFF6FB"/>
                </a:solidFill>
                <a:latin typeface="DejaVu Sans"/>
              </a:defRPr>
            </a:pPr>
            <a:r>
              <a:t>system. A remote pilot remains</a:t>
            </a:r>
          </a:p>
          <a:p>
            <a:pPr>
              <a:lnSpc>
                <a:spcPct val="112000"/>
              </a:lnSpc>
              <a:spcAft>
                <a:spcPts val="0"/>
              </a:spcAft>
              <a:defRPr sz="1600" b="0">
                <a:solidFill>
                  <a:srgbClr val="EFF6FB"/>
                </a:solidFill>
                <a:latin typeface="DejaVu Sans"/>
              </a:defRPr>
            </a:pPr>
            <a:r>
              <a:t>responsible; automation can</a:t>
            </a:r>
          </a:p>
          <a:p>
            <a:pPr>
              <a:lnSpc>
                <a:spcPct val="112000"/>
              </a:lnSpc>
              <a:spcAft>
                <a:spcPts val="0"/>
              </a:spcAft>
              <a:defRPr sz="1600" b="0">
                <a:solidFill>
                  <a:srgbClr val="EFF6FB"/>
                </a:solidFill>
                <a:latin typeface="DejaVu Sans"/>
              </a:defRPr>
            </a:pPr>
            <a:r>
              <a:t>assist.</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01 / ORIENTATION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 guided journey through nine core topics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03</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Past → platform</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Global evolution</a:t>
            </a:r>
          </a:p>
          <a:p>
            <a:pPr>
              <a:lnSpc>
                <a:spcPct val="112000"/>
              </a:lnSpc>
              <a:spcAft>
                <a:spcPts val="0"/>
              </a:spcAft>
              <a:defRPr sz="1600" b="0">
                <a:solidFill>
                  <a:srgbClr val="EFF6FB"/>
                </a:solidFill>
                <a:latin typeface="DejaVu Sans"/>
              </a:defRPr>
            </a:pPr>
            <a:r>
              <a:t>India’s development</a:t>
            </a:r>
          </a:p>
          <a:p>
            <a:pPr>
              <a:lnSpc>
                <a:spcPct val="112000"/>
              </a:lnSpc>
              <a:spcAft>
                <a:spcPts val="0"/>
              </a:spcAft>
              <a:defRPr sz="1600" b="0">
                <a:solidFill>
                  <a:srgbClr val="EFF6FB"/>
                </a:solidFill>
                <a:latin typeface="DejaVu Sans"/>
              </a:defRPr>
            </a:pPr>
            <a:r>
              <a:t>Classification and missions</a:t>
            </a:r>
          </a:p>
          <a:p>
            <a:pPr>
              <a:lnSpc>
                <a:spcPct val="112000"/>
              </a:lnSpc>
              <a:spcAft>
                <a:spcPts val="0"/>
              </a:spcAft>
              <a:defRPr sz="1600" b="0">
                <a:solidFill>
                  <a:srgbClr val="EFF6FB"/>
                </a:solidFill>
                <a:latin typeface="DejaVu Sans"/>
              </a:defRPr>
            </a:pPr>
            <a:r>
              <a:t>Structure and aerodynamics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Inside the aircraft</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Engine and energy</a:t>
            </a:r>
          </a:p>
          <a:p>
            <a:pPr>
              <a:lnSpc>
                <a:spcPct val="112000"/>
              </a:lnSpc>
              <a:spcAft>
                <a:spcPts val="0"/>
              </a:spcAft>
              <a:defRPr sz="1600" b="0">
                <a:solidFill>
                  <a:srgbClr val="EFF6FB"/>
                </a:solidFill>
                <a:latin typeface="DejaVu Sans"/>
              </a:defRPr>
            </a:pPr>
            <a:r>
              <a:t>Datalink and antenna</a:t>
            </a:r>
          </a:p>
          <a:p>
            <a:pPr>
              <a:lnSpc>
                <a:spcPct val="112000"/>
              </a:lnSpc>
              <a:spcAft>
                <a:spcPts val="0"/>
              </a:spcAft>
              <a:defRPr sz="1600" b="0">
                <a:solidFill>
                  <a:srgbClr val="EFF6FB"/>
                </a:solidFill>
                <a:latin typeface="DejaVu Sans"/>
              </a:defRPr>
            </a:pPr>
            <a:r>
              <a:t>Flight control computer</a:t>
            </a:r>
          </a:p>
          <a:p>
            <a:pPr>
              <a:lnSpc>
                <a:spcPct val="112000"/>
              </a:lnSpc>
              <a:spcAft>
                <a:spcPts val="0"/>
              </a:spcAft>
              <a:defRPr sz="1600" b="0">
                <a:solidFill>
                  <a:srgbClr val="EFF6FB"/>
                </a:solidFill>
                <a:latin typeface="DejaVu Sans"/>
              </a:defRPr>
            </a:pPr>
            <a:r>
              <a:t>Important LRUs and payloads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System → mission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Ground control station</a:t>
            </a:r>
          </a:p>
          <a:p>
            <a:pPr>
              <a:lnSpc>
                <a:spcPct val="112000"/>
              </a:lnSpc>
              <a:spcAft>
                <a:spcPts val="0"/>
              </a:spcAft>
              <a:defRPr sz="1600" b="0">
                <a:solidFill>
                  <a:srgbClr val="EFF6FB"/>
                </a:solidFill>
                <a:latin typeface="DejaVu Sans"/>
              </a:defRPr>
            </a:pPr>
            <a:r>
              <a:t>Ground data terminals</a:t>
            </a:r>
          </a:p>
          <a:p>
            <a:pPr>
              <a:lnSpc>
                <a:spcPct val="112000"/>
              </a:lnSpc>
              <a:spcAft>
                <a:spcPts val="0"/>
              </a:spcAft>
              <a:defRPr sz="1600" b="0">
                <a:solidFill>
                  <a:srgbClr val="EFF6FB"/>
                </a:solidFill>
                <a:latin typeface="DejaVu Sans"/>
              </a:defRPr>
            </a:pPr>
            <a:r>
              <a:t>Operations and maintenance</a:t>
            </a:r>
          </a:p>
          <a:p>
            <a:pPr>
              <a:lnSpc>
                <a:spcPct val="112000"/>
              </a:lnSpc>
              <a:spcAft>
                <a:spcPts val="0"/>
              </a:spcAft>
              <a:defRPr sz="1600" b="0">
                <a:solidFill>
                  <a:srgbClr val="EFF6FB"/>
                </a:solidFill>
                <a:latin typeface="DejaVu Sans"/>
              </a:defRPr>
            </a:pPr>
            <a:r>
              <a:t>Safety and future trends</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01 / ORIENTATION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Mission requirements shape the configuration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04</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Fixed wing</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Efficient forward flight;</a:t>
            </a:r>
          </a:p>
          <a:p>
            <a:pPr>
              <a:lnSpc>
                <a:spcPct val="112000"/>
              </a:lnSpc>
              <a:spcAft>
                <a:spcPts val="0"/>
              </a:spcAft>
              <a:defRPr sz="1600" b="0">
                <a:solidFill>
                  <a:srgbClr val="EFF6FB"/>
                </a:solidFill>
                <a:latin typeface="DejaVu Sans"/>
              </a:defRPr>
            </a:pPr>
            <a:r>
              <a:t>long-range survey and</a:t>
            </a:r>
          </a:p>
          <a:p>
            <a:pPr>
              <a:lnSpc>
                <a:spcPct val="112000"/>
              </a:lnSpc>
              <a:spcAft>
                <a:spcPts val="0"/>
              </a:spcAft>
              <a:defRPr sz="1600" b="0">
                <a:solidFill>
                  <a:srgbClr val="EFF6FB"/>
                </a:solidFill>
                <a:latin typeface="DejaVu Sans"/>
              </a:defRPr>
            </a:pPr>
            <a:r>
              <a:t>endurance. Usually needs a</a:t>
            </a:r>
          </a:p>
          <a:p>
            <a:pPr>
              <a:lnSpc>
                <a:spcPct val="112000"/>
              </a:lnSpc>
              <a:spcAft>
                <a:spcPts val="0"/>
              </a:spcAft>
              <a:defRPr sz="1600" b="0">
                <a:solidFill>
                  <a:srgbClr val="EFF6FB"/>
                </a:solidFill>
                <a:latin typeface="DejaVu Sans"/>
              </a:defRPr>
            </a:pPr>
            <a:r>
              <a:t>launch and recovery method.</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Multirotor</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Vertical takeoff, hover and</a:t>
            </a:r>
          </a:p>
          <a:p>
            <a:pPr>
              <a:lnSpc>
                <a:spcPct val="112000"/>
              </a:lnSpc>
              <a:spcAft>
                <a:spcPts val="0"/>
              </a:spcAft>
              <a:defRPr sz="1600" b="0">
                <a:solidFill>
                  <a:srgbClr val="EFF6FB"/>
                </a:solidFill>
                <a:latin typeface="DejaVu Sans"/>
              </a:defRPr>
            </a:pPr>
            <a:r>
              <a:t>precise positioning. Hover</a:t>
            </a:r>
          </a:p>
          <a:p>
            <a:pPr>
              <a:lnSpc>
                <a:spcPct val="112000"/>
              </a:lnSpc>
              <a:spcAft>
                <a:spcPts val="0"/>
              </a:spcAft>
              <a:defRPr sz="1600" b="0">
                <a:solidFill>
                  <a:srgbClr val="EFF6FB"/>
                </a:solidFill>
                <a:latin typeface="DejaVu Sans"/>
              </a:defRPr>
            </a:pPr>
            <a:r>
              <a:t>power demand limits</a:t>
            </a:r>
          </a:p>
          <a:p>
            <a:pPr>
              <a:lnSpc>
                <a:spcPct val="112000"/>
              </a:lnSpc>
              <a:spcAft>
                <a:spcPts val="0"/>
              </a:spcAft>
              <a:defRPr sz="1600" b="0">
                <a:solidFill>
                  <a:srgbClr val="EFF6FB"/>
                </a:solidFill>
                <a:latin typeface="DejaVu Sans"/>
              </a:defRPr>
            </a:pPr>
            <a:r>
              <a:t>endurance.</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Hybrid / VTOL</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Combines vertical lift with</a:t>
            </a:r>
          </a:p>
          <a:p>
            <a:pPr>
              <a:lnSpc>
                <a:spcPct val="112000"/>
              </a:lnSpc>
              <a:spcAft>
                <a:spcPts val="0"/>
              </a:spcAft>
              <a:defRPr sz="1600" b="0">
                <a:solidFill>
                  <a:srgbClr val="EFF6FB"/>
                </a:solidFill>
                <a:latin typeface="DejaVu Sans"/>
              </a:defRPr>
            </a:pPr>
            <a:r>
              <a:t>wing-borne cruise. Extra</a:t>
            </a:r>
          </a:p>
          <a:p>
            <a:pPr>
              <a:lnSpc>
                <a:spcPct val="112000"/>
              </a:lnSpc>
              <a:spcAft>
                <a:spcPts val="0"/>
              </a:spcAft>
              <a:defRPr sz="1600" b="0">
                <a:solidFill>
                  <a:srgbClr val="EFF6FB"/>
                </a:solidFill>
                <a:latin typeface="DejaVu Sans"/>
              </a:defRPr>
            </a:pPr>
            <a:r>
              <a:t>propulsion and transition logic</a:t>
            </a:r>
          </a:p>
          <a:p>
            <a:pPr>
              <a:lnSpc>
                <a:spcPct val="112000"/>
              </a:lnSpc>
              <a:spcAft>
                <a:spcPts val="0"/>
              </a:spcAft>
              <a:defRPr sz="1600" b="0">
                <a:solidFill>
                  <a:srgbClr val="EFF6FB"/>
                </a:solidFill>
                <a:latin typeface="DejaVu Sans"/>
              </a:defRPr>
            </a:pPr>
            <a:r>
              <a:t>add complexity.</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02 / GLOBAL HISTORY</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Global history: experiments become aircraft</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Selected milestones • early predecessors differ from today’s reusable UAVs</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05</a:t>
            </a:r>
          </a:p>
        </p:txBody>
      </p:sp>
      <p:sp>
        <p:nvSpPr>
          <p:cNvPr id="63" name="TextBox 62"/>
          <p:cNvSpPr txBox="1"/>
          <p:nvPr/>
        </p:nvSpPr>
        <p:spPr>
          <a:xfrm>
            <a:off x="548640" y="2560320"/>
            <a:ext cx="2651760" cy="548640"/>
          </a:xfrm>
          <a:prstGeom prst="rect">
            <a:avLst/>
          </a:prstGeom>
          <a:noFill/>
        </p:spPr>
        <p:txBody>
          <a:bodyPr wrap="square" lIns="0" rIns="0" tIns="0" bIns="0">
            <a:spAutoFit/>
          </a:bodyPr>
          <a:lstStyle/>
          <a:p>
            <a:pPr>
              <a:lnSpc>
                <a:spcPct val="112000"/>
              </a:lnSpc>
              <a:spcAft>
                <a:spcPts val="0"/>
              </a:spcAft>
              <a:defRPr sz="2600" b="1">
                <a:solidFill>
                  <a:srgbClr val="F6B75A"/>
                </a:solidFill>
                <a:latin typeface="DejaVu Sans"/>
              </a:defRPr>
            </a:pPr>
            <a:r>
              <a:t>1849</a:t>
            </a:r>
          </a:p>
        </p:txBody>
      </p:sp>
      <p:cxnSp>
        <p:nvCxnSpPr>
          <p:cNvPr id="64" name="Connector 63"/>
          <p:cNvCxnSpPr/>
          <p:nvPr/>
        </p:nvCxnSpPr>
        <p:spPr>
          <a:xfrm>
            <a:off x="54864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4864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Balloon precursor</a:t>
            </a:r>
          </a:p>
        </p:txBody>
      </p:sp>
      <p:sp>
        <p:nvSpPr>
          <p:cNvPr id="66" name="TextBox 65"/>
          <p:cNvSpPr txBox="1"/>
          <p:nvPr/>
        </p:nvSpPr>
        <p:spPr>
          <a:xfrm>
            <a:off x="548640" y="4681728"/>
            <a:ext cx="2560320" cy="114300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Uncrewed balloon</a:t>
            </a:r>
          </a:p>
          <a:p>
            <a:pPr>
              <a:lnSpc>
                <a:spcPct val="112000"/>
              </a:lnSpc>
              <a:spcAft>
                <a:spcPts val="0"/>
              </a:spcAft>
              <a:defRPr sz="1600" b="0">
                <a:solidFill>
                  <a:srgbClr val="EFF6FB"/>
                </a:solidFill>
                <a:latin typeface="DejaVu Sans"/>
              </a:defRPr>
            </a:pPr>
            <a:r>
              <a:t>attacks; limited control.</a:t>
            </a:r>
          </a:p>
        </p:txBody>
      </p:sp>
      <p:sp>
        <p:nvSpPr>
          <p:cNvPr id="67" name="TextBox 66"/>
          <p:cNvSpPr txBox="1"/>
          <p:nvPr/>
        </p:nvSpPr>
        <p:spPr>
          <a:xfrm>
            <a:off x="3429000" y="2560320"/>
            <a:ext cx="2651760" cy="548640"/>
          </a:xfrm>
          <a:prstGeom prst="rect">
            <a:avLst/>
          </a:prstGeom>
          <a:noFill/>
        </p:spPr>
        <p:txBody>
          <a:bodyPr wrap="square" lIns="0" rIns="0" tIns="0" bIns="0">
            <a:spAutoFit/>
          </a:bodyPr>
          <a:lstStyle/>
          <a:p>
            <a:pPr>
              <a:lnSpc>
                <a:spcPct val="112000"/>
              </a:lnSpc>
              <a:spcAft>
                <a:spcPts val="0"/>
              </a:spcAft>
              <a:defRPr sz="2600" b="1">
                <a:solidFill>
                  <a:srgbClr val="F6B75A"/>
                </a:solidFill>
                <a:latin typeface="DejaVu Sans"/>
              </a:defRPr>
            </a:pPr>
            <a:r>
              <a:t>1917–18</a:t>
            </a:r>
          </a:p>
        </p:txBody>
      </p:sp>
      <p:cxnSp>
        <p:nvCxnSpPr>
          <p:cNvPr id="68" name="Connector 67"/>
          <p:cNvCxnSpPr/>
          <p:nvPr/>
        </p:nvCxnSpPr>
        <p:spPr>
          <a:xfrm>
            <a:off x="342900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42900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WWI experiments</a:t>
            </a:r>
          </a:p>
        </p:txBody>
      </p:sp>
      <p:sp>
        <p:nvSpPr>
          <p:cNvPr id="70" name="TextBox 69"/>
          <p:cNvSpPr txBox="1"/>
          <p:nvPr/>
        </p:nvSpPr>
        <p:spPr>
          <a:xfrm>
            <a:off x="3429000" y="4681728"/>
            <a:ext cx="2560320" cy="114300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Aerial Target and</a:t>
            </a:r>
          </a:p>
          <a:p>
            <a:pPr>
              <a:lnSpc>
                <a:spcPct val="112000"/>
              </a:lnSpc>
              <a:spcAft>
                <a:spcPts val="0"/>
              </a:spcAft>
              <a:defRPr sz="1600" b="0">
                <a:solidFill>
                  <a:srgbClr val="EFF6FB"/>
                </a:solidFill>
                <a:latin typeface="DejaVu Sans"/>
              </a:defRPr>
            </a:pPr>
            <a:r>
              <a:t>Kettering Bug.</a:t>
            </a:r>
          </a:p>
        </p:txBody>
      </p:sp>
      <p:sp>
        <p:nvSpPr>
          <p:cNvPr id="71" name="TextBox 70"/>
          <p:cNvSpPr txBox="1"/>
          <p:nvPr/>
        </p:nvSpPr>
        <p:spPr>
          <a:xfrm>
            <a:off x="6309359" y="2560320"/>
            <a:ext cx="2651760" cy="548640"/>
          </a:xfrm>
          <a:prstGeom prst="rect">
            <a:avLst/>
          </a:prstGeom>
          <a:noFill/>
        </p:spPr>
        <p:txBody>
          <a:bodyPr wrap="square" lIns="0" rIns="0" tIns="0" bIns="0">
            <a:spAutoFit/>
          </a:bodyPr>
          <a:lstStyle/>
          <a:p>
            <a:pPr>
              <a:lnSpc>
                <a:spcPct val="112000"/>
              </a:lnSpc>
              <a:spcAft>
                <a:spcPts val="0"/>
              </a:spcAft>
              <a:defRPr sz="2600" b="1">
                <a:solidFill>
                  <a:srgbClr val="F6B75A"/>
                </a:solidFill>
                <a:latin typeface="DejaVu Sans"/>
              </a:defRPr>
            </a:pPr>
            <a:r>
              <a:t>1930s</a:t>
            </a:r>
          </a:p>
        </p:txBody>
      </p:sp>
      <p:cxnSp>
        <p:nvCxnSpPr>
          <p:cNvPr id="72" name="Connector 71"/>
          <p:cNvCxnSpPr/>
          <p:nvPr/>
        </p:nvCxnSpPr>
        <p:spPr>
          <a:xfrm>
            <a:off x="6309359" y="3337560"/>
            <a:ext cx="2560321"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0935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Radio-controlled</a:t>
            </a:r>
          </a:p>
          <a:p>
            <a:pPr>
              <a:lnSpc>
                <a:spcPct val="112000"/>
              </a:lnSpc>
              <a:spcAft>
                <a:spcPts val="0"/>
              </a:spcAft>
              <a:defRPr sz="1900" b="1">
                <a:solidFill>
                  <a:srgbClr val="4EDFE3"/>
                </a:solidFill>
                <a:latin typeface="DejaVu Sans"/>
              </a:defRPr>
            </a:pPr>
            <a:r>
              <a:t>targets</a:t>
            </a:r>
          </a:p>
        </p:txBody>
      </p:sp>
      <p:sp>
        <p:nvSpPr>
          <p:cNvPr id="74" name="TextBox 73"/>
          <p:cNvSpPr txBox="1"/>
          <p:nvPr/>
        </p:nvSpPr>
        <p:spPr>
          <a:xfrm>
            <a:off x="6309359" y="4681728"/>
            <a:ext cx="2560320" cy="114300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Reusable aircraft</a:t>
            </a:r>
          </a:p>
          <a:p>
            <a:pPr>
              <a:lnSpc>
                <a:spcPct val="112000"/>
              </a:lnSpc>
              <a:spcAft>
                <a:spcPts val="0"/>
              </a:spcAft>
              <a:defRPr sz="1600" b="0">
                <a:solidFill>
                  <a:srgbClr val="EFF6FB"/>
                </a:solidFill>
                <a:latin typeface="DejaVu Sans"/>
              </a:defRPr>
            </a:pPr>
            <a:r>
              <a:t>support air-defence</a:t>
            </a:r>
          </a:p>
          <a:p>
            <a:pPr>
              <a:lnSpc>
                <a:spcPct val="112000"/>
              </a:lnSpc>
              <a:spcAft>
                <a:spcPts val="0"/>
              </a:spcAft>
              <a:defRPr sz="1600" b="0">
                <a:solidFill>
                  <a:srgbClr val="EFF6FB"/>
                </a:solidFill>
                <a:latin typeface="DejaVu Sans"/>
              </a:defRPr>
            </a:pPr>
            <a:r>
              <a:t>training.</a:t>
            </a:r>
          </a:p>
        </p:txBody>
      </p:sp>
      <p:sp>
        <p:nvSpPr>
          <p:cNvPr id="75" name="TextBox 74"/>
          <p:cNvSpPr txBox="1"/>
          <p:nvPr/>
        </p:nvSpPr>
        <p:spPr>
          <a:xfrm>
            <a:off x="9189719" y="2560320"/>
            <a:ext cx="2651760" cy="548640"/>
          </a:xfrm>
          <a:prstGeom prst="rect">
            <a:avLst/>
          </a:prstGeom>
          <a:noFill/>
        </p:spPr>
        <p:txBody>
          <a:bodyPr wrap="square" lIns="0" rIns="0" tIns="0" bIns="0">
            <a:spAutoFit/>
          </a:bodyPr>
          <a:lstStyle/>
          <a:p>
            <a:pPr>
              <a:lnSpc>
                <a:spcPct val="112000"/>
              </a:lnSpc>
              <a:spcAft>
                <a:spcPts val="0"/>
              </a:spcAft>
              <a:defRPr sz="2600" b="1">
                <a:solidFill>
                  <a:srgbClr val="F6B75A"/>
                </a:solidFill>
                <a:latin typeface="DejaVu Sans"/>
              </a:defRPr>
            </a:pPr>
            <a:r>
              <a:t>1940s</a:t>
            </a:r>
          </a:p>
        </p:txBody>
      </p:sp>
      <p:cxnSp>
        <p:nvCxnSpPr>
          <p:cNvPr id="76" name="Connector 75"/>
          <p:cNvCxnSpPr/>
          <p:nvPr/>
        </p:nvCxnSpPr>
        <p:spPr>
          <a:xfrm>
            <a:off x="9189719"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18971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Remote control</a:t>
            </a:r>
          </a:p>
          <a:p>
            <a:pPr>
              <a:lnSpc>
                <a:spcPct val="112000"/>
              </a:lnSpc>
              <a:spcAft>
                <a:spcPts val="0"/>
              </a:spcAft>
              <a:defRPr sz="1900" b="1">
                <a:solidFill>
                  <a:srgbClr val="4EDFE3"/>
                </a:solidFill>
                <a:latin typeface="DejaVu Sans"/>
              </a:defRPr>
            </a:pPr>
            <a:r>
              <a:t>matures</a:t>
            </a:r>
          </a:p>
        </p:txBody>
      </p:sp>
      <p:sp>
        <p:nvSpPr>
          <p:cNvPr id="78" name="TextBox 77"/>
          <p:cNvSpPr txBox="1"/>
          <p:nvPr/>
        </p:nvSpPr>
        <p:spPr>
          <a:xfrm>
            <a:off x="9189719" y="4681728"/>
            <a:ext cx="2560320" cy="114300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Target drones and</a:t>
            </a:r>
          </a:p>
          <a:p>
            <a:pPr>
              <a:lnSpc>
                <a:spcPct val="112000"/>
              </a:lnSpc>
              <a:spcAft>
                <a:spcPts val="0"/>
              </a:spcAft>
              <a:defRPr sz="1600" b="0">
                <a:solidFill>
                  <a:srgbClr val="EFF6FB"/>
                </a:solidFill>
                <a:latin typeface="DejaVu Sans"/>
              </a:defRPr>
            </a:pPr>
            <a:r>
              <a:t>experimental pilotless</a:t>
            </a:r>
          </a:p>
          <a:p>
            <a:pPr>
              <a:lnSpc>
                <a:spcPct val="112000"/>
              </a:lnSpc>
              <a:spcAft>
                <a:spcPts val="0"/>
              </a:spcAft>
              <a:defRPr sz="1600" b="0">
                <a:solidFill>
                  <a:srgbClr val="EFF6FB"/>
                </a:solidFill>
                <a:latin typeface="DejaVu Sans"/>
              </a:defRPr>
            </a:pPr>
            <a:r>
              <a:t>aircraft.</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02 / GLOBAL HISTORY</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Global history: persistence, sensors, connectivity</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From reconnaissance drones to widespread civil systems</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06</a:t>
            </a:r>
          </a:p>
        </p:txBody>
      </p:sp>
      <p:sp>
        <p:nvSpPr>
          <p:cNvPr id="63" name="TextBox 62"/>
          <p:cNvSpPr txBox="1"/>
          <p:nvPr/>
        </p:nvSpPr>
        <p:spPr>
          <a:xfrm>
            <a:off x="548640"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1950s–70s</a:t>
            </a:r>
          </a:p>
        </p:txBody>
      </p:sp>
      <p:cxnSp>
        <p:nvCxnSpPr>
          <p:cNvPr id="64" name="Connector 63"/>
          <p:cNvCxnSpPr/>
          <p:nvPr/>
        </p:nvCxnSpPr>
        <p:spPr>
          <a:xfrm>
            <a:off x="54864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4864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Reconnaissance</a:t>
            </a:r>
          </a:p>
        </p:txBody>
      </p:sp>
      <p:sp>
        <p:nvSpPr>
          <p:cNvPr id="66" name="TextBox 65"/>
          <p:cNvSpPr txBox="1"/>
          <p:nvPr/>
        </p:nvSpPr>
        <p:spPr>
          <a:xfrm>
            <a:off x="548640" y="4681728"/>
            <a:ext cx="2560320" cy="123444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Target-drone technology</a:t>
            </a:r>
          </a:p>
          <a:p>
            <a:pPr>
              <a:lnSpc>
                <a:spcPct val="112000"/>
              </a:lnSpc>
              <a:spcAft>
                <a:spcPts val="0"/>
              </a:spcAft>
              <a:defRPr sz="1600" b="0">
                <a:solidFill>
                  <a:srgbClr val="EFF6FB"/>
                </a:solidFill>
                <a:latin typeface="DejaVu Sans"/>
              </a:defRPr>
            </a:pPr>
            <a:r>
              <a:t>evolves into</a:t>
            </a:r>
          </a:p>
          <a:p>
            <a:pPr>
              <a:lnSpc>
                <a:spcPct val="112000"/>
              </a:lnSpc>
              <a:spcAft>
                <a:spcPts val="0"/>
              </a:spcAft>
              <a:defRPr sz="1600" b="0">
                <a:solidFill>
                  <a:srgbClr val="EFF6FB"/>
                </a:solidFill>
                <a:latin typeface="DejaVu Sans"/>
              </a:defRPr>
            </a:pPr>
            <a:r>
              <a:t>surveillance.</a:t>
            </a:r>
          </a:p>
        </p:txBody>
      </p:sp>
      <p:sp>
        <p:nvSpPr>
          <p:cNvPr id="67" name="TextBox 66"/>
          <p:cNvSpPr txBox="1"/>
          <p:nvPr/>
        </p:nvSpPr>
        <p:spPr>
          <a:xfrm>
            <a:off x="3429000"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1980s–90s</a:t>
            </a:r>
          </a:p>
        </p:txBody>
      </p:sp>
      <p:cxnSp>
        <p:nvCxnSpPr>
          <p:cNvPr id="68" name="Connector 67"/>
          <p:cNvCxnSpPr/>
          <p:nvPr/>
        </p:nvCxnSpPr>
        <p:spPr>
          <a:xfrm>
            <a:off x="342900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42900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Integrated</a:t>
            </a:r>
          </a:p>
          <a:p>
            <a:pPr>
              <a:lnSpc>
                <a:spcPct val="112000"/>
              </a:lnSpc>
              <a:spcAft>
                <a:spcPts val="0"/>
              </a:spcAft>
              <a:defRPr sz="1900" b="1">
                <a:solidFill>
                  <a:srgbClr val="4EDFE3"/>
                </a:solidFill>
                <a:latin typeface="DejaVu Sans"/>
              </a:defRPr>
            </a:pPr>
            <a:r>
              <a:t>systems</a:t>
            </a:r>
          </a:p>
        </p:txBody>
      </p:sp>
      <p:sp>
        <p:nvSpPr>
          <p:cNvPr id="70" name="TextBox 69"/>
          <p:cNvSpPr txBox="1"/>
          <p:nvPr/>
        </p:nvSpPr>
        <p:spPr>
          <a:xfrm>
            <a:off x="3429000" y="4681728"/>
            <a:ext cx="2560320" cy="123444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Live imagery, ground</a:t>
            </a:r>
          </a:p>
          <a:p>
            <a:pPr>
              <a:lnSpc>
                <a:spcPct val="112000"/>
              </a:lnSpc>
              <a:spcAft>
                <a:spcPts val="0"/>
              </a:spcAft>
              <a:defRPr sz="1600" b="0">
                <a:solidFill>
                  <a:srgbClr val="EFF6FB"/>
                </a:solidFill>
                <a:latin typeface="DejaVu Sans"/>
              </a:defRPr>
            </a:pPr>
            <a:r>
              <a:t>control and long</a:t>
            </a:r>
          </a:p>
          <a:p>
            <a:pPr>
              <a:lnSpc>
                <a:spcPct val="112000"/>
              </a:lnSpc>
              <a:spcAft>
                <a:spcPts val="0"/>
              </a:spcAft>
              <a:defRPr sz="1600" b="0">
                <a:solidFill>
                  <a:srgbClr val="EFF6FB"/>
                </a:solidFill>
                <a:latin typeface="DejaVu Sans"/>
              </a:defRPr>
            </a:pPr>
            <a:r>
              <a:t>endurance.</a:t>
            </a:r>
          </a:p>
        </p:txBody>
      </p:sp>
      <p:sp>
        <p:nvSpPr>
          <p:cNvPr id="71" name="TextBox 70"/>
          <p:cNvSpPr txBox="1"/>
          <p:nvPr/>
        </p:nvSpPr>
        <p:spPr>
          <a:xfrm>
            <a:off x="6309359"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2000s–10s</a:t>
            </a:r>
          </a:p>
        </p:txBody>
      </p:sp>
      <p:cxnSp>
        <p:nvCxnSpPr>
          <p:cNvPr id="72" name="Connector 71"/>
          <p:cNvCxnSpPr/>
          <p:nvPr/>
        </p:nvCxnSpPr>
        <p:spPr>
          <a:xfrm>
            <a:off x="6309359" y="3337560"/>
            <a:ext cx="2560321"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0935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Connected</a:t>
            </a:r>
          </a:p>
          <a:p>
            <a:pPr>
              <a:lnSpc>
                <a:spcPct val="112000"/>
              </a:lnSpc>
              <a:spcAft>
                <a:spcPts val="0"/>
              </a:spcAft>
              <a:defRPr sz="1900" b="1">
                <a:solidFill>
                  <a:srgbClr val="4EDFE3"/>
                </a:solidFill>
                <a:latin typeface="DejaVu Sans"/>
              </a:defRPr>
            </a:pPr>
            <a:r>
              <a:t>operations</a:t>
            </a:r>
          </a:p>
        </p:txBody>
      </p:sp>
      <p:sp>
        <p:nvSpPr>
          <p:cNvPr id="74" name="TextBox 73"/>
          <p:cNvSpPr txBox="1"/>
          <p:nvPr/>
        </p:nvSpPr>
        <p:spPr>
          <a:xfrm>
            <a:off x="6309359" y="4681728"/>
            <a:ext cx="2560320" cy="123444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Satellite links and</a:t>
            </a:r>
          </a:p>
          <a:p>
            <a:pPr>
              <a:lnSpc>
                <a:spcPct val="112000"/>
              </a:lnSpc>
              <a:spcAft>
                <a:spcPts val="0"/>
              </a:spcAft>
              <a:defRPr sz="1600" b="0">
                <a:solidFill>
                  <a:srgbClr val="EFF6FB"/>
                </a:solidFill>
                <a:latin typeface="DejaVu Sans"/>
              </a:defRPr>
            </a:pPr>
            <a:r>
              <a:t>affordable civil drones.</a:t>
            </a:r>
          </a:p>
        </p:txBody>
      </p:sp>
      <p:sp>
        <p:nvSpPr>
          <p:cNvPr id="75" name="TextBox 74"/>
          <p:cNvSpPr txBox="1"/>
          <p:nvPr/>
        </p:nvSpPr>
        <p:spPr>
          <a:xfrm>
            <a:off x="9189719"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2020s</a:t>
            </a:r>
          </a:p>
        </p:txBody>
      </p:sp>
      <p:cxnSp>
        <p:nvCxnSpPr>
          <p:cNvPr id="76" name="Connector 75"/>
          <p:cNvCxnSpPr/>
          <p:nvPr/>
        </p:nvCxnSpPr>
        <p:spPr>
          <a:xfrm>
            <a:off x="9189719"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18971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Smarter onboard</a:t>
            </a:r>
          </a:p>
          <a:p>
            <a:pPr>
              <a:lnSpc>
                <a:spcPct val="112000"/>
              </a:lnSpc>
              <a:spcAft>
                <a:spcPts val="0"/>
              </a:spcAft>
              <a:defRPr sz="1900" b="1">
                <a:solidFill>
                  <a:srgbClr val="4EDFE3"/>
                </a:solidFill>
                <a:latin typeface="DejaVu Sans"/>
              </a:defRPr>
            </a:pPr>
            <a:r>
              <a:t>systems</a:t>
            </a:r>
          </a:p>
        </p:txBody>
      </p:sp>
      <p:sp>
        <p:nvSpPr>
          <p:cNvPr id="78" name="TextBox 77"/>
          <p:cNvSpPr txBox="1"/>
          <p:nvPr/>
        </p:nvSpPr>
        <p:spPr>
          <a:xfrm>
            <a:off x="9189719" y="4681728"/>
            <a:ext cx="2560320" cy="123444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Perception, automated</a:t>
            </a:r>
          </a:p>
          <a:p>
            <a:pPr>
              <a:lnSpc>
                <a:spcPct val="112000"/>
              </a:lnSpc>
              <a:spcAft>
                <a:spcPts val="0"/>
              </a:spcAft>
              <a:defRPr sz="1600" b="0">
                <a:solidFill>
                  <a:srgbClr val="EFF6FB"/>
                </a:solidFill>
                <a:latin typeface="DejaVu Sans"/>
              </a:defRPr>
            </a:pPr>
            <a:r>
              <a:t>inspection and</a:t>
            </a:r>
          </a:p>
          <a:p>
            <a:pPr>
              <a:lnSpc>
                <a:spcPct val="112000"/>
              </a:lnSpc>
              <a:spcAft>
                <a:spcPts val="0"/>
              </a:spcAft>
              <a:defRPr sz="1600" b="0">
                <a:solidFill>
                  <a:srgbClr val="EFF6FB"/>
                </a:solidFill>
                <a:latin typeface="DejaVu Sans"/>
              </a:defRPr>
            </a:pPr>
            <a:r>
              <a:t>integration.</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03 / INDIA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India: a path from targets to indigenous systems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07</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Early foundations</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DRDO’s Aeronautical</a:t>
            </a:r>
          </a:p>
          <a:p>
            <a:pPr>
              <a:lnSpc>
                <a:spcPct val="112000"/>
              </a:lnSpc>
              <a:spcAft>
                <a:spcPts val="0"/>
              </a:spcAft>
              <a:defRPr sz="1600" b="0">
                <a:solidFill>
                  <a:srgbClr val="EFF6FB"/>
                </a:solidFill>
                <a:latin typeface="DejaVu Sans"/>
              </a:defRPr>
            </a:pPr>
            <a:r>
              <a:t>Development Establishment</a:t>
            </a:r>
          </a:p>
          <a:p>
            <a:pPr>
              <a:lnSpc>
                <a:spcPct val="112000"/>
              </a:lnSpc>
              <a:spcAft>
                <a:spcPts val="0"/>
              </a:spcAft>
              <a:defRPr sz="1600" b="0">
                <a:solidFill>
                  <a:srgbClr val="EFF6FB"/>
                </a:solidFill>
                <a:latin typeface="DejaVu Sans"/>
              </a:defRPr>
            </a:pPr>
            <a:r>
              <a:t>developed target and</a:t>
            </a:r>
          </a:p>
          <a:p>
            <a:pPr>
              <a:lnSpc>
                <a:spcPct val="112000"/>
              </a:lnSpc>
              <a:spcAft>
                <a:spcPts val="0"/>
              </a:spcAft>
              <a:defRPr sz="1600" b="0">
                <a:solidFill>
                  <a:srgbClr val="EFF6FB"/>
                </a:solidFill>
                <a:latin typeface="DejaVu Sans"/>
              </a:defRPr>
            </a:pPr>
            <a:r>
              <a:t>reconnaissance programmes,</a:t>
            </a:r>
          </a:p>
          <a:p>
            <a:pPr>
              <a:lnSpc>
                <a:spcPct val="112000"/>
              </a:lnSpc>
              <a:spcAft>
                <a:spcPts val="0"/>
              </a:spcAft>
              <a:defRPr sz="1600" b="0">
                <a:solidFill>
                  <a:srgbClr val="EFF6FB"/>
                </a:solidFill>
                <a:latin typeface="DejaVu Sans"/>
              </a:defRPr>
            </a:pPr>
            <a:r>
              <a:t>including Lakshya and Nishant.</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Broader capabilities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Imported Searcher and Heron</a:t>
            </a:r>
          </a:p>
          <a:p>
            <a:pPr>
              <a:lnSpc>
                <a:spcPct val="112000"/>
              </a:lnSpc>
              <a:spcAft>
                <a:spcPts val="0"/>
              </a:spcAft>
              <a:defRPr sz="1600" b="0">
                <a:solidFill>
                  <a:srgbClr val="EFF6FB"/>
                </a:solidFill>
                <a:latin typeface="DejaVu Sans"/>
              </a:defRPr>
            </a:pPr>
            <a:r>
              <a:t>systems expanded operational</a:t>
            </a:r>
          </a:p>
          <a:p>
            <a:pPr>
              <a:lnSpc>
                <a:spcPct val="112000"/>
              </a:lnSpc>
              <a:spcAft>
                <a:spcPts val="0"/>
              </a:spcAft>
              <a:defRPr sz="1600" b="0">
                <a:solidFill>
                  <a:srgbClr val="EFF6FB"/>
                </a:solidFill>
                <a:latin typeface="DejaVu Sans"/>
              </a:defRPr>
            </a:pPr>
            <a:r>
              <a:t>experience; Rustom-family</a:t>
            </a:r>
          </a:p>
          <a:p>
            <a:pPr>
              <a:lnSpc>
                <a:spcPct val="112000"/>
              </a:lnSpc>
              <a:spcAft>
                <a:spcPts val="0"/>
              </a:spcAft>
              <a:defRPr sz="1600" b="0">
                <a:solidFill>
                  <a:srgbClr val="EFF6FB"/>
                </a:solidFill>
                <a:latin typeface="DejaVu Sans"/>
              </a:defRPr>
            </a:pPr>
            <a:r>
              <a:t>efforts pursued indigenous</a:t>
            </a:r>
          </a:p>
          <a:p>
            <a:pPr>
              <a:lnSpc>
                <a:spcPct val="112000"/>
              </a:lnSpc>
              <a:spcAft>
                <a:spcPts val="0"/>
              </a:spcAft>
              <a:defRPr sz="1600" b="0">
                <a:solidFill>
                  <a:srgbClr val="EFF6FB"/>
                </a:solidFill>
                <a:latin typeface="DejaVu Sans"/>
              </a:defRPr>
            </a:pPr>
            <a:r>
              <a:t>capabilities.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Current ecosystem</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TAPAS, ABHYAS and</a:t>
            </a:r>
          </a:p>
          <a:p>
            <a:pPr>
              <a:lnSpc>
                <a:spcPct val="112000"/>
              </a:lnSpc>
              <a:spcAft>
                <a:spcPts val="0"/>
              </a:spcAft>
              <a:defRPr sz="1600" b="0">
                <a:solidFill>
                  <a:srgbClr val="EFF6FB"/>
                </a:solidFill>
                <a:latin typeface="DejaVu Sans"/>
              </a:defRPr>
            </a:pPr>
            <a:r>
              <a:t>demonstrator programmes</a:t>
            </a:r>
          </a:p>
          <a:p>
            <a:pPr>
              <a:lnSpc>
                <a:spcPct val="112000"/>
              </a:lnSpc>
              <a:spcAft>
                <a:spcPts val="0"/>
              </a:spcAft>
              <a:defRPr sz="1600" b="0">
                <a:solidFill>
                  <a:srgbClr val="EFF6FB"/>
                </a:solidFill>
                <a:latin typeface="DejaVu Sans"/>
              </a:defRPr>
            </a:pPr>
            <a:r>
              <a:t>coexist with Indian civil drone</a:t>
            </a:r>
          </a:p>
          <a:p>
            <a:pPr>
              <a:lnSpc>
                <a:spcPct val="112000"/>
              </a:lnSpc>
              <a:spcAft>
                <a:spcPts val="0"/>
              </a:spcAft>
              <a:defRPr sz="1600" b="0">
                <a:solidFill>
                  <a:srgbClr val="EFF6FB"/>
                </a:solidFill>
                <a:latin typeface="DejaVu Sans"/>
              </a:defRPr>
            </a:pPr>
            <a:r>
              <a:t>manufacturers and service</a:t>
            </a:r>
          </a:p>
          <a:p>
            <a:pPr>
              <a:lnSpc>
                <a:spcPct val="112000"/>
              </a:lnSpc>
              <a:spcAft>
                <a:spcPts val="0"/>
              </a:spcAft>
              <a:defRPr sz="1600" b="0">
                <a:solidFill>
                  <a:srgbClr val="EFF6FB"/>
                </a:solidFill>
                <a:latin typeface="DejaVu Sans"/>
              </a:defRPr>
            </a:pPr>
            <a:r>
              <a:t>providers.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03 / INDIA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India: selected milestones and policy shifts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A selective timeline • programme stages are not equivalent to operational induction</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a:t>
            </a:r>
          </a:p>
        </p:txBody>
      </p:sp>
      <p:sp>
        <p:nvSpPr>
          <p:cNvPr id="63" name="TextBox 62"/>
          <p:cNvSpPr txBox="1"/>
          <p:nvPr/>
        </p:nvSpPr>
        <p:spPr>
          <a:xfrm>
            <a:off x="548640"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1990s</a:t>
            </a:r>
          </a:p>
        </p:txBody>
      </p:sp>
      <p:cxnSp>
        <p:nvCxnSpPr>
          <p:cNvPr id="64" name="Connector 63"/>
          <p:cNvCxnSpPr/>
          <p:nvPr/>
        </p:nvCxnSpPr>
        <p:spPr>
          <a:xfrm>
            <a:off x="54864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4864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Lakshya / Nishant</a:t>
            </a:r>
          </a:p>
        </p:txBody>
      </p:sp>
      <p:sp>
        <p:nvSpPr>
          <p:cNvPr id="66" name="TextBox 65"/>
          <p:cNvSpPr txBox="1"/>
          <p:nvPr/>
        </p:nvSpPr>
        <p:spPr>
          <a:xfrm>
            <a:off x="548640" y="4681728"/>
            <a:ext cx="2560320" cy="118872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Target and</a:t>
            </a:r>
          </a:p>
          <a:p>
            <a:pPr>
              <a:lnSpc>
                <a:spcPct val="112000"/>
              </a:lnSpc>
              <a:spcAft>
                <a:spcPts val="0"/>
              </a:spcAft>
              <a:defRPr sz="1600" b="0">
                <a:solidFill>
                  <a:srgbClr val="EFF6FB"/>
                </a:solidFill>
                <a:latin typeface="DejaVu Sans"/>
              </a:defRPr>
            </a:pPr>
            <a:r>
              <a:t>reconnaissance</a:t>
            </a:r>
          </a:p>
          <a:p>
            <a:pPr>
              <a:lnSpc>
                <a:spcPct val="112000"/>
              </a:lnSpc>
              <a:spcAft>
                <a:spcPts val="0"/>
              </a:spcAft>
              <a:defRPr sz="1600" b="0">
                <a:solidFill>
                  <a:srgbClr val="EFF6FB"/>
                </a:solidFill>
                <a:latin typeface="DejaVu Sans"/>
              </a:defRPr>
            </a:pPr>
            <a:r>
              <a:t>foundations.</a:t>
            </a:r>
          </a:p>
        </p:txBody>
      </p:sp>
      <p:sp>
        <p:nvSpPr>
          <p:cNvPr id="67" name="TextBox 66"/>
          <p:cNvSpPr txBox="1"/>
          <p:nvPr/>
        </p:nvSpPr>
        <p:spPr>
          <a:xfrm>
            <a:off x="3429000"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2009</a:t>
            </a:r>
          </a:p>
        </p:txBody>
      </p:sp>
      <p:cxnSp>
        <p:nvCxnSpPr>
          <p:cNvPr id="68" name="Connector 67"/>
          <p:cNvCxnSpPr/>
          <p:nvPr/>
        </p:nvCxnSpPr>
        <p:spPr>
          <a:xfrm>
            <a:off x="3429000"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429000"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Rustom-I</a:t>
            </a:r>
          </a:p>
        </p:txBody>
      </p:sp>
      <p:sp>
        <p:nvSpPr>
          <p:cNvPr id="70" name="TextBox 69"/>
          <p:cNvSpPr txBox="1"/>
          <p:nvPr/>
        </p:nvSpPr>
        <p:spPr>
          <a:xfrm>
            <a:off x="3429000" y="4681728"/>
            <a:ext cx="2560320" cy="118872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Early indigenous UAV</a:t>
            </a:r>
          </a:p>
          <a:p>
            <a:pPr>
              <a:lnSpc>
                <a:spcPct val="112000"/>
              </a:lnSpc>
              <a:spcAft>
                <a:spcPts val="0"/>
              </a:spcAft>
              <a:defRPr sz="1600" b="0">
                <a:solidFill>
                  <a:srgbClr val="EFF6FB"/>
                </a:solidFill>
                <a:latin typeface="DejaVu Sans"/>
              </a:defRPr>
            </a:pPr>
            <a:r>
              <a:t>flight milestone.</a:t>
            </a:r>
          </a:p>
        </p:txBody>
      </p:sp>
      <p:sp>
        <p:nvSpPr>
          <p:cNvPr id="71" name="TextBox 70"/>
          <p:cNvSpPr txBox="1"/>
          <p:nvPr/>
        </p:nvSpPr>
        <p:spPr>
          <a:xfrm>
            <a:off x="6309359"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2016</a:t>
            </a:r>
          </a:p>
        </p:txBody>
      </p:sp>
      <p:cxnSp>
        <p:nvCxnSpPr>
          <p:cNvPr id="72" name="Connector 71"/>
          <p:cNvCxnSpPr/>
          <p:nvPr/>
        </p:nvCxnSpPr>
        <p:spPr>
          <a:xfrm>
            <a:off x="6309359" y="3337560"/>
            <a:ext cx="2560321"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0935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Rustom-II</a:t>
            </a:r>
          </a:p>
        </p:txBody>
      </p:sp>
      <p:sp>
        <p:nvSpPr>
          <p:cNvPr id="74" name="TextBox 73"/>
          <p:cNvSpPr txBox="1"/>
          <p:nvPr/>
        </p:nvSpPr>
        <p:spPr>
          <a:xfrm>
            <a:off x="6309359" y="4681728"/>
            <a:ext cx="2560320" cy="118872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TAPAS development</a:t>
            </a:r>
          </a:p>
          <a:p>
            <a:pPr>
              <a:lnSpc>
                <a:spcPct val="112000"/>
              </a:lnSpc>
              <a:spcAft>
                <a:spcPts val="0"/>
              </a:spcAft>
              <a:defRPr sz="1600" b="0">
                <a:solidFill>
                  <a:srgbClr val="EFF6FB"/>
                </a:solidFill>
                <a:latin typeface="DejaVu Sans"/>
              </a:defRPr>
            </a:pPr>
            <a:r>
              <a:t>lineage.</a:t>
            </a:r>
          </a:p>
        </p:txBody>
      </p:sp>
      <p:sp>
        <p:nvSpPr>
          <p:cNvPr id="75" name="TextBox 74"/>
          <p:cNvSpPr txBox="1"/>
          <p:nvPr/>
        </p:nvSpPr>
        <p:spPr>
          <a:xfrm>
            <a:off x="9189719" y="2560320"/>
            <a:ext cx="2651760" cy="548640"/>
          </a:xfrm>
          <a:prstGeom prst="rect">
            <a:avLst/>
          </a:prstGeom>
          <a:noFill/>
        </p:spPr>
        <p:txBody>
          <a:bodyPr wrap="square" lIns="0" rIns="0" tIns="0" bIns="0">
            <a:spAutoFit/>
          </a:bodyPr>
          <a:lstStyle/>
          <a:p>
            <a:pPr>
              <a:lnSpc>
                <a:spcPct val="112000"/>
              </a:lnSpc>
              <a:spcAft>
                <a:spcPts val="0"/>
              </a:spcAft>
              <a:defRPr sz="2400" b="1">
                <a:solidFill>
                  <a:srgbClr val="F6B75A"/>
                </a:solidFill>
                <a:latin typeface="DejaVu Sans"/>
              </a:defRPr>
            </a:pPr>
            <a:r>
              <a:t>2021–22</a:t>
            </a:r>
          </a:p>
        </p:txBody>
      </p:sp>
      <p:cxnSp>
        <p:nvCxnSpPr>
          <p:cNvPr id="76" name="Connector 75"/>
          <p:cNvCxnSpPr/>
          <p:nvPr/>
        </p:nvCxnSpPr>
        <p:spPr>
          <a:xfrm>
            <a:off x="9189719" y="3337560"/>
            <a:ext cx="25603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189719" y="3675887"/>
            <a:ext cx="2560320" cy="822960"/>
          </a:xfrm>
          <a:prstGeom prst="rect">
            <a:avLst/>
          </a:prstGeom>
          <a:noFill/>
        </p:spPr>
        <p:txBody>
          <a:bodyPr wrap="square" lIns="0" rIns="0" tIns="0" bIns="0">
            <a:spAutoFit/>
          </a:bodyPr>
          <a:lstStyle/>
          <a:p>
            <a:pPr>
              <a:lnSpc>
                <a:spcPct val="112000"/>
              </a:lnSpc>
              <a:spcAft>
                <a:spcPts val="0"/>
              </a:spcAft>
              <a:defRPr sz="1900" b="1">
                <a:solidFill>
                  <a:srgbClr val="4EDFE3"/>
                </a:solidFill>
                <a:latin typeface="DejaVu Sans"/>
              </a:defRPr>
            </a:pPr>
            <a:r>
              <a:t>Policy +</a:t>
            </a:r>
          </a:p>
          <a:p>
            <a:pPr>
              <a:lnSpc>
                <a:spcPct val="112000"/>
              </a:lnSpc>
              <a:spcAft>
                <a:spcPts val="0"/>
              </a:spcAft>
              <a:defRPr sz="1900" b="1">
                <a:solidFill>
                  <a:srgbClr val="4EDFE3"/>
                </a:solidFill>
                <a:latin typeface="DejaVu Sans"/>
              </a:defRPr>
            </a:pPr>
            <a:r>
              <a:t>demonstrators</a:t>
            </a:r>
          </a:p>
        </p:txBody>
      </p:sp>
      <p:sp>
        <p:nvSpPr>
          <p:cNvPr id="78" name="TextBox 77"/>
          <p:cNvSpPr txBox="1"/>
          <p:nvPr/>
        </p:nvSpPr>
        <p:spPr>
          <a:xfrm>
            <a:off x="9189719" y="4681728"/>
            <a:ext cx="2560320" cy="118872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Drone Rules; flying-wing</a:t>
            </a:r>
          </a:p>
          <a:p>
            <a:pPr>
              <a:lnSpc>
                <a:spcPct val="112000"/>
              </a:lnSpc>
              <a:spcAft>
                <a:spcPts val="0"/>
              </a:spcAft>
              <a:defRPr sz="1600" b="0">
                <a:solidFill>
                  <a:srgbClr val="EFF6FB"/>
                </a:solidFill>
                <a:latin typeface="DejaVu Sans"/>
              </a:defRPr>
            </a:pPr>
            <a:r>
              <a:t>technology trials.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03 / INDIA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An Indian programme gallery</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Repository labels identify these images; no performance or induction claims are inferred.</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09</a:t>
            </a:r>
          </a:p>
        </p:txBody>
      </p:sp>
      <p:sp>
        <p:nvSpPr>
          <p:cNvPr id="63" name="Rectangle 62"/>
          <p:cNvSpPr/>
          <p:nvPr/>
        </p:nvSpPr>
        <p:spPr>
          <a:xfrm>
            <a:off x="594360" y="233172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TAPAS.png"/>
          <p:cNvPicPr>
            <a:picLocks noChangeAspect="1"/>
          </p:cNvPicPr>
          <p:nvPr/>
        </p:nvPicPr>
        <p:blipFill>
          <a:blip r:embed="rId3"/>
          <a:stretch>
            <a:fillRect/>
          </a:stretch>
        </p:blipFill>
        <p:spPr>
          <a:xfrm>
            <a:off x="685800" y="2516725"/>
            <a:ext cx="3474719" cy="1056452"/>
          </a:xfrm>
          <a:prstGeom prst="rect">
            <a:avLst/>
          </a:prstGeom>
        </p:spPr>
      </p:pic>
      <p:sp>
        <p:nvSpPr>
          <p:cNvPr id="65" name="TextBox 64"/>
          <p:cNvSpPr txBox="1"/>
          <p:nvPr/>
        </p:nvSpPr>
        <p:spPr>
          <a:xfrm>
            <a:off x="758952" y="370332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TAPAS</a:t>
            </a:r>
          </a:p>
        </p:txBody>
      </p:sp>
      <p:sp>
        <p:nvSpPr>
          <p:cNvPr id="66" name="Rectangle 65"/>
          <p:cNvSpPr/>
          <p:nvPr/>
        </p:nvSpPr>
        <p:spPr>
          <a:xfrm>
            <a:off x="4434840" y="233172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ARCHER.png"/>
          <p:cNvPicPr>
            <a:picLocks noChangeAspect="1"/>
          </p:cNvPicPr>
          <p:nvPr/>
        </p:nvPicPr>
        <p:blipFill>
          <a:blip r:embed="rId4"/>
          <a:stretch>
            <a:fillRect/>
          </a:stretch>
        </p:blipFill>
        <p:spPr>
          <a:xfrm>
            <a:off x="5218419" y="2404872"/>
            <a:ext cx="2090440" cy="1280160"/>
          </a:xfrm>
          <a:prstGeom prst="rect">
            <a:avLst/>
          </a:prstGeom>
        </p:spPr>
      </p:pic>
      <p:sp>
        <p:nvSpPr>
          <p:cNvPr id="68" name="TextBox 67"/>
          <p:cNvSpPr txBox="1"/>
          <p:nvPr/>
        </p:nvSpPr>
        <p:spPr>
          <a:xfrm>
            <a:off x="4599432" y="370332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ARCHER</a:t>
            </a:r>
          </a:p>
        </p:txBody>
      </p:sp>
      <p:sp>
        <p:nvSpPr>
          <p:cNvPr id="69" name="Rectangle 68"/>
          <p:cNvSpPr/>
          <p:nvPr/>
        </p:nvSpPr>
        <p:spPr>
          <a:xfrm>
            <a:off x="8275320" y="233172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ABHYAS.png"/>
          <p:cNvPicPr>
            <a:picLocks noChangeAspect="1"/>
          </p:cNvPicPr>
          <p:nvPr/>
        </p:nvPicPr>
        <p:blipFill>
          <a:blip r:embed="rId5"/>
          <a:stretch>
            <a:fillRect/>
          </a:stretch>
        </p:blipFill>
        <p:spPr>
          <a:xfrm>
            <a:off x="8884920" y="2404872"/>
            <a:ext cx="2438400" cy="1280160"/>
          </a:xfrm>
          <a:prstGeom prst="rect">
            <a:avLst/>
          </a:prstGeom>
        </p:spPr>
      </p:pic>
      <p:sp>
        <p:nvSpPr>
          <p:cNvPr id="71" name="TextBox 70"/>
          <p:cNvSpPr txBox="1"/>
          <p:nvPr/>
        </p:nvSpPr>
        <p:spPr>
          <a:xfrm>
            <a:off x="8439912" y="370332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ABHYAS</a:t>
            </a:r>
          </a:p>
        </p:txBody>
      </p:sp>
      <p:sp>
        <p:nvSpPr>
          <p:cNvPr id="72" name="Rectangle 71"/>
          <p:cNvSpPr/>
          <p:nvPr/>
        </p:nvSpPr>
        <p:spPr>
          <a:xfrm>
            <a:off x="594360" y="420624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SWIFT-K.png"/>
          <p:cNvPicPr>
            <a:picLocks noChangeAspect="1"/>
          </p:cNvPicPr>
          <p:nvPr/>
        </p:nvPicPr>
        <p:blipFill>
          <a:blip r:embed="rId6"/>
          <a:stretch>
            <a:fillRect/>
          </a:stretch>
        </p:blipFill>
        <p:spPr>
          <a:xfrm>
            <a:off x="1513093" y="4279392"/>
            <a:ext cx="1820132" cy="1280160"/>
          </a:xfrm>
          <a:prstGeom prst="rect">
            <a:avLst/>
          </a:prstGeom>
        </p:spPr>
      </p:pic>
      <p:sp>
        <p:nvSpPr>
          <p:cNvPr id="74" name="TextBox 73"/>
          <p:cNvSpPr txBox="1"/>
          <p:nvPr/>
        </p:nvSpPr>
        <p:spPr>
          <a:xfrm>
            <a:off x="758952" y="557784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SWIFT-K • asset label</a:t>
            </a:r>
          </a:p>
        </p:txBody>
      </p:sp>
      <p:sp>
        <p:nvSpPr>
          <p:cNvPr id="75" name="Rectangle 74"/>
          <p:cNvSpPr/>
          <p:nvPr/>
        </p:nvSpPr>
        <p:spPr>
          <a:xfrm>
            <a:off x="4434840" y="420624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SETB.png"/>
          <p:cNvPicPr>
            <a:picLocks noChangeAspect="1"/>
          </p:cNvPicPr>
          <p:nvPr/>
        </p:nvPicPr>
        <p:blipFill>
          <a:blip r:embed="rId7"/>
          <a:stretch>
            <a:fillRect/>
          </a:stretch>
        </p:blipFill>
        <p:spPr>
          <a:xfrm>
            <a:off x="5281401" y="4279392"/>
            <a:ext cx="1964476" cy="1280160"/>
          </a:xfrm>
          <a:prstGeom prst="rect">
            <a:avLst/>
          </a:prstGeom>
        </p:spPr>
      </p:pic>
      <p:sp>
        <p:nvSpPr>
          <p:cNvPr id="77" name="TextBox 76"/>
          <p:cNvSpPr txBox="1"/>
          <p:nvPr/>
        </p:nvSpPr>
        <p:spPr>
          <a:xfrm>
            <a:off x="4599432" y="557784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SETB • asset label</a:t>
            </a:r>
          </a:p>
        </p:txBody>
      </p:sp>
      <p:sp>
        <p:nvSpPr>
          <p:cNvPr id="78" name="Rectangle 77"/>
          <p:cNvSpPr/>
          <p:nvPr/>
        </p:nvSpPr>
        <p:spPr>
          <a:xfrm>
            <a:off x="8275320" y="4206240"/>
            <a:ext cx="3657600" cy="176479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HALE.png"/>
          <p:cNvPicPr>
            <a:picLocks noChangeAspect="1"/>
          </p:cNvPicPr>
          <p:nvPr/>
        </p:nvPicPr>
        <p:blipFill>
          <a:blip r:embed="rId8"/>
          <a:stretch>
            <a:fillRect/>
          </a:stretch>
        </p:blipFill>
        <p:spPr>
          <a:xfrm>
            <a:off x="8930640" y="4279392"/>
            <a:ext cx="2346960" cy="1280160"/>
          </a:xfrm>
          <a:prstGeom prst="rect">
            <a:avLst/>
          </a:prstGeom>
        </p:spPr>
      </p:pic>
      <p:sp>
        <p:nvSpPr>
          <p:cNvPr id="80" name="TextBox 79"/>
          <p:cNvSpPr txBox="1"/>
          <p:nvPr/>
        </p:nvSpPr>
        <p:spPr>
          <a:xfrm>
            <a:off x="8439912" y="5577840"/>
            <a:ext cx="3291840" cy="27432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HALE • asset label</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03 / INDIA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TAPAS: an airframe to study visually</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10</a:t>
            </a:r>
          </a:p>
        </p:txBody>
      </p:sp>
      <p:pic>
        <p:nvPicPr>
          <p:cNvPr id="62" name="Picture 61" descr="TAPAS.png"/>
          <p:cNvPicPr>
            <a:picLocks noChangeAspect="1"/>
          </p:cNvPicPr>
          <p:nvPr/>
        </p:nvPicPr>
        <p:blipFill>
          <a:blip r:embed="rId3"/>
          <a:stretch>
            <a:fillRect/>
          </a:stretch>
        </p:blipFill>
        <p:spPr>
          <a:xfrm>
            <a:off x="411480" y="3182529"/>
            <a:ext cx="6583680" cy="2001700"/>
          </a:xfrm>
          <a:prstGeom prst="rect">
            <a:avLst/>
          </a:prstGeom>
        </p:spPr>
      </p:pic>
      <p:sp>
        <p:nvSpPr>
          <p:cNvPr id="63" name="TextBox 62"/>
          <p:cNvSpPr txBox="1"/>
          <p:nvPr/>
        </p:nvSpPr>
        <p:spPr>
          <a:xfrm>
            <a:off x="7315200" y="2450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High-span wing</a:t>
            </a:r>
          </a:p>
        </p:txBody>
      </p:sp>
      <p:sp>
        <p:nvSpPr>
          <p:cNvPr id="64" name="TextBox 63"/>
          <p:cNvSpPr txBox="1"/>
          <p:nvPr/>
        </p:nvSpPr>
        <p:spPr>
          <a:xfrm>
            <a:off x="7315200" y="2862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Discuss aerodynamic efficiency and structural</a:t>
            </a:r>
          </a:p>
          <a:p>
            <a:pPr>
              <a:lnSpc>
                <a:spcPct val="112000"/>
              </a:lnSpc>
              <a:spcAft>
                <a:spcPts val="0"/>
              </a:spcAft>
              <a:defRPr sz="1300" b="0">
                <a:solidFill>
                  <a:srgbClr val="EFF6FB"/>
                </a:solidFill>
                <a:latin typeface="DejaVu Sans"/>
              </a:defRPr>
            </a:pPr>
            <a:r>
              <a:t>stiffness.</a:t>
            </a:r>
          </a:p>
        </p:txBody>
      </p:sp>
      <p:sp>
        <p:nvSpPr>
          <p:cNvPr id="65" name="TextBox 64"/>
          <p:cNvSpPr txBox="1"/>
          <p:nvPr/>
        </p:nvSpPr>
        <p:spPr>
          <a:xfrm>
            <a:off x="7315200" y="3593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Twin propulsion layout</a:t>
            </a:r>
          </a:p>
        </p:txBody>
      </p:sp>
      <p:sp>
        <p:nvSpPr>
          <p:cNvPr id="66" name="TextBox 65"/>
          <p:cNvSpPr txBox="1"/>
          <p:nvPr/>
        </p:nvSpPr>
        <p:spPr>
          <a:xfrm>
            <a:off x="7315200" y="4005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Discuss integration, asymmetric thrust and</a:t>
            </a:r>
          </a:p>
          <a:p>
            <a:pPr>
              <a:lnSpc>
                <a:spcPct val="112000"/>
              </a:lnSpc>
              <a:spcAft>
                <a:spcPts val="0"/>
              </a:spcAft>
              <a:defRPr sz="1300" b="0">
                <a:solidFill>
                  <a:srgbClr val="EFF6FB"/>
                </a:solidFill>
                <a:latin typeface="DejaVu Sans"/>
              </a:defRPr>
            </a:pPr>
            <a:r>
              <a:t>vibration.</a:t>
            </a:r>
          </a:p>
        </p:txBody>
      </p:sp>
      <p:sp>
        <p:nvSpPr>
          <p:cNvPr id="67" name="TextBox 66"/>
          <p:cNvSpPr txBox="1"/>
          <p:nvPr/>
        </p:nvSpPr>
        <p:spPr>
          <a:xfrm>
            <a:off x="7315200" y="4736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Payload + ground system</a:t>
            </a:r>
          </a:p>
        </p:txBody>
      </p:sp>
      <p:sp>
        <p:nvSpPr>
          <p:cNvPr id="68" name="TextBox 67"/>
          <p:cNvSpPr txBox="1"/>
          <p:nvPr/>
        </p:nvSpPr>
        <p:spPr>
          <a:xfrm>
            <a:off x="7315200" y="5148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Treat the aircraft as part of a larger UAS.</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04 / SYSTEM ARCHITECTURE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One system, four tightly coupled layers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A mission succeeds only when aircraft, links, ground systems and people work together</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11</a:t>
            </a:r>
          </a:p>
        </p:txBody>
      </p:sp>
      <p:sp>
        <p:nvSpPr>
          <p:cNvPr id="63" name="Rectangle 62"/>
          <p:cNvSpPr/>
          <p:nvPr/>
        </p:nvSpPr>
        <p:spPr>
          <a:xfrm>
            <a:off x="594360" y="2743200"/>
            <a:ext cx="256032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04088" y="2852928"/>
            <a:ext cx="23408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GROUND CONTROL</a:t>
            </a:r>
          </a:p>
        </p:txBody>
      </p:sp>
      <p:sp>
        <p:nvSpPr>
          <p:cNvPr id="65" name="TextBox 64"/>
          <p:cNvSpPr txBox="1"/>
          <p:nvPr/>
        </p:nvSpPr>
        <p:spPr>
          <a:xfrm>
            <a:off x="704088" y="3456432"/>
            <a:ext cx="23408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Plan • supervise</a:t>
            </a:r>
          </a:p>
          <a:p>
            <a:pPr>
              <a:lnSpc>
                <a:spcPct val="112000"/>
              </a:lnSpc>
              <a:spcAft>
                <a:spcPts val="0"/>
              </a:spcAft>
              <a:defRPr sz="1200" b="0">
                <a:solidFill>
                  <a:srgbClr val="EFF6FB"/>
                </a:solidFill>
                <a:latin typeface="DejaVu Sans"/>
              </a:defRPr>
            </a:pPr>
            <a:r>
              <a:t>Display • record</a:t>
            </a:r>
          </a:p>
          <a:p>
            <a:pPr>
              <a:lnSpc>
                <a:spcPct val="112000"/>
              </a:lnSpc>
              <a:spcAft>
                <a:spcPts val="0"/>
              </a:spcAft>
              <a:defRPr sz="1200" b="0">
                <a:solidFill>
                  <a:srgbClr val="EFF6FB"/>
                </a:solidFill>
                <a:latin typeface="DejaVu Sans"/>
              </a:defRPr>
            </a:pPr>
            <a:r>
              <a:t>Remote pilot</a:t>
            </a:r>
          </a:p>
        </p:txBody>
      </p:sp>
      <p:sp>
        <p:nvSpPr>
          <p:cNvPr id="66" name="Rectangle 65"/>
          <p:cNvSpPr/>
          <p:nvPr/>
        </p:nvSpPr>
        <p:spPr>
          <a:xfrm>
            <a:off x="3703320" y="2743200"/>
            <a:ext cx="24688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3048" y="2852928"/>
            <a:ext cx="22494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DATALINK</a:t>
            </a:r>
          </a:p>
        </p:txBody>
      </p:sp>
      <p:sp>
        <p:nvSpPr>
          <p:cNvPr id="68" name="TextBox 67"/>
          <p:cNvSpPr txBox="1"/>
          <p:nvPr/>
        </p:nvSpPr>
        <p:spPr>
          <a:xfrm>
            <a:off x="3813048" y="3456432"/>
            <a:ext cx="22494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Command uplink</a:t>
            </a:r>
          </a:p>
          <a:p>
            <a:pPr>
              <a:lnSpc>
                <a:spcPct val="112000"/>
              </a:lnSpc>
              <a:spcAft>
                <a:spcPts val="0"/>
              </a:spcAft>
              <a:defRPr sz="1200" b="0">
                <a:solidFill>
                  <a:srgbClr val="EFF6FB"/>
                </a:solidFill>
                <a:latin typeface="DejaVu Sans"/>
              </a:defRPr>
            </a:pPr>
            <a:r>
              <a:t>Telemetry downlink</a:t>
            </a:r>
          </a:p>
          <a:p>
            <a:pPr>
              <a:lnSpc>
                <a:spcPct val="112000"/>
              </a:lnSpc>
              <a:spcAft>
                <a:spcPts val="0"/>
              </a:spcAft>
              <a:defRPr sz="1200" b="0">
                <a:solidFill>
                  <a:srgbClr val="EFF6FB"/>
                </a:solidFill>
                <a:latin typeface="DejaVu Sans"/>
              </a:defRPr>
            </a:pPr>
            <a:r>
              <a:t>Payload data</a:t>
            </a:r>
          </a:p>
        </p:txBody>
      </p:sp>
      <p:sp>
        <p:nvSpPr>
          <p:cNvPr id="69" name="Rectangle 68"/>
          <p:cNvSpPr/>
          <p:nvPr/>
        </p:nvSpPr>
        <p:spPr>
          <a:xfrm>
            <a:off x="6720840" y="2743200"/>
            <a:ext cx="237744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30568" y="2852928"/>
            <a:ext cx="215798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AIR VEHICLE</a:t>
            </a:r>
          </a:p>
        </p:txBody>
      </p:sp>
      <p:sp>
        <p:nvSpPr>
          <p:cNvPr id="71" name="TextBox 70"/>
          <p:cNvSpPr txBox="1"/>
          <p:nvPr/>
        </p:nvSpPr>
        <p:spPr>
          <a:xfrm>
            <a:off x="6830568" y="3456432"/>
            <a:ext cx="215798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Flight control</a:t>
            </a:r>
          </a:p>
          <a:p>
            <a:pPr>
              <a:lnSpc>
                <a:spcPct val="112000"/>
              </a:lnSpc>
              <a:spcAft>
                <a:spcPts val="0"/>
              </a:spcAft>
              <a:defRPr sz="1200" b="0">
                <a:solidFill>
                  <a:srgbClr val="EFF6FB"/>
                </a:solidFill>
                <a:latin typeface="DejaVu Sans"/>
              </a:defRPr>
            </a:pPr>
            <a:r>
              <a:t>Propulsion</a:t>
            </a:r>
          </a:p>
          <a:p>
            <a:pPr>
              <a:lnSpc>
                <a:spcPct val="112000"/>
              </a:lnSpc>
              <a:spcAft>
                <a:spcPts val="0"/>
              </a:spcAft>
              <a:defRPr sz="1200" b="0">
                <a:solidFill>
                  <a:srgbClr val="EFF6FB"/>
                </a:solidFill>
                <a:latin typeface="DejaVu Sans"/>
              </a:defRPr>
            </a:pPr>
            <a:r>
              <a:t>Navigation</a:t>
            </a:r>
          </a:p>
        </p:txBody>
      </p:sp>
      <p:sp>
        <p:nvSpPr>
          <p:cNvPr id="72" name="Rectangle 71"/>
          <p:cNvSpPr/>
          <p:nvPr/>
        </p:nvSpPr>
        <p:spPr>
          <a:xfrm>
            <a:off x="9646920" y="2743200"/>
            <a:ext cx="192024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56648" y="2852928"/>
            <a:ext cx="170078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PAYLOAD</a:t>
            </a:r>
          </a:p>
        </p:txBody>
      </p:sp>
      <p:sp>
        <p:nvSpPr>
          <p:cNvPr id="74" name="TextBox 73"/>
          <p:cNvSpPr txBox="1"/>
          <p:nvPr/>
        </p:nvSpPr>
        <p:spPr>
          <a:xfrm>
            <a:off x="9756648" y="3456432"/>
            <a:ext cx="170078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EO / IR</a:t>
            </a:r>
          </a:p>
          <a:p>
            <a:pPr>
              <a:lnSpc>
                <a:spcPct val="112000"/>
              </a:lnSpc>
              <a:spcAft>
                <a:spcPts val="0"/>
              </a:spcAft>
              <a:defRPr sz="1200" b="0">
                <a:solidFill>
                  <a:srgbClr val="EFF6FB"/>
                </a:solidFill>
                <a:latin typeface="DejaVu Sans"/>
              </a:defRPr>
            </a:pPr>
            <a:r>
              <a:t>Mapping</a:t>
            </a:r>
          </a:p>
          <a:p>
            <a:pPr>
              <a:lnSpc>
                <a:spcPct val="112000"/>
              </a:lnSpc>
              <a:spcAft>
                <a:spcPts val="0"/>
              </a:spcAft>
              <a:defRPr sz="1200" b="0">
                <a:solidFill>
                  <a:srgbClr val="EFF6FB"/>
                </a:solidFill>
                <a:latin typeface="DejaVu Sans"/>
              </a:defRPr>
            </a:pPr>
            <a:r>
              <a:t>Other sensors</a:t>
            </a:r>
          </a:p>
        </p:txBody>
      </p:sp>
      <p:cxnSp>
        <p:nvCxnSpPr>
          <p:cNvPr id="75" name="Connector 74"/>
          <p:cNvCxnSpPr/>
          <p:nvPr/>
        </p:nvCxnSpPr>
        <p:spPr>
          <a:xfrm>
            <a:off x="3154680" y="3840480"/>
            <a:ext cx="54864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172200" y="3840480"/>
            <a:ext cx="54864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098280" y="3840480"/>
            <a:ext cx="54864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31520" y="5532120"/>
            <a:ext cx="10881360" cy="457200"/>
          </a:xfrm>
          <a:prstGeom prst="rect">
            <a:avLst/>
          </a:prstGeom>
          <a:noFill/>
        </p:spPr>
        <p:txBody>
          <a:bodyPr wrap="square" lIns="0" rIns="0" tIns="0" bIns="0">
            <a:spAutoFit/>
          </a:bodyPr>
          <a:lstStyle/>
          <a:p>
            <a:pPr>
              <a:lnSpc>
                <a:spcPct val="112000"/>
              </a:lnSpc>
              <a:spcAft>
                <a:spcPts val="0"/>
              </a:spcAft>
              <a:defRPr sz="1400" b="1">
                <a:solidFill>
                  <a:srgbClr val="4EDFE3"/>
                </a:solidFill>
                <a:latin typeface="DejaVu Sans"/>
              </a:defRPr>
            </a:pPr>
            <a:r>
              <a:t>SUPPORT LAYER / PEOPLE • MAINTENANCE • WEATHER • AIRSPACE • CONFIGURATION</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05 / STRUCTURE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Structure: the blueprint view</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Generic fixed-wing teaching diagram • editable vector geometry • not to scale</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12</a:t>
            </a:r>
          </a:p>
        </p:txBody>
      </p:sp>
      <p:sp>
        <p:nvSpPr>
          <p:cNvPr id="63" name="Freeform 62"/>
          <p:cNvSpPr/>
          <p:nvPr/>
        </p:nvSpPr>
        <p:spPr>
          <a:xfrm>
            <a:off x="5664250" y="2798063"/>
            <a:ext cx="558699" cy="2199133"/>
          </a:xfrm>
          <a:custGeom>
            <a:avLst/>
            <a:gdLst/>
            <a:ahLst/>
            <a:cxnLst/>
            <a:rect l="l" t="t" r="r" b="b"/>
            <a:pathLst>
              <a:path w="558699" h="2199133">
                <a:moveTo>
                  <a:pt x="53493" y="297181"/>
                </a:moveTo>
                <a:lnTo>
                  <a:pt x="279350" y="0"/>
                </a:lnTo>
                <a:lnTo>
                  <a:pt x="505206" y="297181"/>
                </a:lnTo>
                <a:lnTo>
                  <a:pt x="558699" y="1901953"/>
                </a:lnTo>
                <a:lnTo>
                  <a:pt x="427940" y="2199133"/>
                </a:lnTo>
                <a:lnTo>
                  <a:pt x="130760" y="2199133"/>
                </a:lnTo>
                <a:lnTo>
                  <a:pt x="0" y="1901953"/>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3566160" y="3957065"/>
            <a:ext cx="2139696" cy="612191"/>
          </a:xfrm>
          <a:custGeom>
            <a:avLst/>
            <a:gdLst/>
            <a:ahLst/>
            <a:cxnLst/>
            <a:rect l="l" t="t" r="r" b="b"/>
            <a:pathLst>
              <a:path w="2139696" h="612191">
                <a:moveTo>
                  <a:pt x="2139696" y="0"/>
                </a:moveTo>
                <a:lnTo>
                  <a:pt x="0" y="297181"/>
                </a:lnTo>
                <a:lnTo>
                  <a:pt x="0" y="612191"/>
                </a:lnTo>
                <a:lnTo>
                  <a:pt x="2139696" y="445771"/>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6181344" y="3957065"/>
            <a:ext cx="2139696" cy="612191"/>
          </a:xfrm>
          <a:custGeom>
            <a:avLst/>
            <a:gdLst/>
            <a:ahLst/>
            <a:cxnLst/>
            <a:rect l="l" t="t" r="r" b="b"/>
            <a:pathLst>
              <a:path w="2139696" h="612191">
                <a:moveTo>
                  <a:pt x="0" y="0"/>
                </a:moveTo>
                <a:lnTo>
                  <a:pt x="2139696" y="297181"/>
                </a:lnTo>
                <a:lnTo>
                  <a:pt x="2139696" y="612191"/>
                </a:lnTo>
                <a:lnTo>
                  <a:pt x="0" y="445771"/>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5022342" y="4165091"/>
            <a:ext cx="89154" cy="1426465"/>
          </a:xfrm>
          <a:custGeom>
            <a:avLst/>
            <a:gdLst/>
            <a:ahLst/>
            <a:cxnLst/>
            <a:rect l="l" t="t" r="r" b="b"/>
            <a:pathLst>
              <a:path w="89154" h="1426465">
                <a:moveTo>
                  <a:pt x="89154" y="0"/>
                </a:moveTo>
                <a:lnTo>
                  <a:pt x="0" y="0"/>
                </a:lnTo>
                <a:lnTo>
                  <a:pt x="0" y="1426465"/>
                </a:lnTo>
                <a:lnTo>
                  <a:pt x="89154" y="1426465"/>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775704" y="4165091"/>
            <a:ext cx="89154" cy="1426465"/>
          </a:xfrm>
          <a:custGeom>
            <a:avLst/>
            <a:gdLst/>
            <a:ahLst/>
            <a:cxnLst/>
            <a:rect l="l" t="t" r="r" b="b"/>
            <a:pathLst>
              <a:path w="89154" h="1426465">
                <a:moveTo>
                  <a:pt x="0" y="0"/>
                </a:moveTo>
                <a:lnTo>
                  <a:pt x="89154" y="0"/>
                </a:lnTo>
                <a:lnTo>
                  <a:pt x="89154" y="1426465"/>
                </a:lnTo>
                <a:lnTo>
                  <a:pt x="0" y="1426465"/>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4814316" y="5413248"/>
            <a:ext cx="2258567" cy="208026"/>
          </a:xfrm>
          <a:custGeom>
            <a:avLst/>
            <a:gdLst/>
            <a:ahLst/>
            <a:cxnLst/>
            <a:rect l="l" t="t" r="r" b="b"/>
            <a:pathLst>
              <a:path w="2258567" h="208026">
                <a:moveTo>
                  <a:pt x="0" y="0"/>
                </a:moveTo>
                <a:lnTo>
                  <a:pt x="2258567" y="0"/>
                </a:lnTo>
                <a:lnTo>
                  <a:pt x="2258567" y="208026"/>
                </a:lnTo>
                <a:lnTo>
                  <a:pt x="0" y="208026"/>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3625596" y="4444441"/>
            <a:ext cx="4636008" cy="0"/>
          </a:xfrm>
          <a:prstGeom prst="line">
            <a:avLst/>
          </a:prstGeom>
          <a:ln w="1905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68112"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111496"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754880"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398264"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041648"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19088"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775704"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0"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488936"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45552" y="4105656"/>
            <a:ext cx="0" cy="386334"/>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40080" y="2468880"/>
            <a:ext cx="246888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WING + SPAR</a:t>
            </a:r>
          </a:p>
        </p:txBody>
      </p:sp>
      <p:sp>
        <p:nvSpPr>
          <p:cNvPr id="81" name="TextBox 80"/>
          <p:cNvSpPr txBox="1"/>
          <p:nvPr/>
        </p:nvSpPr>
        <p:spPr>
          <a:xfrm>
            <a:off x="640080" y="2862072"/>
            <a:ext cx="246888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Lift, bending and torsion.</a:t>
            </a:r>
          </a:p>
        </p:txBody>
      </p:sp>
      <p:cxnSp>
        <p:nvCxnSpPr>
          <p:cNvPr id="82" name="Connector 81"/>
          <p:cNvCxnSpPr/>
          <p:nvPr/>
        </p:nvCxnSpPr>
        <p:spPr>
          <a:xfrm>
            <a:off x="1874519" y="3429000"/>
            <a:ext cx="2514601" cy="96012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8778240" y="2468880"/>
            <a:ext cx="265176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FUSELAGE</a:t>
            </a:r>
          </a:p>
        </p:txBody>
      </p:sp>
      <p:sp>
        <p:nvSpPr>
          <p:cNvPr id="84" name="TextBox 83"/>
          <p:cNvSpPr txBox="1"/>
          <p:nvPr/>
        </p:nvSpPr>
        <p:spPr>
          <a:xfrm>
            <a:off x="8778240" y="2862072"/>
            <a:ext cx="265176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Equipment bays and load transfer.</a:t>
            </a:r>
          </a:p>
        </p:txBody>
      </p:sp>
      <p:cxnSp>
        <p:nvCxnSpPr>
          <p:cNvPr id="85" name="Connector 84"/>
          <p:cNvCxnSpPr/>
          <p:nvPr/>
        </p:nvCxnSpPr>
        <p:spPr>
          <a:xfrm flipH="1" flipV="1">
            <a:off x="5943600" y="3383280"/>
            <a:ext cx="4160519" cy="4572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40080" y="4709160"/>
            <a:ext cx="256032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CONTROL SURFACES</a:t>
            </a:r>
          </a:p>
        </p:txBody>
      </p:sp>
      <p:sp>
        <p:nvSpPr>
          <p:cNvPr id="87" name="TextBox 86"/>
          <p:cNvSpPr txBox="1"/>
          <p:nvPr/>
        </p:nvSpPr>
        <p:spPr>
          <a:xfrm>
            <a:off x="640080" y="5102352"/>
            <a:ext cx="256032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Roll, pitch and yaw moments.</a:t>
            </a:r>
          </a:p>
        </p:txBody>
      </p:sp>
      <p:cxnSp>
        <p:nvCxnSpPr>
          <p:cNvPr id="88" name="Connector 87"/>
          <p:cNvCxnSpPr/>
          <p:nvPr/>
        </p:nvCxnSpPr>
        <p:spPr>
          <a:xfrm flipV="1">
            <a:off x="1920239" y="5532120"/>
            <a:ext cx="3063241" cy="13716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78240" y="4709160"/>
            <a:ext cx="265176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BOOMS + TAIL</a:t>
            </a:r>
          </a:p>
        </p:txBody>
      </p:sp>
      <p:sp>
        <p:nvSpPr>
          <p:cNvPr id="90" name="TextBox 89"/>
          <p:cNvSpPr txBox="1"/>
          <p:nvPr/>
        </p:nvSpPr>
        <p:spPr>
          <a:xfrm>
            <a:off x="8778240" y="5102352"/>
            <a:ext cx="265176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Stability and tail-load path.</a:t>
            </a:r>
          </a:p>
        </p:txBody>
      </p:sp>
      <p:cxnSp>
        <p:nvCxnSpPr>
          <p:cNvPr id="91" name="Connector 90"/>
          <p:cNvCxnSpPr/>
          <p:nvPr/>
        </p:nvCxnSpPr>
        <p:spPr>
          <a:xfrm flipH="1" flipV="1">
            <a:off x="6858000" y="5504688"/>
            <a:ext cx="3246119" cy="164592"/>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05 / STRUCTURE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Structure is a balance of strength and mass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13</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Load paths</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Spars resist bending.</a:t>
            </a:r>
          </a:p>
          <a:p>
            <a:pPr>
              <a:lnSpc>
                <a:spcPct val="112000"/>
              </a:lnSpc>
              <a:spcAft>
                <a:spcPts val="0"/>
              </a:spcAft>
              <a:defRPr sz="1600" b="0">
                <a:solidFill>
                  <a:srgbClr val="EFF6FB"/>
                </a:solidFill>
                <a:latin typeface="DejaVu Sans"/>
              </a:defRPr>
            </a:pPr>
            <a:r>
              <a:t>Ribs preserve section shape.</a:t>
            </a:r>
          </a:p>
          <a:p>
            <a:pPr>
              <a:lnSpc>
                <a:spcPct val="112000"/>
              </a:lnSpc>
              <a:spcAft>
                <a:spcPts val="0"/>
              </a:spcAft>
              <a:defRPr sz="1600" b="0">
                <a:solidFill>
                  <a:srgbClr val="EFF6FB"/>
                </a:solidFill>
                <a:latin typeface="DejaVu Sans"/>
              </a:defRPr>
            </a:pPr>
            <a:r>
              <a:t>Skins and closed sections resist</a:t>
            </a:r>
          </a:p>
          <a:p>
            <a:pPr>
              <a:lnSpc>
                <a:spcPct val="112000"/>
              </a:lnSpc>
              <a:spcAft>
                <a:spcPts val="0"/>
              </a:spcAft>
              <a:defRPr sz="1600" b="0">
                <a:solidFill>
                  <a:srgbClr val="EFF6FB"/>
                </a:solidFill>
                <a:latin typeface="DejaVu Sans"/>
              </a:defRPr>
            </a:pPr>
            <a:r>
              <a:t>shear and torsion.</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Materials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Composites offer high specific</a:t>
            </a:r>
          </a:p>
          <a:p>
            <a:pPr>
              <a:lnSpc>
                <a:spcPct val="112000"/>
              </a:lnSpc>
              <a:spcAft>
                <a:spcPts val="0"/>
              </a:spcAft>
              <a:defRPr sz="1600" b="0">
                <a:solidFill>
                  <a:srgbClr val="EFF6FB"/>
                </a:solidFill>
                <a:latin typeface="DejaVu Sans"/>
              </a:defRPr>
            </a:pPr>
            <a:r>
              <a:t>strength. Metals simplify some</a:t>
            </a:r>
          </a:p>
          <a:p>
            <a:pPr>
              <a:lnSpc>
                <a:spcPct val="112000"/>
              </a:lnSpc>
              <a:spcAft>
                <a:spcPts val="0"/>
              </a:spcAft>
              <a:defRPr sz="1600" b="0">
                <a:solidFill>
                  <a:srgbClr val="EFF6FB"/>
                </a:solidFill>
                <a:latin typeface="DejaVu Sans"/>
              </a:defRPr>
            </a:pPr>
            <a:r>
              <a:t>joints and repairs. Material</a:t>
            </a:r>
          </a:p>
          <a:p>
            <a:pPr>
              <a:lnSpc>
                <a:spcPct val="112000"/>
              </a:lnSpc>
              <a:spcAft>
                <a:spcPts val="0"/>
              </a:spcAft>
              <a:defRPr sz="1600" b="0">
                <a:solidFill>
                  <a:srgbClr val="EFF6FB"/>
                </a:solidFill>
                <a:latin typeface="DejaVu Sans"/>
              </a:defRPr>
            </a:pPr>
            <a:r>
              <a:t>choice affects inspection.</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Integration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Access panels, harnesses,</a:t>
            </a:r>
          </a:p>
          <a:p>
            <a:pPr>
              <a:lnSpc>
                <a:spcPct val="112000"/>
              </a:lnSpc>
              <a:spcAft>
                <a:spcPts val="0"/>
              </a:spcAft>
              <a:defRPr sz="1600" b="0">
                <a:solidFill>
                  <a:srgbClr val="EFF6FB"/>
                </a:solidFill>
                <a:latin typeface="DejaVu Sans"/>
              </a:defRPr>
            </a:pPr>
            <a:r>
              <a:t>cooling paths and hardpoints</a:t>
            </a:r>
          </a:p>
          <a:p>
            <a:pPr>
              <a:lnSpc>
                <a:spcPct val="112000"/>
              </a:lnSpc>
              <a:spcAft>
                <a:spcPts val="0"/>
              </a:spcAft>
              <a:defRPr sz="1600" b="0">
                <a:solidFill>
                  <a:srgbClr val="EFF6FB"/>
                </a:solidFill>
                <a:latin typeface="DejaVu Sans"/>
              </a:defRPr>
            </a:pPr>
            <a:r>
              <a:t>must preserve stiffness, mass</a:t>
            </a:r>
          </a:p>
          <a:p>
            <a:pPr>
              <a:lnSpc>
                <a:spcPct val="112000"/>
              </a:lnSpc>
              <a:spcAft>
                <a:spcPts val="0"/>
              </a:spcAft>
              <a:defRPr sz="1600" b="0">
                <a:solidFill>
                  <a:srgbClr val="EFF6FB"/>
                </a:solidFill>
                <a:latin typeface="DejaVu Sans"/>
              </a:defRPr>
            </a:pPr>
            <a:r>
              <a:t>balance and serviceability.</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05 / STRUCTURE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Aerodynamics: four forces, one energy budget</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Steady level flight approximately balances lift with weight and thrust with drag</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14</a:t>
            </a:r>
          </a:p>
        </p:txBody>
      </p:sp>
      <p:pic>
        <p:nvPicPr>
          <p:cNvPr id="63" name="Picture 62" descr="TAPAS.png"/>
          <p:cNvPicPr>
            <a:picLocks noChangeAspect="1"/>
          </p:cNvPicPr>
          <p:nvPr/>
        </p:nvPicPr>
        <p:blipFill>
          <a:blip r:embed="rId3"/>
          <a:stretch>
            <a:fillRect/>
          </a:stretch>
        </p:blipFill>
        <p:spPr>
          <a:xfrm>
            <a:off x="3141837" y="3154680"/>
            <a:ext cx="6015004" cy="1828800"/>
          </a:xfrm>
          <a:prstGeom prst="rect">
            <a:avLst/>
          </a:prstGeom>
        </p:spPr>
      </p:pic>
      <p:cxnSp>
        <p:nvCxnSpPr>
          <p:cNvPr id="64" name="Connector 63"/>
          <p:cNvCxnSpPr/>
          <p:nvPr/>
        </p:nvCxnSpPr>
        <p:spPr>
          <a:xfrm flipV="1">
            <a:off x="6035040" y="2423160"/>
            <a:ext cx="0" cy="960120"/>
          </a:xfrm>
          <a:prstGeom prst="line">
            <a:avLst/>
          </a:prstGeom>
          <a:ln w="38100">
            <a:solidFill>
              <a:srgbClr val="4EDFE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09360" y="2423160"/>
            <a:ext cx="137160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LIFT</a:t>
            </a:r>
          </a:p>
        </p:txBody>
      </p:sp>
      <p:cxnSp>
        <p:nvCxnSpPr>
          <p:cNvPr id="66" name="Connector 65"/>
          <p:cNvCxnSpPr/>
          <p:nvPr/>
        </p:nvCxnSpPr>
        <p:spPr>
          <a:xfrm>
            <a:off x="6035040" y="4251960"/>
            <a:ext cx="0" cy="1417320"/>
          </a:xfrm>
          <a:prstGeom prst="line">
            <a:avLst/>
          </a:prstGeom>
          <a:ln w="38100">
            <a:solidFill>
              <a:srgbClr val="F6B75A"/>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309360" y="5394960"/>
            <a:ext cx="1828800" cy="365760"/>
          </a:xfrm>
          <a:prstGeom prst="rect">
            <a:avLst/>
          </a:prstGeom>
          <a:noFill/>
        </p:spPr>
        <p:txBody>
          <a:bodyPr wrap="square" lIns="0" rIns="0" tIns="0" bIns="0">
            <a:spAutoFit/>
          </a:bodyPr>
          <a:lstStyle/>
          <a:p>
            <a:pPr>
              <a:lnSpc>
                <a:spcPct val="112000"/>
              </a:lnSpc>
              <a:spcAft>
                <a:spcPts val="0"/>
              </a:spcAft>
              <a:defRPr sz="1600" b="1">
                <a:solidFill>
                  <a:srgbClr val="F6B75A"/>
                </a:solidFill>
                <a:latin typeface="DejaVu Sans"/>
              </a:defRPr>
            </a:pPr>
            <a:r>
              <a:t>WEIGHT</a:t>
            </a:r>
          </a:p>
        </p:txBody>
      </p:sp>
      <p:cxnSp>
        <p:nvCxnSpPr>
          <p:cNvPr id="68" name="Connector 67"/>
          <p:cNvCxnSpPr/>
          <p:nvPr/>
        </p:nvCxnSpPr>
        <p:spPr>
          <a:xfrm flipH="1">
            <a:off x="1188720" y="3840480"/>
            <a:ext cx="2468880" cy="0"/>
          </a:xfrm>
          <a:prstGeom prst="line">
            <a:avLst/>
          </a:prstGeom>
          <a:ln w="38100">
            <a:solidFill>
              <a:srgbClr val="4EDFE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1097280" y="3310128"/>
            <a:ext cx="182880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THRUST</a:t>
            </a:r>
          </a:p>
        </p:txBody>
      </p:sp>
      <p:cxnSp>
        <p:nvCxnSpPr>
          <p:cNvPr id="70" name="Connector 69"/>
          <p:cNvCxnSpPr/>
          <p:nvPr/>
        </p:nvCxnSpPr>
        <p:spPr>
          <a:xfrm>
            <a:off x="8412480" y="3840480"/>
            <a:ext cx="2560320" cy="0"/>
          </a:xfrm>
          <a:prstGeom prst="line">
            <a:avLst/>
          </a:prstGeom>
          <a:ln w="38100">
            <a:solidFill>
              <a:srgbClr val="FB7E7E"/>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738360" y="3310128"/>
            <a:ext cx="1828800" cy="365760"/>
          </a:xfrm>
          <a:prstGeom prst="rect">
            <a:avLst/>
          </a:prstGeom>
          <a:noFill/>
        </p:spPr>
        <p:txBody>
          <a:bodyPr wrap="square" lIns="0" rIns="0" tIns="0" bIns="0">
            <a:spAutoFit/>
          </a:bodyPr>
          <a:lstStyle/>
          <a:p>
            <a:pPr>
              <a:lnSpc>
                <a:spcPct val="112000"/>
              </a:lnSpc>
              <a:spcAft>
                <a:spcPts val="0"/>
              </a:spcAft>
              <a:defRPr sz="1600" b="1">
                <a:solidFill>
                  <a:srgbClr val="FB7E7E"/>
                </a:solidFill>
                <a:latin typeface="DejaVu Sans"/>
              </a:defRPr>
            </a:pPr>
            <a:r>
              <a:t>DRAG</a:t>
            </a:r>
          </a:p>
        </p:txBody>
      </p:sp>
      <p:sp>
        <p:nvSpPr>
          <p:cNvPr id="72" name="TextBox 71"/>
          <p:cNvSpPr txBox="1"/>
          <p:nvPr/>
        </p:nvSpPr>
        <p:spPr>
          <a:xfrm>
            <a:off x="731520" y="5961888"/>
            <a:ext cx="10972800" cy="32004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L = ½ ρ V² S Cₗ | More mass requires more lift; more drag requires more propulsive power.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05 / STRUCTURE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Mass, balance and aeroelasticity</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15</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Centre of gravity</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Payload and fuel placement</a:t>
            </a:r>
          </a:p>
          <a:p>
            <a:pPr>
              <a:lnSpc>
                <a:spcPct val="112000"/>
              </a:lnSpc>
              <a:spcAft>
                <a:spcPts val="0"/>
              </a:spcAft>
              <a:defRPr sz="1600" b="0">
                <a:solidFill>
                  <a:srgbClr val="EFF6FB"/>
                </a:solidFill>
                <a:latin typeface="DejaVu Sans"/>
              </a:defRPr>
            </a:pPr>
            <a:r>
              <a:t>shift balance. Stay within</a:t>
            </a:r>
          </a:p>
          <a:p>
            <a:pPr>
              <a:lnSpc>
                <a:spcPct val="112000"/>
              </a:lnSpc>
              <a:spcAft>
                <a:spcPts val="0"/>
              </a:spcAft>
              <a:defRPr sz="1600" b="0">
                <a:solidFill>
                  <a:srgbClr val="EFF6FB"/>
                </a:solidFill>
                <a:latin typeface="DejaVu Sans"/>
              </a:defRPr>
            </a:pPr>
            <a:r>
              <a:t>approved loading limits</a:t>
            </a:r>
          </a:p>
          <a:p>
            <a:pPr>
              <a:lnSpc>
                <a:spcPct val="112000"/>
              </a:lnSpc>
              <a:spcAft>
                <a:spcPts val="0"/>
              </a:spcAft>
              <a:defRPr sz="1600" b="0">
                <a:solidFill>
                  <a:srgbClr val="EFF6FB"/>
                </a:solidFill>
                <a:latin typeface="DejaVu Sans"/>
              </a:defRPr>
            </a:pPr>
            <a:r>
              <a:t>throughout the mission.</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Stability + trim</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Tail or wing configuration</a:t>
            </a:r>
          </a:p>
          <a:p>
            <a:pPr>
              <a:lnSpc>
                <a:spcPct val="112000"/>
              </a:lnSpc>
              <a:spcAft>
                <a:spcPts val="0"/>
              </a:spcAft>
              <a:defRPr sz="1600" b="0">
                <a:solidFill>
                  <a:srgbClr val="EFF6FB"/>
                </a:solidFill>
                <a:latin typeface="DejaVu Sans"/>
              </a:defRPr>
            </a:pPr>
            <a:r>
              <a:t>provides moments. Excess trim</a:t>
            </a:r>
          </a:p>
          <a:p>
            <a:pPr>
              <a:lnSpc>
                <a:spcPct val="112000"/>
              </a:lnSpc>
              <a:spcAft>
                <a:spcPts val="0"/>
              </a:spcAft>
              <a:defRPr sz="1600" b="0">
                <a:solidFill>
                  <a:srgbClr val="EFF6FB"/>
                </a:solidFill>
                <a:latin typeface="DejaVu Sans"/>
              </a:defRPr>
            </a:pPr>
            <a:r>
              <a:t>demand increases drag and</a:t>
            </a:r>
          </a:p>
          <a:p>
            <a:pPr>
              <a:lnSpc>
                <a:spcPct val="112000"/>
              </a:lnSpc>
              <a:spcAft>
                <a:spcPts val="0"/>
              </a:spcAft>
              <a:defRPr sz="1600" b="0">
                <a:solidFill>
                  <a:srgbClr val="EFF6FB"/>
                </a:solidFill>
                <a:latin typeface="DejaVu Sans"/>
              </a:defRPr>
            </a:pPr>
            <a:r>
              <a:t>reduces margins.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Vibration + flutter</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Structural flexibility couples</a:t>
            </a:r>
          </a:p>
          <a:p>
            <a:pPr>
              <a:lnSpc>
                <a:spcPct val="112000"/>
              </a:lnSpc>
              <a:spcAft>
                <a:spcPts val="0"/>
              </a:spcAft>
              <a:defRPr sz="1600" b="0">
                <a:solidFill>
                  <a:srgbClr val="EFF6FB"/>
                </a:solidFill>
                <a:latin typeface="DejaVu Sans"/>
              </a:defRPr>
            </a:pPr>
            <a:r>
              <a:t>with aerodynamics. Propeller</a:t>
            </a:r>
          </a:p>
          <a:p>
            <a:pPr>
              <a:lnSpc>
                <a:spcPct val="112000"/>
              </a:lnSpc>
              <a:spcAft>
                <a:spcPts val="0"/>
              </a:spcAft>
              <a:defRPr sz="1600" b="0">
                <a:solidFill>
                  <a:srgbClr val="EFF6FB"/>
                </a:solidFill>
                <a:latin typeface="DejaVu Sans"/>
              </a:defRPr>
            </a:pPr>
            <a:r>
              <a:t>vibration can degrade sensors</a:t>
            </a:r>
          </a:p>
          <a:p>
            <a:pPr>
              <a:lnSpc>
                <a:spcPct val="112000"/>
              </a:lnSpc>
              <a:spcAft>
                <a:spcPts val="0"/>
              </a:spcAft>
              <a:defRPr sz="1600" b="0">
                <a:solidFill>
                  <a:srgbClr val="EFF6FB"/>
                </a:solidFill>
                <a:latin typeface="DejaVu Sans"/>
              </a:defRPr>
            </a:pPr>
            <a:r>
              <a:t>and fatigue hardware.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06 / INTERNAL SYSTEMS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X-ray view: the major internal zones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Conceptual equipment arrangement • no claim about actual TAPAS or ARCHER internals</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16</a:t>
            </a:r>
          </a:p>
        </p:txBody>
      </p:sp>
      <p:sp>
        <p:nvSpPr>
          <p:cNvPr id="63" name="Freeform 62"/>
          <p:cNvSpPr/>
          <p:nvPr/>
        </p:nvSpPr>
        <p:spPr>
          <a:xfrm>
            <a:off x="5705673" y="2746857"/>
            <a:ext cx="567293" cy="2232965"/>
          </a:xfrm>
          <a:custGeom>
            <a:avLst/>
            <a:gdLst/>
            <a:ahLst/>
            <a:cxnLst/>
            <a:rect l="l" t="t" r="r" b="b"/>
            <a:pathLst>
              <a:path w="567293" h="2232965">
                <a:moveTo>
                  <a:pt x="54315" y="301752"/>
                </a:moveTo>
                <a:lnTo>
                  <a:pt x="283647" y="0"/>
                </a:lnTo>
                <a:lnTo>
                  <a:pt x="512978" y="301752"/>
                </a:lnTo>
                <a:lnTo>
                  <a:pt x="567293" y="1931213"/>
                </a:lnTo>
                <a:lnTo>
                  <a:pt x="434523" y="2232965"/>
                </a:lnTo>
                <a:lnTo>
                  <a:pt x="132771" y="2232965"/>
                </a:lnTo>
                <a:lnTo>
                  <a:pt x="0" y="1931213"/>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3575303" y="3923690"/>
            <a:ext cx="2172615" cy="621609"/>
          </a:xfrm>
          <a:custGeom>
            <a:avLst/>
            <a:gdLst/>
            <a:ahLst/>
            <a:cxnLst/>
            <a:rect l="l" t="t" r="r" b="b"/>
            <a:pathLst>
              <a:path w="2172615" h="621609">
                <a:moveTo>
                  <a:pt x="2172615" y="0"/>
                </a:moveTo>
                <a:lnTo>
                  <a:pt x="0" y="301752"/>
                </a:lnTo>
                <a:lnTo>
                  <a:pt x="0" y="621609"/>
                </a:lnTo>
                <a:lnTo>
                  <a:pt x="2172615" y="452628"/>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6230721" y="3923690"/>
            <a:ext cx="2172615" cy="621609"/>
          </a:xfrm>
          <a:custGeom>
            <a:avLst/>
            <a:gdLst/>
            <a:ahLst/>
            <a:cxnLst/>
            <a:rect l="l" t="t" r="r" b="b"/>
            <a:pathLst>
              <a:path w="2172615" h="621609">
                <a:moveTo>
                  <a:pt x="0" y="0"/>
                </a:moveTo>
                <a:lnTo>
                  <a:pt x="2172615" y="301752"/>
                </a:lnTo>
                <a:lnTo>
                  <a:pt x="2172615" y="621609"/>
                </a:lnTo>
                <a:lnTo>
                  <a:pt x="0" y="452628"/>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5053888" y="4134916"/>
            <a:ext cx="90526" cy="1448410"/>
          </a:xfrm>
          <a:custGeom>
            <a:avLst/>
            <a:gdLst/>
            <a:ahLst/>
            <a:cxnLst/>
            <a:rect l="l" t="t" r="r" b="b"/>
            <a:pathLst>
              <a:path w="90526" h="1448410">
                <a:moveTo>
                  <a:pt x="90526" y="0"/>
                </a:moveTo>
                <a:lnTo>
                  <a:pt x="0" y="0"/>
                </a:lnTo>
                <a:lnTo>
                  <a:pt x="0" y="1448410"/>
                </a:lnTo>
                <a:lnTo>
                  <a:pt x="90526" y="1448410"/>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834225" y="4134916"/>
            <a:ext cx="90526" cy="1448410"/>
          </a:xfrm>
          <a:custGeom>
            <a:avLst/>
            <a:gdLst/>
            <a:ahLst/>
            <a:cxnLst/>
            <a:rect l="l" t="t" r="r" b="b"/>
            <a:pathLst>
              <a:path w="90526" h="1448410">
                <a:moveTo>
                  <a:pt x="0" y="0"/>
                </a:moveTo>
                <a:lnTo>
                  <a:pt x="90526" y="0"/>
                </a:lnTo>
                <a:lnTo>
                  <a:pt x="90526" y="1448410"/>
                </a:lnTo>
                <a:lnTo>
                  <a:pt x="0" y="1448410"/>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4842662" y="5402275"/>
            <a:ext cx="2293315" cy="211226"/>
          </a:xfrm>
          <a:custGeom>
            <a:avLst/>
            <a:gdLst/>
            <a:ahLst/>
            <a:cxnLst/>
            <a:rect l="l" t="t" r="r" b="b"/>
            <a:pathLst>
              <a:path w="2293315" h="211226">
                <a:moveTo>
                  <a:pt x="0" y="0"/>
                </a:moveTo>
                <a:lnTo>
                  <a:pt x="2293315" y="0"/>
                </a:lnTo>
                <a:lnTo>
                  <a:pt x="2293315" y="211226"/>
                </a:lnTo>
                <a:lnTo>
                  <a:pt x="0" y="211226"/>
                </a:lnTo>
                <a:close/>
              </a:path>
            </a:pathLst>
          </a:custGeom>
          <a:solidFill>
            <a:srgbClr val="102337"/>
          </a:solid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3635654" y="4418563"/>
            <a:ext cx="4707331" cy="0"/>
          </a:xfrm>
          <a:prstGeom prst="line">
            <a:avLst/>
          </a:prstGeom>
          <a:ln w="1905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506516"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144414"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782312"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420209"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058107"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72123"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34225"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96328"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558430"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920532" y="4074566"/>
            <a:ext cx="0" cy="392278"/>
          </a:xfrm>
          <a:prstGeom prst="line">
            <a:avLst/>
          </a:prstGeom>
          <a:ln w="11430">
            <a:solidFill>
              <a:srgbClr val="173449"/>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5820338" y="3259835"/>
            <a:ext cx="337962" cy="331927"/>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820338" y="3742639"/>
            <a:ext cx="337962" cy="331927"/>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820338" y="4225442"/>
            <a:ext cx="337962" cy="331927"/>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820338" y="4690140"/>
            <a:ext cx="337962" cy="331927"/>
          </a:xfrm>
          <a:prstGeom prst="rect">
            <a:avLst/>
          </a:prstGeom>
          <a:solidFill>
            <a:srgbClr val="FB7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48640" y="2432304"/>
            <a:ext cx="265176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PAYLOAD BAY</a:t>
            </a:r>
          </a:p>
        </p:txBody>
      </p:sp>
      <p:sp>
        <p:nvSpPr>
          <p:cNvPr id="85" name="TextBox 84"/>
          <p:cNvSpPr txBox="1"/>
          <p:nvPr/>
        </p:nvSpPr>
        <p:spPr>
          <a:xfrm>
            <a:off x="548640" y="2825496"/>
            <a:ext cx="265176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Sensor, gimbal and processor.</a:t>
            </a:r>
          </a:p>
        </p:txBody>
      </p:sp>
      <p:cxnSp>
        <p:nvCxnSpPr>
          <p:cNvPr id="86" name="Connector 85"/>
          <p:cNvCxnSpPr/>
          <p:nvPr/>
        </p:nvCxnSpPr>
        <p:spPr>
          <a:xfrm flipV="1">
            <a:off x="1874519" y="3255264"/>
            <a:ext cx="4114801" cy="13716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732520" y="2432304"/>
            <a:ext cx="283464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AVIONICS BAY</a:t>
            </a:r>
          </a:p>
        </p:txBody>
      </p:sp>
      <p:sp>
        <p:nvSpPr>
          <p:cNvPr id="88" name="TextBox 87"/>
          <p:cNvSpPr txBox="1"/>
          <p:nvPr/>
        </p:nvSpPr>
        <p:spPr>
          <a:xfrm>
            <a:off x="8732520" y="2825496"/>
            <a:ext cx="283464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FCC, navigation and link electronics.</a:t>
            </a:r>
          </a:p>
        </p:txBody>
      </p:sp>
      <p:cxnSp>
        <p:nvCxnSpPr>
          <p:cNvPr id="89" name="Connector 88"/>
          <p:cNvCxnSpPr/>
          <p:nvPr/>
        </p:nvCxnSpPr>
        <p:spPr>
          <a:xfrm flipH="1">
            <a:off x="5989320" y="3392424"/>
            <a:ext cx="4160520" cy="356615"/>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48640" y="4709160"/>
            <a:ext cx="274320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ENERGY / POWER</a:t>
            </a:r>
          </a:p>
        </p:txBody>
      </p:sp>
      <p:sp>
        <p:nvSpPr>
          <p:cNvPr id="91" name="TextBox 90"/>
          <p:cNvSpPr txBox="1"/>
          <p:nvPr/>
        </p:nvSpPr>
        <p:spPr>
          <a:xfrm>
            <a:off x="548640" y="5102352"/>
            <a:ext cx="274320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Tank or battery; power distribution.</a:t>
            </a:r>
          </a:p>
        </p:txBody>
      </p:sp>
      <p:cxnSp>
        <p:nvCxnSpPr>
          <p:cNvPr id="92" name="Connector 91"/>
          <p:cNvCxnSpPr/>
          <p:nvPr/>
        </p:nvCxnSpPr>
        <p:spPr>
          <a:xfrm flipV="1">
            <a:off x="1920240" y="4297680"/>
            <a:ext cx="4069080" cy="137160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8732520" y="4709160"/>
            <a:ext cx="2834640" cy="36576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PROPULSION</a:t>
            </a:r>
          </a:p>
        </p:txBody>
      </p:sp>
      <p:sp>
        <p:nvSpPr>
          <p:cNvPr id="94" name="TextBox 93"/>
          <p:cNvSpPr txBox="1"/>
          <p:nvPr/>
        </p:nvSpPr>
        <p:spPr>
          <a:xfrm>
            <a:off x="8732520" y="5102352"/>
            <a:ext cx="2834640"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Engine / motor and local control.</a:t>
            </a:r>
          </a:p>
        </p:txBody>
      </p:sp>
      <p:cxnSp>
        <p:nvCxnSpPr>
          <p:cNvPr id="95" name="Connector 94"/>
          <p:cNvCxnSpPr/>
          <p:nvPr/>
        </p:nvCxnSpPr>
        <p:spPr>
          <a:xfrm flipH="1" flipV="1">
            <a:off x="5989320" y="4754880"/>
            <a:ext cx="4160520" cy="914400"/>
          </a:xfrm>
          <a:prstGeom prst="line">
            <a:avLst/>
          </a:prstGeom>
          <a:ln w="10160">
            <a:solidFill>
              <a:srgbClr val="4EDF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06 / INTERNAL SYSTEMS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Inside the aircraft: a conceptual cutaway</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Illustrative visualization • generic UAV • not a verified layout of any pictured aircraft</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17</a:t>
            </a:r>
          </a:p>
        </p:txBody>
      </p:sp>
      <p:pic>
        <p:nvPicPr>
          <p:cNvPr id="63" name="Picture 62" descr="conceptual_cutaway.png"/>
          <p:cNvPicPr>
            <a:picLocks noChangeAspect="1"/>
          </p:cNvPicPr>
          <p:nvPr/>
        </p:nvPicPr>
        <p:blipFill>
          <a:blip r:embed="rId3"/>
          <a:stretch>
            <a:fillRect/>
          </a:stretch>
        </p:blipFill>
        <p:spPr>
          <a:xfrm>
            <a:off x="2993761" y="2240280"/>
            <a:ext cx="6173997" cy="3474719"/>
          </a:xfrm>
          <a:prstGeom prst="rect">
            <a:avLst/>
          </a:prstGeom>
        </p:spPr>
      </p:pic>
      <p:sp>
        <p:nvSpPr>
          <p:cNvPr id="64" name="TextBox 63"/>
          <p:cNvSpPr txBox="1"/>
          <p:nvPr/>
        </p:nvSpPr>
        <p:spPr>
          <a:xfrm>
            <a:off x="777240" y="5870448"/>
            <a:ext cx="10789920" cy="320040"/>
          </a:xfrm>
          <a:prstGeom prst="rect">
            <a:avLst/>
          </a:prstGeom>
          <a:noFill/>
        </p:spPr>
        <p:txBody>
          <a:bodyPr wrap="square" lIns="0" rIns="0" tIns="0" bIns="0">
            <a:spAutoFit/>
          </a:bodyPr>
          <a:lstStyle/>
          <a:p>
            <a:pPr>
              <a:lnSpc>
                <a:spcPct val="112000"/>
              </a:lnSpc>
              <a:spcAft>
                <a:spcPts val="0"/>
              </a:spcAft>
              <a:defRPr sz="1300" b="1">
                <a:solidFill>
                  <a:srgbClr val="4EDFE3"/>
                </a:solidFill>
                <a:latin typeface="DejaVu Sans"/>
              </a:defRPr>
            </a:pPr>
            <a:r>
              <a:t>PAYLOAD / AVIONICS / ENERGY / HARNESS / SPARS + RIBS / PROPULSION</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07 / PROPULSION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Engine choices follow the mission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18</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Piston + propeller</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Fuel endurance and</a:t>
            </a:r>
          </a:p>
          <a:p>
            <a:pPr>
              <a:lnSpc>
                <a:spcPct val="112000"/>
              </a:lnSpc>
              <a:spcAft>
                <a:spcPts val="0"/>
              </a:spcAft>
              <a:defRPr sz="1600" b="0">
                <a:solidFill>
                  <a:srgbClr val="EFF6FB"/>
                </a:solidFill>
                <a:latin typeface="DejaVu Sans"/>
              </a:defRPr>
            </a:pPr>
            <a:r>
              <a:t>mechanical complexity.</a:t>
            </a:r>
          </a:p>
          <a:p>
            <a:pPr>
              <a:lnSpc>
                <a:spcPct val="112000"/>
              </a:lnSpc>
              <a:spcAft>
                <a:spcPts val="0"/>
              </a:spcAft>
              <a:defRPr sz="1600" b="0">
                <a:solidFill>
                  <a:srgbClr val="EFF6FB"/>
                </a:solidFill>
                <a:latin typeface="DejaVu Sans"/>
              </a:defRPr>
            </a:pPr>
            <a:r>
              <a:t>Cooling, ignition, lubrication</a:t>
            </a:r>
          </a:p>
          <a:p>
            <a:pPr>
              <a:lnSpc>
                <a:spcPct val="112000"/>
              </a:lnSpc>
              <a:spcAft>
                <a:spcPts val="0"/>
              </a:spcAft>
              <a:defRPr sz="1600" b="0">
                <a:solidFill>
                  <a:srgbClr val="EFF6FB"/>
                </a:solidFill>
                <a:latin typeface="DejaVu Sans"/>
              </a:defRPr>
            </a:pPr>
            <a:r>
              <a:t>and vibration need attention.</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Turbine systems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Higher power density for</a:t>
            </a:r>
          </a:p>
          <a:p>
            <a:pPr>
              <a:lnSpc>
                <a:spcPct val="112000"/>
              </a:lnSpc>
              <a:spcAft>
                <a:spcPts val="0"/>
              </a:spcAft>
              <a:defRPr sz="1600" b="0">
                <a:solidFill>
                  <a:srgbClr val="EFF6FB"/>
                </a:solidFill>
                <a:latin typeface="DejaVu Sans"/>
              </a:defRPr>
            </a:pPr>
            <a:r>
              <a:t>suitable missions. Fuel flow,</a:t>
            </a:r>
          </a:p>
          <a:p>
            <a:pPr>
              <a:lnSpc>
                <a:spcPct val="112000"/>
              </a:lnSpc>
              <a:spcAft>
                <a:spcPts val="0"/>
              </a:spcAft>
              <a:defRPr sz="1600" b="0">
                <a:solidFill>
                  <a:srgbClr val="EFF6FB"/>
                </a:solidFill>
                <a:latin typeface="DejaVu Sans"/>
              </a:defRPr>
            </a:pPr>
            <a:r>
              <a:t>hot sections and installation</a:t>
            </a:r>
          </a:p>
          <a:p>
            <a:pPr>
              <a:lnSpc>
                <a:spcPct val="112000"/>
              </a:lnSpc>
              <a:spcAft>
                <a:spcPts val="0"/>
              </a:spcAft>
              <a:defRPr sz="1600" b="0">
                <a:solidFill>
                  <a:srgbClr val="EFF6FB"/>
                </a:solidFill>
                <a:latin typeface="DejaVu Sans"/>
              </a:defRPr>
            </a:pPr>
            <a:r>
              <a:t>losses matter.</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Electric motor</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Fast torque response and</a:t>
            </a:r>
          </a:p>
          <a:p>
            <a:pPr>
              <a:lnSpc>
                <a:spcPct val="112000"/>
              </a:lnSpc>
              <a:spcAft>
                <a:spcPts val="0"/>
              </a:spcAft>
              <a:defRPr sz="1600" b="0">
                <a:solidFill>
                  <a:srgbClr val="EFF6FB"/>
                </a:solidFill>
                <a:latin typeface="DejaVu Sans"/>
              </a:defRPr>
            </a:pPr>
            <a:r>
              <a:t>fewer moving parts. Battery</a:t>
            </a:r>
          </a:p>
          <a:p>
            <a:pPr>
              <a:lnSpc>
                <a:spcPct val="112000"/>
              </a:lnSpc>
              <a:spcAft>
                <a:spcPts val="0"/>
              </a:spcAft>
              <a:defRPr sz="1600" b="0">
                <a:solidFill>
                  <a:srgbClr val="EFF6FB"/>
                </a:solidFill>
                <a:latin typeface="DejaVu Sans"/>
              </a:defRPr>
            </a:pPr>
            <a:r>
              <a:t>mass, temperature and usable</a:t>
            </a:r>
          </a:p>
          <a:p>
            <a:pPr>
              <a:lnSpc>
                <a:spcPct val="112000"/>
              </a:lnSpc>
              <a:spcAft>
                <a:spcPts val="0"/>
              </a:spcAft>
              <a:defRPr sz="1600" b="0">
                <a:solidFill>
                  <a:srgbClr val="EFF6FB"/>
                </a:solidFill>
                <a:latin typeface="DejaVu Sans"/>
              </a:defRPr>
            </a:pPr>
            <a:r>
              <a:t>energy limit duration.</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07 / PROPULSION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Piston propulsion: energy to thrust</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Functional chain • installation determines reliability and efficiency</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19</a:t>
            </a:r>
          </a:p>
        </p:txBody>
      </p:sp>
      <p:sp>
        <p:nvSpPr>
          <p:cNvPr id="63" name="Rectangle 62"/>
          <p:cNvSpPr/>
          <p:nvPr/>
        </p:nvSpPr>
        <p:spPr>
          <a:xfrm>
            <a:off x="548640" y="2743200"/>
            <a:ext cx="2057400" cy="2148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8368" y="2852928"/>
            <a:ext cx="18379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FUEL SYSTEM</a:t>
            </a:r>
          </a:p>
        </p:txBody>
      </p:sp>
      <p:sp>
        <p:nvSpPr>
          <p:cNvPr id="65" name="TextBox 64"/>
          <p:cNvSpPr txBox="1"/>
          <p:nvPr/>
        </p:nvSpPr>
        <p:spPr>
          <a:xfrm>
            <a:off x="658368" y="3456432"/>
            <a:ext cx="1837943" cy="1417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Tank • filter</a:t>
            </a:r>
          </a:p>
          <a:p>
            <a:pPr>
              <a:lnSpc>
                <a:spcPct val="112000"/>
              </a:lnSpc>
              <a:spcAft>
                <a:spcPts val="0"/>
              </a:spcAft>
              <a:defRPr sz="1200" b="0">
                <a:solidFill>
                  <a:srgbClr val="EFF6FB"/>
                </a:solidFill>
                <a:latin typeface="DejaVu Sans"/>
              </a:defRPr>
            </a:pPr>
            <a:r>
              <a:t>Delivery • metering</a:t>
            </a:r>
          </a:p>
        </p:txBody>
      </p:sp>
      <p:sp>
        <p:nvSpPr>
          <p:cNvPr id="66" name="Rectangle 65"/>
          <p:cNvSpPr/>
          <p:nvPr/>
        </p:nvSpPr>
        <p:spPr>
          <a:xfrm>
            <a:off x="2880360" y="2743200"/>
            <a:ext cx="2057400" cy="2148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990088" y="2852928"/>
            <a:ext cx="18379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ENGINE</a:t>
            </a:r>
          </a:p>
        </p:txBody>
      </p:sp>
      <p:sp>
        <p:nvSpPr>
          <p:cNvPr id="68" name="TextBox 67"/>
          <p:cNvSpPr txBox="1"/>
          <p:nvPr/>
        </p:nvSpPr>
        <p:spPr>
          <a:xfrm>
            <a:off x="2990088" y="3456432"/>
            <a:ext cx="1837943" cy="1417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Combustion</a:t>
            </a:r>
          </a:p>
          <a:p>
            <a:pPr>
              <a:lnSpc>
                <a:spcPct val="112000"/>
              </a:lnSpc>
              <a:spcAft>
                <a:spcPts val="0"/>
              </a:spcAft>
              <a:defRPr sz="1200" b="0">
                <a:solidFill>
                  <a:srgbClr val="EFF6FB"/>
                </a:solidFill>
                <a:latin typeface="DejaVu Sans"/>
              </a:defRPr>
            </a:pPr>
            <a:r>
              <a:t>Cooling • lubrication</a:t>
            </a:r>
          </a:p>
        </p:txBody>
      </p:sp>
      <p:sp>
        <p:nvSpPr>
          <p:cNvPr id="69" name="Rectangle 68"/>
          <p:cNvSpPr/>
          <p:nvPr/>
        </p:nvSpPr>
        <p:spPr>
          <a:xfrm>
            <a:off x="5212080" y="2743200"/>
            <a:ext cx="2057400" cy="2148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21808" y="2852928"/>
            <a:ext cx="18379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SHAFT / DRIVE</a:t>
            </a:r>
          </a:p>
        </p:txBody>
      </p:sp>
      <p:sp>
        <p:nvSpPr>
          <p:cNvPr id="71" name="TextBox 70"/>
          <p:cNvSpPr txBox="1"/>
          <p:nvPr/>
        </p:nvSpPr>
        <p:spPr>
          <a:xfrm>
            <a:off x="5321808" y="3456432"/>
            <a:ext cx="1837943" cy="1417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Torque transfer</a:t>
            </a:r>
          </a:p>
          <a:p>
            <a:pPr>
              <a:lnSpc>
                <a:spcPct val="112000"/>
              </a:lnSpc>
              <a:spcAft>
                <a:spcPts val="0"/>
              </a:spcAft>
              <a:defRPr sz="1200" b="0">
                <a:solidFill>
                  <a:srgbClr val="EFF6FB"/>
                </a:solidFill>
                <a:latin typeface="DejaVu Sans"/>
              </a:defRPr>
            </a:pPr>
            <a:r>
              <a:t>Optional gearbox</a:t>
            </a:r>
          </a:p>
        </p:txBody>
      </p:sp>
      <p:sp>
        <p:nvSpPr>
          <p:cNvPr id="72" name="Rectangle 71"/>
          <p:cNvSpPr/>
          <p:nvPr/>
        </p:nvSpPr>
        <p:spPr>
          <a:xfrm>
            <a:off x="7543800" y="2743200"/>
            <a:ext cx="2057400" cy="2148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653527" y="2852928"/>
            <a:ext cx="18379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PROPELLER</a:t>
            </a:r>
          </a:p>
        </p:txBody>
      </p:sp>
      <p:sp>
        <p:nvSpPr>
          <p:cNvPr id="74" name="TextBox 73"/>
          <p:cNvSpPr txBox="1"/>
          <p:nvPr/>
        </p:nvSpPr>
        <p:spPr>
          <a:xfrm>
            <a:off x="7653527" y="3456432"/>
            <a:ext cx="1837943" cy="1417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Shaft power</a:t>
            </a:r>
          </a:p>
          <a:p>
            <a:pPr>
              <a:lnSpc>
                <a:spcPct val="112000"/>
              </a:lnSpc>
              <a:spcAft>
                <a:spcPts val="0"/>
              </a:spcAft>
              <a:defRPr sz="1200" b="0">
                <a:solidFill>
                  <a:srgbClr val="EFF6FB"/>
                </a:solidFill>
                <a:latin typeface="DejaVu Sans"/>
              </a:defRPr>
            </a:pPr>
            <a:r>
              <a:t>→ aerodynamic thrust</a:t>
            </a:r>
          </a:p>
        </p:txBody>
      </p:sp>
      <p:cxnSp>
        <p:nvCxnSpPr>
          <p:cNvPr id="75" name="Connector 74"/>
          <p:cNvCxnSpPr/>
          <p:nvPr/>
        </p:nvCxnSpPr>
        <p:spPr>
          <a:xfrm>
            <a:off x="2606040" y="3794760"/>
            <a:ext cx="27432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937760" y="3794760"/>
            <a:ext cx="27432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269480" y="3794760"/>
            <a:ext cx="27432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9966960" y="2743200"/>
            <a:ext cx="1645920" cy="2148840"/>
          </a:xfrm>
          <a:prstGeom prst="rect">
            <a:avLst/>
          </a:prstGeom>
          <a:solidFill>
            <a:srgbClr val="102337"/>
          </a:solidFill>
          <a:ln w="8890">
            <a:solidFill>
              <a:srgbClr val="F6B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76688" y="2852928"/>
            <a:ext cx="1426464" cy="548640"/>
          </a:xfrm>
          <a:prstGeom prst="rect">
            <a:avLst/>
          </a:prstGeom>
          <a:noFill/>
        </p:spPr>
        <p:txBody>
          <a:bodyPr wrap="square" lIns="0" rIns="0" tIns="0" bIns="0">
            <a:spAutoFit/>
          </a:bodyPr>
          <a:lstStyle/>
          <a:p>
            <a:pPr>
              <a:lnSpc>
                <a:spcPct val="112000"/>
              </a:lnSpc>
              <a:spcAft>
                <a:spcPts val="0"/>
              </a:spcAft>
              <a:defRPr sz="1500" b="1">
                <a:solidFill>
                  <a:srgbClr val="F6B75A"/>
                </a:solidFill>
                <a:latin typeface="DejaVu Sans"/>
              </a:defRPr>
            </a:pPr>
            <a:r>
              <a:t>ECU</a:t>
            </a:r>
          </a:p>
        </p:txBody>
      </p:sp>
      <p:sp>
        <p:nvSpPr>
          <p:cNvPr id="80" name="TextBox 79"/>
          <p:cNvSpPr txBox="1"/>
          <p:nvPr/>
        </p:nvSpPr>
        <p:spPr>
          <a:xfrm>
            <a:off x="10076688" y="3456432"/>
            <a:ext cx="1426464" cy="1417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Engine health</a:t>
            </a:r>
          </a:p>
          <a:p>
            <a:pPr>
              <a:lnSpc>
                <a:spcPct val="112000"/>
              </a:lnSpc>
              <a:spcAft>
                <a:spcPts val="0"/>
              </a:spcAft>
              <a:defRPr sz="1200" b="0">
                <a:solidFill>
                  <a:srgbClr val="EFF6FB"/>
                </a:solidFill>
                <a:latin typeface="DejaVu Sans"/>
              </a:defRPr>
            </a:pPr>
            <a:r>
              <a:t>Control limits</a:t>
            </a:r>
          </a:p>
        </p:txBody>
      </p:sp>
      <p:sp>
        <p:nvSpPr>
          <p:cNvPr id="81" name="TextBox 80"/>
          <p:cNvSpPr txBox="1"/>
          <p:nvPr/>
        </p:nvSpPr>
        <p:spPr>
          <a:xfrm>
            <a:off x="731520" y="5513832"/>
            <a:ext cx="10972800" cy="548640"/>
          </a:xfrm>
          <a:prstGeom prst="rect">
            <a:avLst/>
          </a:prstGeom>
          <a:noFill/>
        </p:spPr>
        <p:txBody>
          <a:bodyPr wrap="square" lIns="0" rIns="0" tIns="0" bIns="0">
            <a:spAutoFit/>
          </a:bodyPr>
          <a:lstStyle/>
          <a:p>
            <a:pPr>
              <a:lnSpc>
                <a:spcPct val="112000"/>
              </a:lnSpc>
              <a:spcAft>
                <a:spcPts val="0"/>
              </a:spcAft>
              <a:defRPr sz="1500" b="0">
                <a:solidFill>
                  <a:srgbClr val="4EDFE3"/>
                </a:solidFill>
                <a:latin typeface="DejaVu Sans"/>
              </a:defRPr>
            </a:pPr>
            <a:r>
              <a:t>SECONDARY OUTPUT / Generator → conditioned electrical power → avionics and payload</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07 / PROPULSION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Electric propulsion and the energy budget</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20</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Power chain</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Battery → protection /</a:t>
            </a:r>
          </a:p>
          <a:p>
            <a:pPr>
              <a:lnSpc>
                <a:spcPct val="112000"/>
              </a:lnSpc>
              <a:spcAft>
                <a:spcPts val="0"/>
              </a:spcAft>
              <a:defRPr sz="1600" b="0">
                <a:solidFill>
                  <a:srgbClr val="EFF6FB"/>
                </a:solidFill>
                <a:latin typeface="DejaVu Sans"/>
              </a:defRPr>
            </a:pPr>
            <a:r>
              <a:t>distribution → electronic speed</a:t>
            </a:r>
          </a:p>
          <a:p>
            <a:pPr>
              <a:lnSpc>
                <a:spcPct val="112000"/>
              </a:lnSpc>
              <a:spcAft>
                <a:spcPts val="0"/>
              </a:spcAft>
              <a:defRPr sz="1600" b="0">
                <a:solidFill>
                  <a:srgbClr val="EFF6FB"/>
                </a:solidFill>
                <a:latin typeface="DejaVu Sans"/>
              </a:defRPr>
            </a:pPr>
            <a:r>
              <a:t>controller → motor → propeller.</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What consumes</a:t>
            </a:r>
          </a:p>
          <a:p>
            <a:pPr>
              <a:lnSpc>
                <a:spcPct val="112000"/>
              </a:lnSpc>
              <a:spcAft>
                <a:spcPts val="0"/>
              </a:spcAft>
              <a:defRPr sz="2000" b="1">
                <a:solidFill>
                  <a:srgbClr val="4EDFE3"/>
                </a:solidFill>
                <a:latin typeface="DejaVu Sans"/>
              </a:defRPr>
            </a:pPr>
            <a:r>
              <a:t>energy</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Propulsion dominates many</a:t>
            </a:r>
          </a:p>
          <a:p>
            <a:pPr>
              <a:lnSpc>
                <a:spcPct val="112000"/>
              </a:lnSpc>
              <a:spcAft>
                <a:spcPts val="0"/>
              </a:spcAft>
              <a:defRPr sz="1600" b="0">
                <a:solidFill>
                  <a:srgbClr val="EFF6FB"/>
                </a:solidFill>
                <a:latin typeface="DejaVu Sans"/>
              </a:defRPr>
            </a:pPr>
            <a:r>
              <a:t>missions. Payload, avionics,</a:t>
            </a:r>
          </a:p>
          <a:p>
            <a:pPr>
              <a:lnSpc>
                <a:spcPct val="112000"/>
              </a:lnSpc>
              <a:spcAft>
                <a:spcPts val="0"/>
              </a:spcAft>
              <a:defRPr sz="1600" b="0">
                <a:solidFill>
                  <a:srgbClr val="EFF6FB"/>
                </a:solidFill>
                <a:latin typeface="DejaVu Sans"/>
              </a:defRPr>
            </a:pPr>
            <a:r>
              <a:t>heating and links also draw</a:t>
            </a:r>
          </a:p>
          <a:p>
            <a:pPr>
              <a:lnSpc>
                <a:spcPct val="112000"/>
              </a:lnSpc>
              <a:spcAft>
                <a:spcPts val="0"/>
              </a:spcAft>
              <a:defRPr sz="1600" b="0">
                <a:solidFill>
                  <a:srgbClr val="EFF6FB"/>
                </a:solidFill>
                <a:latin typeface="DejaVu Sans"/>
              </a:defRPr>
            </a:pPr>
            <a:r>
              <a:t>power.</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Endurance tradeoff</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Usable energy / average power</a:t>
            </a:r>
          </a:p>
          <a:p>
            <a:pPr>
              <a:lnSpc>
                <a:spcPct val="112000"/>
              </a:lnSpc>
              <a:spcAft>
                <a:spcPts val="0"/>
              </a:spcAft>
              <a:defRPr sz="1600" b="0">
                <a:solidFill>
                  <a:srgbClr val="EFF6FB"/>
                </a:solidFill>
                <a:latin typeface="DejaVu Sans"/>
              </a:defRPr>
            </a:pPr>
            <a:r>
              <a:t>gives a first estimate. Preserve</a:t>
            </a:r>
          </a:p>
          <a:p>
            <a:pPr>
              <a:lnSpc>
                <a:spcPct val="112000"/>
              </a:lnSpc>
              <a:spcAft>
                <a:spcPts val="0"/>
              </a:spcAft>
              <a:defRPr sz="1600" b="0">
                <a:solidFill>
                  <a:srgbClr val="EFF6FB"/>
                </a:solidFill>
                <a:latin typeface="DejaVu Sans"/>
              </a:defRPr>
            </a:pPr>
            <a:r>
              <a:t>reserve and account for losses</a:t>
            </a:r>
          </a:p>
          <a:p>
            <a:pPr>
              <a:lnSpc>
                <a:spcPct val="112000"/>
              </a:lnSpc>
              <a:spcAft>
                <a:spcPts val="0"/>
              </a:spcAft>
              <a:defRPr sz="1600" b="0">
                <a:solidFill>
                  <a:srgbClr val="EFF6FB"/>
                </a:solidFill>
                <a:latin typeface="DejaVu Sans"/>
              </a:defRPr>
            </a:pPr>
            <a:r>
              <a:t>and temperature.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07 / PROPULSION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Power and thermal management are flight systems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21</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Electrical architecture</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Generation or battery supply;</a:t>
            </a:r>
          </a:p>
          <a:p>
            <a:pPr>
              <a:lnSpc>
                <a:spcPct val="112000"/>
              </a:lnSpc>
              <a:spcAft>
                <a:spcPts val="0"/>
              </a:spcAft>
              <a:defRPr sz="1600" b="0">
                <a:solidFill>
                  <a:srgbClr val="EFF6FB"/>
                </a:solidFill>
                <a:latin typeface="DejaVu Sans"/>
              </a:defRPr>
            </a:pPr>
            <a:r>
              <a:t>regulated rails; load shedding;</a:t>
            </a:r>
          </a:p>
          <a:p>
            <a:pPr>
              <a:lnSpc>
                <a:spcPct val="112000"/>
              </a:lnSpc>
              <a:spcAft>
                <a:spcPts val="0"/>
              </a:spcAft>
              <a:defRPr sz="1600" b="0">
                <a:solidFill>
                  <a:srgbClr val="EFF6FB"/>
                </a:solidFill>
                <a:latin typeface="DejaVu Sans"/>
              </a:defRPr>
            </a:pPr>
            <a:r>
              <a:t>protected distribution and</a:t>
            </a:r>
          </a:p>
          <a:p>
            <a:pPr>
              <a:lnSpc>
                <a:spcPct val="112000"/>
              </a:lnSpc>
              <a:spcAft>
                <a:spcPts val="0"/>
              </a:spcAft>
              <a:defRPr sz="1600" b="0">
                <a:solidFill>
                  <a:srgbClr val="EFF6FB"/>
                </a:solidFill>
                <a:latin typeface="DejaVu Sans"/>
              </a:defRPr>
            </a:pPr>
            <a:r>
              <a:t>monitored buses.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Heat rejection</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Engines, motors, batteries, RF</a:t>
            </a:r>
          </a:p>
          <a:p>
            <a:pPr>
              <a:lnSpc>
                <a:spcPct val="112000"/>
              </a:lnSpc>
              <a:spcAft>
                <a:spcPts val="0"/>
              </a:spcAft>
              <a:defRPr sz="1600" b="0">
                <a:solidFill>
                  <a:srgbClr val="EFF6FB"/>
                </a:solidFill>
                <a:latin typeface="DejaVu Sans"/>
              </a:defRPr>
            </a:pPr>
            <a:r>
              <a:t>amplifiers and processors all</a:t>
            </a:r>
          </a:p>
          <a:p>
            <a:pPr>
              <a:lnSpc>
                <a:spcPct val="112000"/>
              </a:lnSpc>
              <a:spcAft>
                <a:spcPts val="0"/>
              </a:spcAft>
              <a:defRPr sz="1600" b="0">
                <a:solidFill>
                  <a:srgbClr val="EFF6FB"/>
                </a:solidFill>
                <a:latin typeface="DejaVu Sans"/>
              </a:defRPr>
            </a:pPr>
            <a:r>
              <a:t>generate heat. Cooling</a:t>
            </a:r>
          </a:p>
          <a:p>
            <a:pPr>
              <a:lnSpc>
                <a:spcPct val="112000"/>
              </a:lnSpc>
              <a:spcAft>
                <a:spcPts val="0"/>
              </a:spcAft>
              <a:defRPr sz="1600" b="0">
                <a:solidFill>
                  <a:srgbClr val="EFF6FB"/>
                </a:solidFill>
                <a:latin typeface="DejaVu Sans"/>
              </a:defRPr>
            </a:pPr>
            <a:r>
              <a:t>changes with altitude and</a:t>
            </a:r>
          </a:p>
          <a:p>
            <a:pPr>
              <a:lnSpc>
                <a:spcPct val="112000"/>
              </a:lnSpc>
              <a:spcAft>
                <a:spcPts val="0"/>
              </a:spcAft>
              <a:defRPr sz="1600" b="0">
                <a:solidFill>
                  <a:srgbClr val="EFF6FB"/>
                </a:solidFill>
                <a:latin typeface="DejaVu Sans"/>
              </a:defRPr>
            </a:pPr>
            <a:r>
              <a:t>speed.</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Fault isolation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Separate critical loads where</a:t>
            </a:r>
          </a:p>
          <a:p>
            <a:pPr>
              <a:lnSpc>
                <a:spcPct val="112000"/>
              </a:lnSpc>
              <a:spcAft>
                <a:spcPts val="0"/>
              </a:spcAft>
              <a:defRPr sz="1600" b="0">
                <a:solidFill>
                  <a:srgbClr val="EFF6FB"/>
                </a:solidFill>
                <a:latin typeface="DejaVu Sans"/>
              </a:defRPr>
            </a:pPr>
            <a:r>
              <a:t>appropriate. Avoid a single</a:t>
            </a:r>
          </a:p>
          <a:p>
            <a:pPr>
              <a:lnSpc>
                <a:spcPct val="112000"/>
              </a:lnSpc>
              <a:spcAft>
                <a:spcPts val="0"/>
              </a:spcAft>
              <a:defRPr sz="1600" b="0">
                <a:solidFill>
                  <a:srgbClr val="EFF6FB"/>
                </a:solidFill>
                <a:latin typeface="DejaVu Sans"/>
              </a:defRPr>
            </a:pPr>
            <a:r>
              <a:t>connector, bus or cooling fault</a:t>
            </a:r>
          </a:p>
          <a:p>
            <a:pPr>
              <a:lnSpc>
                <a:spcPct val="112000"/>
              </a:lnSpc>
              <a:spcAft>
                <a:spcPts val="0"/>
              </a:spcAft>
              <a:defRPr sz="1600" b="0">
                <a:solidFill>
                  <a:srgbClr val="EFF6FB"/>
                </a:solidFill>
                <a:latin typeface="DejaVu Sans"/>
              </a:defRPr>
            </a:pPr>
            <a:r>
              <a:t>defeating redundancy.</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 / DATALINK</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Datalink: three traffic classes, different priorities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A high-resolution video feed must not starve flight-critical command and telemetry</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22</a:t>
            </a:r>
          </a:p>
        </p:txBody>
      </p:sp>
      <p:sp>
        <p:nvSpPr>
          <p:cNvPr id="63" name="Rectangle 62"/>
          <p:cNvSpPr/>
          <p:nvPr/>
        </p:nvSpPr>
        <p:spPr>
          <a:xfrm>
            <a:off x="685800" y="2514600"/>
            <a:ext cx="10789920" cy="86868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2670048"/>
            <a:ext cx="3017520" cy="548640"/>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COMMAND / CONTROL</a:t>
            </a:r>
          </a:p>
        </p:txBody>
      </p:sp>
      <p:sp>
        <p:nvSpPr>
          <p:cNvPr id="65" name="TextBox 64"/>
          <p:cNvSpPr txBox="1"/>
          <p:nvPr/>
        </p:nvSpPr>
        <p:spPr>
          <a:xfrm>
            <a:off x="4343400" y="2624328"/>
            <a:ext cx="6720840"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Mode requests • acknowledgements</a:t>
            </a:r>
          </a:p>
          <a:p>
            <a:pPr>
              <a:lnSpc>
                <a:spcPct val="112000"/>
              </a:lnSpc>
              <a:spcAft>
                <a:spcPts val="0"/>
              </a:spcAft>
              <a:defRPr sz="1400" b="0">
                <a:solidFill>
                  <a:srgbClr val="EFF6FB"/>
                </a:solidFill>
                <a:latin typeface="DejaVu Sans"/>
              </a:defRPr>
            </a:pPr>
            <a:r>
              <a:t>Bounded authority and freshness</a:t>
            </a:r>
          </a:p>
        </p:txBody>
      </p:sp>
      <p:sp>
        <p:nvSpPr>
          <p:cNvPr id="66" name="Rectangle 65"/>
          <p:cNvSpPr/>
          <p:nvPr/>
        </p:nvSpPr>
        <p:spPr>
          <a:xfrm>
            <a:off x="685800" y="3593591"/>
            <a:ext cx="10789920" cy="868680"/>
          </a:xfrm>
          <a:prstGeom prst="rect">
            <a:avLst/>
          </a:prstGeom>
          <a:solidFill>
            <a:srgbClr val="102337"/>
          </a:solidFill>
          <a:ln w="8890">
            <a:solidFill>
              <a:srgbClr val="F6B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4400" y="3749039"/>
            <a:ext cx="3017520" cy="548640"/>
          </a:xfrm>
          <a:prstGeom prst="rect">
            <a:avLst/>
          </a:prstGeom>
          <a:noFill/>
        </p:spPr>
        <p:txBody>
          <a:bodyPr wrap="square" lIns="0" rIns="0" tIns="0" bIns="0">
            <a:spAutoFit/>
          </a:bodyPr>
          <a:lstStyle/>
          <a:p>
            <a:pPr>
              <a:lnSpc>
                <a:spcPct val="112000"/>
              </a:lnSpc>
              <a:spcAft>
                <a:spcPts val="0"/>
              </a:spcAft>
              <a:defRPr sz="1700" b="1">
                <a:solidFill>
                  <a:srgbClr val="F6B75A"/>
                </a:solidFill>
                <a:latin typeface="DejaVu Sans"/>
              </a:defRPr>
            </a:pPr>
            <a:r>
              <a:t>TELEMETRY</a:t>
            </a:r>
          </a:p>
        </p:txBody>
      </p:sp>
      <p:sp>
        <p:nvSpPr>
          <p:cNvPr id="68" name="TextBox 67"/>
          <p:cNvSpPr txBox="1"/>
          <p:nvPr/>
        </p:nvSpPr>
        <p:spPr>
          <a:xfrm>
            <a:off x="4343400" y="3703320"/>
            <a:ext cx="6720840"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State • health • link quality</a:t>
            </a:r>
          </a:p>
          <a:p>
            <a:pPr>
              <a:lnSpc>
                <a:spcPct val="112000"/>
              </a:lnSpc>
              <a:spcAft>
                <a:spcPts val="0"/>
              </a:spcAft>
              <a:defRPr sz="1400" b="0">
                <a:solidFill>
                  <a:srgbClr val="EFF6FB"/>
                </a:solidFill>
                <a:latin typeface="DejaVu Sans"/>
              </a:defRPr>
            </a:pPr>
            <a:r>
              <a:t>Timely and unambiguous status</a:t>
            </a:r>
          </a:p>
        </p:txBody>
      </p:sp>
      <p:sp>
        <p:nvSpPr>
          <p:cNvPr id="69" name="Rectangle 68"/>
          <p:cNvSpPr/>
          <p:nvPr/>
        </p:nvSpPr>
        <p:spPr>
          <a:xfrm>
            <a:off x="685800" y="4672583"/>
            <a:ext cx="10789920" cy="868680"/>
          </a:xfrm>
          <a:prstGeom prst="rect">
            <a:avLst/>
          </a:prstGeom>
          <a:solidFill>
            <a:srgbClr val="102337"/>
          </a:solidFill>
          <a:ln w="8890">
            <a:solidFill>
              <a:srgbClr val="A7BD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4400" y="4828031"/>
            <a:ext cx="3017520" cy="548640"/>
          </a:xfrm>
          <a:prstGeom prst="rect">
            <a:avLst/>
          </a:prstGeom>
          <a:noFill/>
        </p:spPr>
        <p:txBody>
          <a:bodyPr wrap="square" lIns="0" rIns="0" tIns="0" bIns="0">
            <a:spAutoFit/>
          </a:bodyPr>
          <a:lstStyle/>
          <a:p>
            <a:pPr>
              <a:lnSpc>
                <a:spcPct val="112000"/>
              </a:lnSpc>
              <a:spcAft>
                <a:spcPts val="0"/>
              </a:spcAft>
              <a:defRPr sz="1700" b="1">
                <a:solidFill>
                  <a:srgbClr val="A7BDCC"/>
                </a:solidFill>
                <a:latin typeface="DejaVu Sans"/>
              </a:defRPr>
            </a:pPr>
            <a:r>
              <a:t>PAYLOAD DATA</a:t>
            </a:r>
          </a:p>
        </p:txBody>
      </p:sp>
      <p:sp>
        <p:nvSpPr>
          <p:cNvPr id="71" name="TextBox 70"/>
          <p:cNvSpPr txBox="1"/>
          <p:nvPr/>
        </p:nvSpPr>
        <p:spPr>
          <a:xfrm>
            <a:off x="4343400" y="4782312"/>
            <a:ext cx="6720840"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Video • imagery • sensor products</a:t>
            </a:r>
          </a:p>
          <a:p>
            <a:pPr>
              <a:lnSpc>
                <a:spcPct val="112000"/>
              </a:lnSpc>
              <a:spcAft>
                <a:spcPts val="0"/>
              </a:spcAft>
              <a:defRPr sz="1400" b="0">
                <a:solidFill>
                  <a:srgbClr val="EFF6FB"/>
                </a:solidFill>
                <a:latin typeface="DejaVu Sans"/>
              </a:defRPr>
            </a:pPr>
            <a:r>
              <a:t>High throughput; tolerate graceful degradation</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 / DATALINK</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Ground data terminal: the RF gateway</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23</a:t>
            </a:r>
          </a:p>
        </p:txBody>
      </p:sp>
      <p:pic>
        <p:nvPicPr>
          <p:cNvPr id="62" name="Picture 61" descr="gdt.png"/>
          <p:cNvPicPr>
            <a:picLocks noChangeAspect="1"/>
          </p:cNvPicPr>
          <p:nvPr/>
        </p:nvPicPr>
        <p:blipFill>
          <a:blip r:embed="rId3"/>
          <a:stretch>
            <a:fillRect/>
          </a:stretch>
        </p:blipFill>
        <p:spPr>
          <a:xfrm>
            <a:off x="994409" y="2377440"/>
            <a:ext cx="5417820" cy="3611880"/>
          </a:xfrm>
          <a:prstGeom prst="rect">
            <a:avLst/>
          </a:prstGeom>
        </p:spPr>
      </p:pic>
      <p:sp>
        <p:nvSpPr>
          <p:cNvPr id="63" name="TextBox 62"/>
          <p:cNvSpPr txBox="1"/>
          <p:nvPr/>
        </p:nvSpPr>
        <p:spPr>
          <a:xfrm>
            <a:off x="7315200" y="2450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GDT role</a:t>
            </a:r>
          </a:p>
        </p:txBody>
      </p:sp>
      <p:sp>
        <p:nvSpPr>
          <p:cNvPr id="64" name="TextBox 63"/>
          <p:cNvSpPr txBox="1"/>
          <p:nvPr/>
        </p:nvSpPr>
        <p:spPr>
          <a:xfrm>
            <a:off x="7315200" y="2862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Connect ground-station networks to the air-ground</a:t>
            </a:r>
          </a:p>
          <a:p>
            <a:pPr>
              <a:lnSpc>
                <a:spcPct val="112000"/>
              </a:lnSpc>
              <a:spcAft>
                <a:spcPts val="0"/>
              </a:spcAft>
              <a:defRPr sz="1300" b="0">
                <a:solidFill>
                  <a:srgbClr val="EFF6FB"/>
                </a:solidFill>
                <a:latin typeface="DejaVu Sans"/>
              </a:defRPr>
            </a:pPr>
            <a:r>
              <a:t>radio path.</a:t>
            </a:r>
          </a:p>
        </p:txBody>
      </p:sp>
      <p:sp>
        <p:nvSpPr>
          <p:cNvPr id="65" name="TextBox 64"/>
          <p:cNvSpPr txBox="1"/>
          <p:nvPr/>
        </p:nvSpPr>
        <p:spPr>
          <a:xfrm>
            <a:off x="7315200" y="3593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Tracking and RF chain</a:t>
            </a:r>
          </a:p>
        </p:txBody>
      </p:sp>
      <p:sp>
        <p:nvSpPr>
          <p:cNvPr id="66" name="TextBox 65"/>
          <p:cNvSpPr txBox="1"/>
          <p:nvPr/>
        </p:nvSpPr>
        <p:spPr>
          <a:xfrm>
            <a:off x="7315200" y="4005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Antenna, pointing, transceiver, filtering and</a:t>
            </a:r>
          </a:p>
          <a:p>
            <a:pPr>
              <a:lnSpc>
                <a:spcPct val="112000"/>
              </a:lnSpc>
              <a:spcAft>
                <a:spcPts val="0"/>
              </a:spcAft>
              <a:defRPr sz="1300" b="0">
                <a:solidFill>
                  <a:srgbClr val="EFF6FB"/>
                </a:solidFill>
                <a:latin typeface="DejaVu Sans"/>
              </a:defRPr>
            </a:pPr>
            <a:r>
              <a:t>interface equipment.</a:t>
            </a:r>
          </a:p>
        </p:txBody>
      </p:sp>
      <p:sp>
        <p:nvSpPr>
          <p:cNvPr id="67" name="TextBox 66"/>
          <p:cNvSpPr txBox="1"/>
          <p:nvPr/>
        </p:nvSpPr>
        <p:spPr>
          <a:xfrm>
            <a:off x="7315200" y="4736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Readiness</a:t>
            </a:r>
          </a:p>
        </p:txBody>
      </p:sp>
      <p:sp>
        <p:nvSpPr>
          <p:cNvPr id="68" name="TextBox 67"/>
          <p:cNvSpPr txBox="1"/>
          <p:nvPr/>
        </p:nvSpPr>
        <p:spPr>
          <a:xfrm>
            <a:off x="7315200" y="5148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Verify alignment, link quality, time sync and traffic</a:t>
            </a:r>
          </a:p>
          <a:p>
            <a:pPr>
              <a:lnSpc>
                <a:spcPct val="112000"/>
              </a:lnSpc>
              <a:spcAft>
                <a:spcPts val="0"/>
              </a:spcAft>
              <a:defRPr sz="1300" b="0">
                <a:solidFill>
                  <a:srgbClr val="EFF6FB"/>
                </a:solidFill>
                <a:latin typeface="DejaVu Sans"/>
              </a:defRPr>
            </a:pPr>
            <a:r>
              <a:t>priority.</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 / DATALINK</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Line of sight and beyond line of sight</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LOS = local radio geometry; BLOS = relayed or extended communications</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24</a:t>
            </a:r>
          </a:p>
        </p:txBody>
      </p:sp>
      <p:sp>
        <p:nvSpPr>
          <p:cNvPr id="63" name="Rectangle 62"/>
          <p:cNvSpPr/>
          <p:nvPr/>
        </p:nvSpPr>
        <p:spPr>
          <a:xfrm>
            <a:off x="685800" y="3474720"/>
            <a:ext cx="2286000" cy="155448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5528" y="3584448"/>
            <a:ext cx="20665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GCS / GDT</a:t>
            </a:r>
          </a:p>
        </p:txBody>
      </p:sp>
      <p:sp>
        <p:nvSpPr>
          <p:cNvPr id="65" name="TextBox 64"/>
          <p:cNvSpPr txBox="1"/>
          <p:nvPr/>
        </p:nvSpPr>
        <p:spPr>
          <a:xfrm>
            <a:off x="795528" y="4187952"/>
            <a:ext cx="2066543" cy="822959"/>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Operator and RF link</a:t>
            </a:r>
          </a:p>
        </p:txBody>
      </p:sp>
      <p:sp>
        <p:nvSpPr>
          <p:cNvPr id="66" name="Rectangle 65"/>
          <p:cNvSpPr/>
          <p:nvPr/>
        </p:nvSpPr>
        <p:spPr>
          <a:xfrm>
            <a:off x="4937760" y="2423160"/>
            <a:ext cx="2286000" cy="1371600"/>
          </a:xfrm>
          <a:prstGeom prst="rect">
            <a:avLst/>
          </a:prstGeom>
          <a:solidFill>
            <a:srgbClr val="102337"/>
          </a:solidFill>
          <a:ln w="8890">
            <a:solidFill>
              <a:srgbClr val="F6B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47488" y="2532888"/>
            <a:ext cx="2066543" cy="548640"/>
          </a:xfrm>
          <a:prstGeom prst="rect">
            <a:avLst/>
          </a:prstGeom>
          <a:noFill/>
        </p:spPr>
        <p:txBody>
          <a:bodyPr wrap="square" lIns="0" rIns="0" tIns="0" bIns="0">
            <a:spAutoFit/>
          </a:bodyPr>
          <a:lstStyle/>
          <a:p>
            <a:pPr>
              <a:lnSpc>
                <a:spcPct val="112000"/>
              </a:lnSpc>
              <a:spcAft>
                <a:spcPts val="0"/>
              </a:spcAft>
              <a:defRPr sz="1500" b="1">
                <a:solidFill>
                  <a:srgbClr val="F6B75A"/>
                </a:solidFill>
                <a:latin typeface="DejaVu Sans"/>
              </a:defRPr>
            </a:pPr>
            <a:r>
              <a:t>SATELLITE / RELAY</a:t>
            </a:r>
          </a:p>
        </p:txBody>
      </p:sp>
      <p:sp>
        <p:nvSpPr>
          <p:cNvPr id="68" name="TextBox 67"/>
          <p:cNvSpPr txBox="1"/>
          <p:nvPr/>
        </p:nvSpPr>
        <p:spPr>
          <a:xfrm>
            <a:off x="5047488" y="3136391"/>
            <a:ext cx="2066543" cy="6400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Optional BLOS path</a:t>
            </a:r>
          </a:p>
        </p:txBody>
      </p:sp>
      <p:sp>
        <p:nvSpPr>
          <p:cNvPr id="69" name="Rectangle 68"/>
          <p:cNvSpPr/>
          <p:nvPr/>
        </p:nvSpPr>
        <p:spPr>
          <a:xfrm>
            <a:off x="9144000" y="3474720"/>
            <a:ext cx="2286000" cy="155448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253728" y="3584448"/>
            <a:ext cx="206654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AIRCRAFT</a:t>
            </a:r>
          </a:p>
        </p:txBody>
      </p:sp>
      <p:sp>
        <p:nvSpPr>
          <p:cNvPr id="71" name="TextBox 70"/>
          <p:cNvSpPr txBox="1"/>
          <p:nvPr/>
        </p:nvSpPr>
        <p:spPr>
          <a:xfrm>
            <a:off x="9253728" y="4187952"/>
            <a:ext cx="2066543" cy="822959"/>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Onboard radio and FCC</a:t>
            </a:r>
          </a:p>
        </p:txBody>
      </p:sp>
      <p:cxnSp>
        <p:nvCxnSpPr>
          <p:cNvPr id="72" name="Connector 71"/>
          <p:cNvCxnSpPr/>
          <p:nvPr/>
        </p:nvCxnSpPr>
        <p:spPr>
          <a:xfrm>
            <a:off x="2971800" y="3886200"/>
            <a:ext cx="6172200" cy="0"/>
          </a:xfrm>
          <a:prstGeom prst="line">
            <a:avLst/>
          </a:prstGeom>
          <a:ln w="25400">
            <a:solidFill>
              <a:srgbClr val="4EDFE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4754880" y="4206240"/>
            <a:ext cx="2743200" cy="365760"/>
          </a:xfrm>
          <a:prstGeom prst="rect">
            <a:avLst/>
          </a:prstGeom>
          <a:noFill/>
        </p:spPr>
        <p:txBody>
          <a:bodyPr wrap="square" lIns="0" rIns="0" tIns="0" bIns="0">
            <a:spAutoFit/>
          </a:bodyPr>
          <a:lstStyle/>
          <a:p>
            <a:pPr>
              <a:lnSpc>
                <a:spcPct val="112000"/>
              </a:lnSpc>
              <a:spcAft>
                <a:spcPts val="0"/>
              </a:spcAft>
              <a:defRPr sz="1400" b="1">
                <a:solidFill>
                  <a:srgbClr val="4EDFE3"/>
                </a:solidFill>
                <a:latin typeface="DejaVu Sans"/>
              </a:defRPr>
            </a:pPr>
            <a:r>
              <a:t>LOS PATH</a:t>
            </a:r>
          </a:p>
        </p:txBody>
      </p:sp>
      <p:cxnSp>
        <p:nvCxnSpPr>
          <p:cNvPr id="74" name="Connector 73"/>
          <p:cNvCxnSpPr/>
          <p:nvPr/>
        </p:nvCxnSpPr>
        <p:spPr>
          <a:xfrm flipV="1">
            <a:off x="2971800" y="3017520"/>
            <a:ext cx="1965960" cy="59436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223760" y="3017520"/>
            <a:ext cx="1920240" cy="59436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846320" y="1984248"/>
            <a:ext cx="2743200" cy="365760"/>
          </a:xfrm>
          <a:prstGeom prst="rect">
            <a:avLst/>
          </a:prstGeom>
          <a:noFill/>
        </p:spPr>
        <p:txBody>
          <a:bodyPr wrap="square" lIns="0" rIns="0" tIns="0" bIns="0">
            <a:spAutoFit/>
          </a:bodyPr>
          <a:lstStyle/>
          <a:p>
            <a:pPr>
              <a:lnSpc>
                <a:spcPct val="112000"/>
              </a:lnSpc>
              <a:spcAft>
                <a:spcPts val="0"/>
              </a:spcAft>
              <a:defRPr sz="1300" b="1">
                <a:solidFill>
                  <a:srgbClr val="F6B75A"/>
                </a:solidFill>
                <a:latin typeface="DejaVu Sans"/>
              </a:defRPr>
            </a:pPr>
            <a:r>
              <a:t>BLOS PATH</a:t>
            </a:r>
          </a:p>
        </p:txBody>
      </p:sp>
      <p:sp>
        <p:nvSpPr>
          <p:cNvPr id="77" name="TextBox 76"/>
          <p:cNvSpPr txBox="1"/>
          <p:nvPr/>
        </p:nvSpPr>
        <p:spPr>
          <a:xfrm>
            <a:off x="731520" y="5715000"/>
            <a:ext cx="10789920" cy="457200"/>
          </a:xfrm>
          <a:prstGeom prst="rect">
            <a:avLst/>
          </a:prstGeom>
          <a:noFill/>
        </p:spPr>
        <p:txBody>
          <a:bodyPr wrap="square" lIns="0" rIns="0" tIns="0" bIns="0">
            <a:spAutoFit/>
          </a:bodyPr>
          <a:lstStyle/>
          <a:p>
            <a:pPr>
              <a:lnSpc>
                <a:spcPct val="112000"/>
              </a:lnSpc>
              <a:spcAft>
                <a:spcPts val="0"/>
              </a:spcAft>
              <a:defRPr sz="1600" b="0">
                <a:solidFill>
                  <a:srgbClr val="A7BDCC"/>
                </a:solidFill>
                <a:latin typeface="DejaVu Sans"/>
              </a:defRPr>
            </a:pPr>
            <a:r>
              <a:t>Link coverage, flight authorization and collision avoidance are separate requirements.</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 / DATALINK</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Satellite data terminal: another system</a:t>
            </a:r>
          </a:p>
          <a:p>
            <a:pPr>
              <a:lnSpc>
                <a:spcPct val="112000"/>
              </a:lnSpc>
              <a:spcAft>
                <a:spcPts val="0"/>
              </a:spcAft>
              <a:defRPr sz="3000" b="1">
                <a:solidFill>
                  <a:srgbClr val="EFF6FB"/>
                </a:solidFill>
                <a:latin typeface="DejaVu Sans"/>
              </a:defRPr>
            </a:pPr>
            <a:r>
              <a:t>dependency</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25</a:t>
            </a:r>
          </a:p>
        </p:txBody>
      </p:sp>
      <p:pic>
        <p:nvPicPr>
          <p:cNvPr id="62" name="Picture 61" descr="sdt.png"/>
          <p:cNvPicPr>
            <a:picLocks noChangeAspect="1"/>
          </p:cNvPicPr>
          <p:nvPr/>
        </p:nvPicPr>
        <p:blipFill>
          <a:blip r:embed="rId3"/>
          <a:stretch>
            <a:fillRect/>
          </a:stretch>
        </p:blipFill>
        <p:spPr>
          <a:xfrm>
            <a:off x="2499360" y="2377440"/>
            <a:ext cx="2407920" cy="3611880"/>
          </a:xfrm>
          <a:prstGeom prst="rect">
            <a:avLst/>
          </a:prstGeom>
        </p:spPr>
      </p:pic>
      <p:sp>
        <p:nvSpPr>
          <p:cNvPr id="63" name="TextBox 62"/>
          <p:cNvSpPr txBox="1"/>
          <p:nvPr/>
        </p:nvSpPr>
        <p:spPr>
          <a:xfrm>
            <a:off x="7315200" y="2450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SDT role</a:t>
            </a:r>
          </a:p>
        </p:txBody>
      </p:sp>
      <p:sp>
        <p:nvSpPr>
          <p:cNvPr id="64" name="TextBox 63"/>
          <p:cNvSpPr txBox="1"/>
          <p:nvPr/>
        </p:nvSpPr>
        <p:spPr>
          <a:xfrm>
            <a:off x="7315200" y="2862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A satellite terminal can support remote</a:t>
            </a:r>
          </a:p>
          <a:p>
            <a:pPr>
              <a:lnSpc>
                <a:spcPct val="112000"/>
              </a:lnSpc>
              <a:spcAft>
                <a:spcPts val="0"/>
              </a:spcAft>
              <a:defRPr sz="1300" b="0">
                <a:solidFill>
                  <a:srgbClr val="EFF6FB"/>
                </a:solidFill>
                <a:latin typeface="DejaVu Sans"/>
              </a:defRPr>
            </a:pPr>
            <a:r>
              <a:t>connectivity where equipped.</a:t>
            </a:r>
          </a:p>
        </p:txBody>
      </p:sp>
      <p:sp>
        <p:nvSpPr>
          <p:cNvPr id="65" name="TextBox 64"/>
          <p:cNvSpPr txBox="1"/>
          <p:nvPr/>
        </p:nvSpPr>
        <p:spPr>
          <a:xfrm>
            <a:off x="7315200" y="3593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More than coverage</a:t>
            </a:r>
          </a:p>
        </p:txBody>
      </p:sp>
      <p:sp>
        <p:nvSpPr>
          <p:cNvPr id="66" name="TextBox 65"/>
          <p:cNvSpPr txBox="1"/>
          <p:nvPr/>
        </p:nvSpPr>
        <p:spPr>
          <a:xfrm>
            <a:off x="7315200" y="4005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Service availability, pointing, latency and</a:t>
            </a:r>
          </a:p>
          <a:p>
            <a:pPr>
              <a:lnSpc>
                <a:spcPct val="112000"/>
              </a:lnSpc>
              <a:spcAft>
                <a:spcPts val="0"/>
              </a:spcAft>
              <a:defRPr sz="1300" b="0">
                <a:solidFill>
                  <a:srgbClr val="EFF6FB"/>
                </a:solidFill>
                <a:latin typeface="DejaVu Sans"/>
              </a:defRPr>
            </a:pPr>
            <a:r>
              <a:t>throughput affect usability.</a:t>
            </a:r>
          </a:p>
        </p:txBody>
      </p:sp>
      <p:sp>
        <p:nvSpPr>
          <p:cNvPr id="67" name="TextBox 66"/>
          <p:cNvSpPr txBox="1"/>
          <p:nvPr/>
        </p:nvSpPr>
        <p:spPr>
          <a:xfrm>
            <a:off x="7315200" y="4736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Shared infrastructure</a:t>
            </a:r>
          </a:p>
        </p:txBody>
      </p:sp>
      <p:sp>
        <p:nvSpPr>
          <p:cNvPr id="68" name="TextBox 67"/>
          <p:cNvSpPr txBox="1"/>
          <p:nvPr/>
        </p:nvSpPr>
        <p:spPr>
          <a:xfrm>
            <a:off x="7315200" y="5148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Power, network interfaces and operator procedures</a:t>
            </a:r>
          </a:p>
          <a:p>
            <a:pPr>
              <a:lnSpc>
                <a:spcPct val="112000"/>
              </a:lnSpc>
              <a:spcAft>
                <a:spcPts val="0"/>
              </a:spcAft>
              <a:defRPr sz="1300" b="0">
                <a:solidFill>
                  <a:srgbClr val="EFF6FB"/>
                </a:solidFill>
                <a:latin typeface="DejaVu Sans"/>
              </a:defRPr>
            </a:pPr>
            <a:r>
              <a:t>remain essential.</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08 / DATALINK</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Link budget: reliability is engineered</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26</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Received power</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Transmit power + antenna</a:t>
            </a:r>
          </a:p>
          <a:p>
            <a:pPr>
              <a:lnSpc>
                <a:spcPct val="112000"/>
              </a:lnSpc>
              <a:spcAft>
                <a:spcPts val="0"/>
              </a:spcAft>
              <a:defRPr sz="1600" b="0">
                <a:solidFill>
                  <a:srgbClr val="EFF6FB"/>
                </a:solidFill>
                <a:latin typeface="DejaVu Sans"/>
              </a:defRPr>
            </a:pPr>
            <a:r>
              <a:t>gains − path loss − cable /</a:t>
            </a:r>
          </a:p>
          <a:p>
            <a:pPr>
              <a:lnSpc>
                <a:spcPct val="112000"/>
              </a:lnSpc>
              <a:spcAft>
                <a:spcPts val="0"/>
              </a:spcAft>
              <a:defRPr sz="1600" b="0">
                <a:solidFill>
                  <a:srgbClr val="EFF6FB"/>
                </a:solidFill>
                <a:latin typeface="DejaVu Sans"/>
              </a:defRPr>
            </a:pPr>
            <a:r>
              <a:t>pointing / other losses. All</a:t>
            </a:r>
          </a:p>
          <a:p>
            <a:pPr>
              <a:lnSpc>
                <a:spcPct val="112000"/>
              </a:lnSpc>
              <a:spcAft>
                <a:spcPts val="0"/>
              </a:spcAft>
              <a:defRPr sz="1600" b="0">
                <a:solidFill>
                  <a:srgbClr val="EFF6FB"/>
                </a:solidFill>
                <a:latin typeface="DejaVu Sans"/>
              </a:defRPr>
            </a:pPr>
            <a:r>
              <a:t>terms use consistent units.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Margins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Account for fading, polarization</a:t>
            </a:r>
          </a:p>
          <a:p>
            <a:pPr>
              <a:lnSpc>
                <a:spcPct val="112000"/>
              </a:lnSpc>
              <a:spcAft>
                <a:spcPts val="0"/>
              </a:spcAft>
              <a:defRPr sz="1600" b="0">
                <a:solidFill>
                  <a:srgbClr val="EFF6FB"/>
                </a:solidFill>
                <a:latin typeface="DejaVu Sans"/>
              </a:defRPr>
            </a:pPr>
            <a:r>
              <a:t>mismatch, obstructions,</a:t>
            </a:r>
          </a:p>
          <a:p>
            <a:pPr>
              <a:lnSpc>
                <a:spcPct val="112000"/>
              </a:lnSpc>
              <a:spcAft>
                <a:spcPts val="0"/>
              </a:spcAft>
              <a:defRPr sz="1600" b="0">
                <a:solidFill>
                  <a:srgbClr val="EFF6FB"/>
                </a:solidFill>
                <a:latin typeface="DejaVu Sans"/>
              </a:defRPr>
            </a:pPr>
            <a:r>
              <a:t>interference and equipment</a:t>
            </a:r>
          </a:p>
          <a:p>
            <a:pPr>
              <a:lnSpc>
                <a:spcPct val="112000"/>
              </a:lnSpc>
              <a:spcAft>
                <a:spcPts val="0"/>
              </a:spcAft>
              <a:defRPr sz="1600" b="0">
                <a:solidFill>
                  <a:srgbClr val="EFF6FB"/>
                </a:solidFill>
                <a:latin typeface="DejaVu Sans"/>
              </a:defRPr>
            </a:pPr>
            <a:r>
              <a:t>variation.</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Operational quality</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Monitor packet loss, latency</a:t>
            </a:r>
          </a:p>
          <a:p>
            <a:pPr>
              <a:lnSpc>
                <a:spcPct val="112000"/>
              </a:lnSpc>
              <a:spcAft>
                <a:spcPts val="0"/>
              </a:spcAft>
              <a:defRPr sz="1600" b="0">
                <a:solidFill>
                  <a:srgbClr val="EFF6FB"/>
                </a:solidFill>
                <a:latin typeface="DejaVu Sans"/>
              </a:defRPr>
            </a:pPr>
            <a:r>
              <a:t>and usable throughput. Signal</a:t>
            </a:r>
          </a:p>
          <a:p>
            <a:pPr>
              <a:lnSpc>
                <a:spcPct val="112000"/>
              </a:lnSpc>
              <a:spcAft>
                <a:spcPts val="0"/>
              </a:spcAft>
              <a:defRPr sz="1600" b="0">
                <a:solidFill>
                  <a:srgbClr val="EFF6FB"/>
                </a:solidFill>
                <a:latin typeface="DejaVu Sans"/>
              </a:defRPr>
            </a:pPr>
            <a:r>
              <a:t>strength alone is insufficient.</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09 / ANTENNA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Antenna: the bridge between RF and space</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Pattern, polarization and installation can matter as much as transmitter power</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27</a:t>
            </a:r>
          </a:p>
        </p:txBody>
      </p:sp>
      <p:sp>
        <p:nvSpPr>
          <p:cNvPr id="63" name="Rectangle 62"/>
          <p:cNvSpPr/>
          <p:nvPr/>
        </p:nvSpPr>
        <p:spPr>
          <a:xfrm>
            <a:off x="594360" y="2514600"/>
            <a:ext cx="3337560" cy="347472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V="1">
            <a:off x="2194560" y="3383280"/>
            <a:ext cx="0" cy="914400"/>
          </a:xfrm>
          <a:prstGeom prst="line">
            <a:avLst/>
          </a:prstGeom>
          <a:ln w="38100">
            <a:solidFill>
              <a:srgbClr val="4EDFE3"/>
            </a:solidFill>
          </a:ln>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1920240" y="3332988"/>
            <a:ext cx="548639" cy="832104"/>
          </a:xfrm>
          <a:custGeom>
            <a:avLst/>
            <a:gdLst/>
            <a:ahLst/>
            <a:cxnLst/>
            <a:rect l="l" t="t" r="r" b="b"/>
            <a:pathLst>
              <a:path w="548639" h="832104">
                <a:moveTo>
                  <a:pt x="0" y="416051"/>
                </a:moveTo>
                <a:lnTo>
                  <a:pt x="274320" y="0"/>
                </a:lnTo>
                <a:lnTo>
                  <a:pt x="548639" y="416051"/>
                </a:lnTo>
                <a:lnTo>
                  <a:pt x="274320" y="832104"/>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645919" y="3236976"/>
            <a:ext cx="1097281" cy="1024128"/>
          </a:xfrm>
          <a:custGeom>
            <a:avLst/>
            <a:gdLst/>
            <a:ahLst/>
            <a:cxnLst/>
            <a:rect l="l" t="t" r="r" b="b"/>
            <a:pathLst>
              <a:path w="1097281" h="1024128">
                <a:moveTo>
                  <a:pt x="0" y="512063"/>
                </a:moveTo>
                <a:lnTo>
                  <a:pt x="548641" y="0"/>
                </a:lnTo>
                <a:lnTo>
                  <a:pt x="1097281" y="512063"/>
                </a:lnTo>
                <a:lnTo>
                  <a:pt x="548641" y="1024128"/>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371600" y="3140964"/>
            <a:ext cx="1645920" cy="1216152"/>
          </a:xfrm>
          <a:custGeom>
            <a:avLst/>
            <a:gdLst/>
            <a:ahLst/>
            <a:cxnLst/>
            <a:rect l="l" t="t" r="r" b="b"/>
            <a:pathLst>
              <a:path w="1645920" h="1216152">
                <a:moveTo>
                  <a:pt x="0" y="608075"/>
                </a:moveTo>
                <a:lnTo>
                  <a:pt x="822960" y="0"/>
                </a:lnTo>
                <a:lnTo>
                  <a:pt x="1645920" y="608075"/>
                </a:lnTo>
                <a:lnTo>
                  <a:pt x="822960" y="1216152"/>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2743200"/>
            <a:ext cx="2971800" cy="45720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OMNIDIRECTIONAL</a:t>
            </a:r>
          </a:p>
        </p:txBody>
      </p:sp>
      <p:sp>
        <p:nvSpPr>
          <p:cNvPr id="69" name="TextBox 68"/>
          <p:cNvSpPr txBox="1"/>
          <p:nvPr/>
        </p:nvSpPr>
        <p:spPr>
          <a:xfrm>
            <a:off x="777240" y="4892040"/>
            <a:ext cx="2971800" cy="82296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Broad coverage</a:t>
            </a:r>
          </a:p>
          <a:p>
            <a:pPr>
              <a:lnSpc>
                <a:spcPct val="112000"/>
              </a:lnSpc>
              <a:spcAft>
                <a:spcPts val="0"/>
              </a:spcAft>
              <a:defRPr sz="1400" b="0">
                <a:solidFill>
                  <a:srgbClr val="EFF6FB"/>
                </a:solidFill>
                <a:latin typeface="DejaVu Sans"/>
              </a:defRPr>
            </a:pPr>
            <a:r>
              <a:t>Lower directional gain</a:t>
            </a:r>
          </a:p>
        </p:txBody>
      </p:sp>
      <p:sp>
        <p:nvSpPr>
          <p:cNvPr id="70" name="Rectangle 69"/>
          <p:cNvSpPr/>
          <p:nvPr/>
        </p:nvSpPr>
        <p:spPr>
          <a:xfrm>
            <a:off x="4434840" y="2514600"/>
            <a:ext cx="3337560" cy="347472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flipV="1">
            <a:off x="6035040" y="3383280"/>
            <a:ext cx="0" cy="914400"/>
          </a:xfrm>
          <a:prstGeom prst="line">
            <a:avLst/>
          </a:prstGeom>
          <a:ln w="38100">
            <a:solidFill>
              <a:srgbClr val="4EDFE3"/>
            </a:solidFill>
          </a:ln>
        </p:spPr>
        <p:style>
          <a:lnRef idx="2">
            <a:schemeClr val="accent1"/>
          </a:lnRef>
          <a:fillRef idx="0">
            <a:schemeClr val="accent1"/>
          </a:fillRef>
          <a:effectRef idx="1">
            <a:schemeClr val="accent1"/>
          </a:effectRef>
          <a:fontRef idx="minor">
            <a:schemeClr val="tx1"/>
          </a:fontRef>
        </p:style>
      </p:cxnSp>
      <p:sp>
        <p:nvSpPr>
          <p:cNvPr id="72" name="Freeform 71"/>
          <p:cNvSpPr/>
          <p:nvPr/>
        </p:nvSpPr>
        <p:spPr>
          <a:xfrm>
            <a:off x="6035040" y="3108960"/>
            <a:ext cx="1463039" cy="1280160"/>
          </a:xfrm>
          <a:custGeom>
            <a:avLst/>
            <a:gdLst/>
            <a:ahLst/>
            <a:cxnLst/>
            <a:rect l="l" t="t" r="r" b="b"/>
            <a:pathLst>
              <a:path w="1463039" h="1280160">
                <a:moveTo>
                  <a:pt x="0" y="640079"/>
                </a:moveTo>
                <a:lnTo>
                  <a:pt x="1463039" y="0"/>
                </a:lnTo>
                <a:lnTo>
                  <a:pt x="1463039" y="1280160"/>
                </a:lnTo>
                <a:close/>
              </a:path>
            </a:pathLst>
          </a:custGeom>
          <a:noFill/>
          <a:ln w="16510">
            <a:solidFill>
              <a:srgbClr val="F6B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17720" y="2743200"/>
            <a:ext cx="2971800" cy="45720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DIRECTIONAL</a:t>
            </a:r>
          </a:p>
        </p:txBody>
      </p:sp>
      <p:sp>
        <p:nvSpPr>
          <p:cNvPr id="74" name="TextBox 73"/>
          <p:cNvSpPr txBox="1"/>
          <p:nvPr/>
        </p:nvSpPr>
        <p:spPr>
          <a:xfrm>
            <a:off x="4617720" y="4892040"/>
            <a:ext cx="2971800" cy="82296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Concentrated beam</a:t>
            </a:r>
          </a:p>
          <a:p>
            <a:pPr>
              <a:lnSpc>
                <a:spcPct val="112000"/>
              </a:lnSpc>
              <a:spcAft>
                <a:spcPts val="0"/>
              </a:spcAft>
              <a:defRPr sz="1400" b="0">
                <a:solidFill>
                  <a:srgbClr val="EFF6FB"/>
                </a:solidFill>
                <a:latin typeface="DejaVu Sans"/>
              </a:defRPr>
            </a:pPr>
            <a:r>
              <a:t>Pointing / tracking needed</a:t>
            </a:r>
          </a:p>
        </p:txBody>
      </p:sp>
      <p:sp>
        <p:nvSpPr>
          <p:cNvPr id="75" name="Rectangle 74"/>
          <p:cNvSpPr/>
          <p:nvPr/>
        </p:nvSpPr>
        <p:spPr>
          <a:xfrm>
            <a:off x="8275320" y="2514600"/>
            <a:ext cx="3337560" cy="347472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flipV="1">
            <a:off x="9875520" y="3383280"/>
            <a:ext cx="0" cy="914400"/>
          </a:xfrm>
          <a:prstGeom prst="line">
            <a:avLst/>
          </a:prstGeom>
          <a:ln w="38100">
            <a:solidFill>
              <a:srgbClr val="4EDFE3"/>
            </a:solidFill>
          </a:ln>
        </p:spPr>
        <p:style>
          <a:lnRef idx="2">
            <a:schemeClr val="accent1"/>
          </a:lnRef>
          <a:fillRef idx="0">
            <a:schemeClr val="accent1"/>
          </a:fillRef>
          <a:effectRef idx="1">
            <a:schemeClr val="accent1"/>
          </a:effectRef>
          <a:fontRef idx="minor">
            <a:schemeClr val="tx1"/>
          </a:fontRef>
        </p:style>
      </p:cxnSp>
      <p:sp>
        <p:nvSpPr>
          <p:cNvPr id="77" name="Freeform 76"/>
          <p:cNvSpPr/>
          <p:nvPr/>
        </p:nvSpPr>
        <p:spPr>
          <a:xfrm>
            <a:off x="9601200" y="3332988"/>
            <a:ext cx="548640" cy="832104"/>
          </a:xfrm>
          <a:custGeom>
            <a:avLst/>
            <a:gdLst/>
            <a:ahLst/>
            <a:cxnLst/>
            <a:rect l="l" t="t" r="r" b="b"/>
            <a:pathLst>
              <a:path w="548640" h="832104">
                <a:moveTo>
                  <a:pt x="0" y="416051"/>
                </a:moveTo>
                <a:lnTo>
                  <a:pt x="274320" y="0"/>
                </a:lnTo>
                <a:lnTo>
                  <a:pt x="548640" y="416051"/>
                </a:lnTo>
                <a:lnTo>
                  <a:pt x="274320" y="832104"/>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326880" y="3236976"/>
            <a:ext cx="1097280" cy="1024128"/>
          </a:xfrm>
          <a:custGeom>
            <a:avLst/>
            <a:gdLst/>
            <a:ahLst/>
            <a:cxnLst/>
            <a:rect l="l" t="t" r="r" b="b"/>
            <a:pathLst>
              <a:path w="1097280" h="1024128">
                <a:moveTo>
                  <a:pt x="0" y="512063"/>
                </a:moveTo>
                <a:lnTo>
                  <a:pt x="548640" y="0"/>
                </a:lnTo>
                <a:lnTo>
                  <a:pt x="1097280" y="512063"/>
                </a:lnTo>
                <a:lnTo>
                  <a:pt x="548640" y="1024128"/>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9052560" y="3140964"/>
            <a:ext cx="1645920" cy="1216152"/>
          </a:xfrm>
          <a:custGeom>
            <a:avLst/>
            <a:gdLst/>
            <a:ahLst/>
            <a:cxnLst/>
            <a:rect l="l" t="t" r="r" b="b"/>
            <a:pathLst>
              <a:path w="1645920" h="1216152">
                <a:moveTo>
                  <a:pt x="0" y="608075"/>
                </a:moveTo>
                <a:lnTo>
                  <a:pt x="822960" y="0"/>
                </a:lnTo>
                <a:lnTo>
                  <a:pt x="1645920" y="608075"/>
                </a:lnTo>
                <a:lnTo>
                  <a:pt x="822960" y="1216152"/>
                </a:lnTo>
                <a:close/>
              </a:path>
            </a:pathLst>
          </a:custGeom>
          <a:noFill/>
          <a:ln w="1651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58200" y="2743200"/>
            <a:ext cx="2971800" cy="457200"/>
          </a:xfrm>
          <a:prstGeom prst="rect">
            <a:avLst/>
          </a:prstGeom>
          <a:noFill/>
        </p:spPr>
        <p:txBody>
          <a:bodyPr wrap="square" lIns="0" rIns="0" tIns="0" bIns="0">
            <a:spAutoFit/>
          </a:bodyPr>
          <a:lstStyle/>
          <a:p>
            <a:pPr>
              <a:lnSpc>
                <a:spcPct val="112000"/>
              </a:lnSpc>
              <a:spcAft>
                <a:spcPts val="0"/>
              </a:spcAft>
              <a:defRPr sz="1600" b="1">
                <a:solidFill>
                  <a:srgbClr val="4EDFE3"/>
                </a:solidFill>
                <a:latin typeface="DejaVu Sans"/>
              </a:defRPr>
            </a:pPr>
            <a:r>
              <a:t>DIVERSITY</a:t>
            </a:r>
          </a:p>
        </p:txBody>
      </p:sp>
      <p:sp>
        <p:nvSpPr>
          <p:cNvPr id="81" name="TextBox 80"/>
          <p:cNvSpPr txBox="1"/>
          <p:nvPr/>
        </p:nvSpPr>
        <p:spPr>
          <a:xfrm>
            <a:off x="8458200" y="4892040"/>
            <a:ext cx="2971800" cy="82296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Multiple placements</a:t>
            </a:r>
          </a:p>
          <a:p>
            <a:pPr>
              <a:lnSpc>
                <a:spcPct val="112000"/>
              </a:lnSpc>
              <a:spcAft>
                <a:spcPts val="0"/>
              </a:spcAft>
              <a:defRPr sz="1400" b="0">
                <a:solidFill>
                  <a:srgbClr val="EFF6FB"/>
                </a:solidFill>
                <a:latin typeface="DejaVu Sans"/>
              </a:defRPr>
            </a:pPr>
            <a:r>
              <a:t>Reduce some shadowing effects</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09 / ANTENNA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Antenna integration: placement is a system</a:t>
            </a:r>
          </a:p>
          <a:p>
            <a:pPr>
              <a:lnSpc>
                <a:spcPct val="112000"/>
              </a:lnSpc>
              <a:spcAft>
                <a:spcPts val="0"/>
              </a:spcAft>
              <a:defRPr sz="3000" b="1">
                <a:solidFill>
                  <a:srgbClr val="EFF6FB"/>
                </a:solidFill>
                <a:latin typeface="DejaVu Sans"/>
              </a:defRPr>
            </a:pPr>
            <a:r>
              <a:t>decision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28</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Aircraft installation</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Clearance from conductive</a:t>
            </a:r>
          </a:p>
          <a:p>
            <a:pPr>
              <a:lnSpc>
                <a:spcPct val="112000"/>
              </a:lnSpc>
              <a:spcAft>
                <a:spcPts val="0"/>
              </a:spcAft>
              <a:defRPr sz="1600" b="0">
                <a:solidFill>
                  <a:srgbClr val="EFF6FB"/>
                </a:solidFill>
                <a:latin typeface="DejaVu Sans"/>
              </a:defRPr>
            </a:pPr>
            <a:r>
              <a:t>structures; assessed radiation</a:t>
            </a:r>
          </a:p>
          <a:p>
            <a:pPr>
              <a:lnSpc>
                <a:spcPct val="112000"/>
              </a:lnSpc>
              <a:spcAft>
                <a:spcPts val="0"/>
              </a:spcAft>
              <a:defRPr sz="1600" b="0">
                <a:solidFill>
                  <a:srgbClr val="EFF6FB"/>
                </a:solidFill>
                <a:latin typeface="DejaVu Sans"/>
              </a:defRPr>
            </a:pPr>
            <a:r>
              <a:t>patterns; protection against</a:t>
            </a:r>
          </a:p>
          <a:p>
            <a:pPr>
              <a:lnSpc>
                <a:spcPct val="112000"/>
              </a:lnSpc>
              <a:spcAft>
                <a:spcPts val="0"/>
              </a:spcAft>
              <a:defRPr sz="1600" b="0">
                <a:solidFill>
                  <a:srgbClr val="EFF6FB"/>
                </a:solidFill>
                <a:latin typeface="DejaVu Sans"/>
              </a:defRPr>
            </a:pPr>
            <a:r>
              <a:t>vibration and weather.</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Coexistence</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Separate sensitive receivers</a:t>
            </a:r>
          </a:p>
          <a:p>
            <a:pPr>
              <a:lnSpc>
                <a:spcPct val="112000"/>
              </a:lnSpc>
              <a:spcAft>
                <a:spcPts val="0"/>
              </a:spcAft>
              <a:defRPr sz="1600" b="0">
                <a:solidFill>
                  <a:srgbClr val="EFF6FB"/>
                </a:solidFill>
                <a:latin typeface="DejaVu Sans"/>
              </a:defRPr>
            </a:pPr>
            <a:r>
              <a:t>from noisy electronics and</a:t>
            </a:r>
          </a:p>
          <a:p>
            <a:pPr>
              <a:lnSpc>
                <a:spcPct val="112000"/>
              </a:lnSpc>
              <a:spcAft>
                <a:spcPts val="0"/>
              </a:spcAft>
              <a:defRPr sz="1600" b="0">
                <a:solidFill>
                  <a:srgbClr val="EFF6FB"/>
                </a:solidFill>
                <a:latin typeface="DejaVu Sans"/>
              </a:defRPr>
            </a:pPr>
            <a:r>
              <a:t>transmitters. Assess filters,</a:t>
            </a:r>
          </a:p>
          <a:p>
            <a:pPr>
              <a:lnSpc>
                <a:spcPct val="112000"/>
              </a:lnSpc>
              <a:spcAft>
                <a:spcPts val="0"/>
              </a:spcAft>
              <a:defRPr sz="1600" b="0">
                <a:solidFill>
                  <a:srgbClr val="EFF6FB"/>
                </a:solidFill>
                <a:latin typeface="DejaVu Sans"/>
              </a:defRPr>
            </a:pPr>
            <a:r>
              <a:t>cable shielding and grounding.</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Ground installation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Good siting, verified pointing,</a:t>
            </a:r>
          </a:p>
          <a:p>
            <a:pPr>
              <a:lnSpc>
                <a:spcPct val="112000"/>
              </a:lnSpc>
              <a:spcAft>
                <a:spcPts val="0"/>
              </a:spcAft>
              <a:defRPr sz="1600" b="0">
                <a:solidFill>
                  <a:srgbClr val="EFF6FB"/>
                </a:solidFill>
                <a:latin typeface="DejaVu Sans"/>
              </a:defRPr>
            </a:pPr>
            <a:r>
              <a:t>sound cables and safe mast</a:t>
            </a:r>
          </a:p>
          <a:p>
            <a:pPr>
              <a:lnSpc>
                <a:spcPct val="112000"/>
              </a:lnSpc>
              <a:spcAft>
                <a:spcPts val="0"/>
              </a:spcAft>
              <a:defRPr sz="1600" b="0">
                <a:solidFill>
                  <a:srgbClr val="EFF6FB"/>
                </a:solidFill>
                <a:latin typeface="DejaVu Sans"/>
              </a:defRPr>
            </a:pPr>
            <a:r>
              <a:t>procedures. Keep the path</a:t>
            </a:r>
          </a:p>
          <a:p>
            <a:pPr>
              <a:lnSpc>
                <a:spcPct val="112000"/>
              </a:lnSpc>
              <a:spcAft>
                <a:spcPts val="0"/>
              </a:spcAft>
              <a:defRPr sz="1600" b="0">
                <a:solidFill>
                  <a:srgbClr val="EFF6FB"/>
                </a:solidFill>
                <a:latin typeface="DejaVu Sans"/>
              </a:defRPr>
            </a:pPr>
            <a:r>
              <a:t>clear of obstructions.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10 / FLIGHT CONTROL COMPUTER</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Flight control computer: the onboard control loop</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Sense → estimate → decide → command → verify</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29</a:t>
            </a:r>
          </a:p>
        </p:txBody>
      </p:sp>
      <p:sp>
        <p:nvSpPr>
          <p:cNvPr id="63" name="Rectangle 62"/>
          <p:cNvSpPr/>
          <p:nvPr/>
        </p:nvSpPr>
        <p:spPr>
          <a:xfrm>
            <a:off x="594360" y="2743200"/>
            <a:ext cx="1874519"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04088" y="2852928"/>
            <a:ext cx="16550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SENSORS</a:t>
            </a:r>
          </a:p>
        </p:txBody>
      </p:sp>
      <p:sp>
        <p:nvSpPr>
          <p:cNvPr id="65" name="TextBox 64"/>
          <p:cNvSpPr txBox="1"/>
          <p:nvPr/>
        </p:nvSpPr>
        <p:spPr>
          <a:xfrm>
            <a:off x="704088" y="3456432"/>
            <a:ext cx="16550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IMU • GNSS</a:t>
            </a:r>
          </a:p>
          <a:p>
            <a:pPr>
              <a:lnSpc>
                <a:spcPct val="112000"/>
              </a:lnSpc>
              <a:spcAft>
                <a:spcPts val="0"/>
              </a:spcAft>
              <a:defRPr sz="1200" b="0">
                <a:solidFill>
                  <a:srgbClr val="EFF6FB"/>
                </a:solidFill>
                <a:latin typeface="DejaVu Sans"/>
              </a:defRPr>
            </a:pPr>
            <a:r>
              <a:t>Air data</a:t>
            </a:r>
          </a:p>
        </p:txBody>
      </p:sp>
      <p:sp>
        <p:nvSpPr>
          <p:cNvPr id="66" name="Rectangle 65"/>
          <p:cNvSpPr/>
          <p:nvPr/>
        </p:nvSpPr>
        <p:spPr>
          <a:xfrm>
            <a:off x="2880360" y="2743200"/>
            <a:ext cx="1874519"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990088" y="2852928"/>
            <a:ext cx="16550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ESTIMATOR</a:t>
            </a:r>
          </a:p>
        </p:txBody>
      </p:sp>
      <p:sp>
        <p:nvSpPr>
          <p:cNvPr id="68" name="TextBox 67"/>
          <p:cNvSpPr txBox="1"/>
          <p:nvPr/>
        </p:nvSpPr>
        <p:spPr>
          <a:xfrm>
            <a:off x="2990088" y="3456432"/>
            <a:ext cx="16550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Attitude</a:t>
            </a:r>
          </a:p>
          <a:p>
            <a:pPr>
              <a:lnSpc>
                <a:spcPct val="112000"/>
              </a:lnSpc>
              <a:spcAft>
                <a:spcPts val="0"/>
              </a:spcAft>
              <a:defRPr sz="1200" b="0">
                <a:solidFill>
                  <a:srgbClr val="EFF6FB"/>
                </a:solidFill>
                <a:latin typeface="DejaVu Sans"/>
              </a:defRPr>
            </a:pPr>
            <a:r>
              <a:t>Position • velocity</a:t>
            </a:r>
          </a:p>
        </p:txBody>
      </p:sp>
      <p:sp>
        <p:nvSpPr>
          <p:cNvPr id="69" name="Rectangle 68"/>
          <p:cNvSpPr/>
          <p:nvPr/>
        </p:nvSpPr>
        <p:spPr>
          <a:xfrm>
            <a:off x="5166360" y="2743200"/>
            <a:ext cx="1874519"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276088" y="2852928"/>
            <a:ext cx="16550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GUIDANCE</a:t>
            </a:r>
          </a:p>
        </p:txBody>
      </p:sp>
      <p:sp>
        <p:nvSpPr>
          <p:cNvPr id="71" name="TextBox 70"/>
          <p:cNvSpPr txBox="1"/>
          <p:nvPr/>
        </p:nvSpPr>
        <p:spPr>
          <a:xfrm>
            <a:off x="5276088" y="3456432"/>
            <a:ext cx="16550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Path • setpoints</a:t>
            </a:r>
          </a:p>
          <a:p>
            <a:pPr>
              <a:lnSpc>
                <a:spcPct val="112000"/>
              </a:lnSpc>
              <a:spcAft>
                <a:spcPts val="0"/>
              </a:spcAft>
              <a:defRPr sz="1200" b="0">
                <a:solidFill>
                  <a:srgbClr val="EFF6FB"/>
                </a:solidFill>
                <a:latin typeface="DejaVu Sans"/>
              </a:defRPr>
            </a:pPr>
            <a:r>
              <a:t>Mode logic</a:t>
            </a:r>
          </a:p>
        </p:txBody>
      </p:sp>
      <p:sp>
        <p:nvSpPr>
          <p:cNvPr id="72" name="Rectangle 71"/>
          <p:cNvSpPr/>
          <p:nvPr/>
        </p:nvSpPr>
        <p:spPr>
          <a:xfrm>
            <a:off x="7452360" y="2743200"/>
            <a:ext cx="1874519"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62088" y="2852928"/>
            <a:ext cx="16550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CONTROL</a:t>
            </a:r>
          </a:p>
        </p:txBody>
      </p:sp>
      <p:sp>
        <p:nvSpPr>
          <p:cNvPr id="74" name="TextBox 73"/>
          <p:cNvSpPr txBox="1"/>
          <p:nvPr/>
        </p:nvSpPr>
        <p:spPr>
          <a:xfrm>
            <a:off x="7562088" y="3456432"/>
            <a:ext cx="16550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Feedback laws</a:t>
            </a:r>
          </a:p>
          <a:p>
            <a:pPr>
              <a:lnSpc>
                <a:spcPct val="112000"/>
              </a:lnSpc>
              <a:spcAft>
                <a:spcPts val="0"/>
              </a:spcAft>
              <a:defRPr sz="1200" b="0">
                <a:solidFill>
                  <a:srgbClr val="EFF6FB"/>
                </a:solidFill>
                <a:latin typeface="DejaVu Sans"/>
              </a:defRPr>
            </a:pPr>
            <a:r>
              <a:t>Limit handling</a:t>
            </a:r>
          </a:p>
        </p:txBody>
      </p:sp>
      <p:sp>
        <p:nvSpPr>
          <p:cNvPr id="75" name="Rectangle 74"/>
          <p:cNvSpPr/>
          <p:nvPr/>
        </p:nvSpPr>
        <p:spPr>
          <a:xfrm>
            <a:off x="9738360" y="2743200"/>
            <a:ext cx="1874519"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848088" y="2852928"/>
            <a:ext cx="16550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ACTUATORS</a:t>
            </a:r>
          </a:p>
        </p:txBody>
      </p:sp>
      <p:sp>
        <p:nvSpPr>
          <p:cNvPr id="77" name="TextBox 76"/>
          <p:cNvSpPr txBox="1"/>
          <p:nvPr/>
        </p:nvSpPr>
        <p:spPr>
          <a:xfrm>
            <a:off x="9848088" y="3456432"/>
            <a:ext cx="1655063"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Servos / motors</a:t>
            </a:r>
          </a:p>
          <a:p>
            <a:pPr>
              <a:lnSpc>
                <a:spcPct val="112000"/>
              </a:lnSpc>
              <a:spcAft>
                <a:spcPts val="0"/>
              </a:spcAft>
              <a:defRPr sz="1200" b="0">
                <a:solidFill>
                  <a:srgbClr val="EFF6FB"/>
                </a:solidFill>
                <a:latin typeface="DejaVu Sans"/>
              </a:defRPr>
            </a:pPr>
            <a:r>
              <a:t>Aircraft response</a:t>
            </a:r>
          </a:p>
        </p:txBody>
      </p:sp>
      <p:cxnSp>
        <p:nvCxnSpPr>
          <p:cNvPr id="78" name="Connector 77"/>
          <p:cNvCxnSpPr/>
          <p:nvPr/>
        </p:nvCxnSpPr>
        <p:spPr>
          <a:xfrm>
            <a:off x="2468880" y="3749039"/>
            <a:ext cx="41148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754880" y="3749039"/>
            <a:ext cx="41148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040880" y="3749039"/>
            <a:ext cx="411480"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326880" y="3749039"/>
            <a:ext cx="411479" cy="0"/>
          </a:xfrm>
          <a:prstGeom prst="line">
            <a:avLst/>
          </a:prstGeom>
          <a:ln w="25400">
            <a:solidFill>
              <a:srgbClr val="F6B75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652760" y="5029200"/>
            <a:ext cx="0" cy="54864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463040" y="5577840"/>
            <a:ext cx="9189720" cy="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463040" y="5029200"/>
            <a:ext cx="0" cy="548640"/>
          </a:xfrm>
          <a:prstGeom prst="line">
            <a:avLst/>
          </a:prstGeom>
          <a:ln w="12700">
            <a:solidFill>
              <a:srgbClr val="4EDFE3"/>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703320" y="5715000"/>
            <a:ext cx="5943600" cy="365760"/>
          </a:xfrm>
          <a:prstGeom prst="rect">
            <a:avLst/>
          </a:prstGeom>
          <a:noFill/>
        </p:spPr>
        <p:txBody>
          <a:bodyPr wrap="square" lIns="0" rIns="0" tIns="0" bIns="0">
            <a:spAutoFit/>
          </a:bodyPr>
          <a:lstStyle/>
          <a:p>
            <a:pPr>
              <a:lnSpc>
                <a:spcPct val="112000"/>
              </a:lnSpc>
              <a:spcAft>
                <a:spcPts val="0"/>
              </a:spcAft>
              <a:defRPr sz="1400" b="0">
                <a:solidFill>
                  <a:srgbClr val="4EDFE3"/>
                </a:solidFill>
                <a:latin typeface="DejaVu Sans"/>
              </a:defRPr>
            </a:pPr>
            <a:r>
              <a:t>FEEDBACK: measurements close the loop</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10 / FLIGHT CONTROL COMPUTER</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Navigation: no single sensor tells the whole story</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30</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IMU</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Gyroscopes and</a:t>
            </a:r>
          </a:p>
          <a:p>
            <a:pPr>
              <a:lnSpc>
                <a:spcPct val="112000"/>
              </a:lnSpc>
              <a:spcAft>
                <a:spcPts val="0"/>
              </a:spcAft>
              <a:defRPr sz="1600" b="0">
                <a:solidFill>
                  <a:srgbClr val="EFF6FB"/>
                </a:solidFill>
                <a:latin typeface="DejaVu Sans"/>
              </a:defRPr>
            </a:pPr>
            <a:r>
              <a:t>accelerometers support fast</a:t>
            </a:r>
          </a:p>
          <a:p>
            <a:pPr>
              <a:lnSpc>
                <a:spcPct val="112000"/>
              </a:lnSpc>
              <a:spcAft>
                <a:spcPts val="0"/>
              </a:spcAft>
              <a:defRPr sz="1600" b="0">
                <a:solidFill>
                  <a:srgbClr val="EFF6FB"/>
                </a:solidFill>
                <a:latin typeface="DejaVu Sans"/>
              </a:defRPr>
            </a:pPr>
            <a:r>
              <a:t>motion estimation. Biases and</a:t>
            </a:r>
          </a:p>
          <a:p>
            <a:pPr>
              <a:lnSpc>
                <a:spcPct val="112000"/>
              </a:lnSpc>
              <a:spcAft>
                <a:spcPts val="0"/>
              </a:spcAft>
              <a:defRPr sz="1600" b="0">
                <a:solidFill>
                  <a:srgbClr val="EFF6FB"/>
                </a:solidFill>
                <a:latin typeface="DejaVu Sans"/>
              </a:defRPr>
            </a:pPr>
            <a:r>
              <a:t>drift accumulate.</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GNSS + air data</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GNSS supports absolute</a:t>
            </a:r>
          </a:p>
          <a:p>
            <a:pPr>
              <a:lnSpc>
                <a:spcPct val="112000"/>
              </a:lnSpc>
              <a:spcAft>
                <a:spcPts val="0"/>
              </a:spcAft>
              <a:defRPr sz="1600" b="0">
                <a:solidFill>
                  <a:srgbClr val="EFF6FB"/>
                </a:solidFill>
                <a:latin typeface="DejaVu Sans"/>
              </a:defRPr>
            </a:pPr>
            <a:r>
              <a:t>position / velocity. Airspeed</a:t>
            </a:r>
          </a:p>
          <a:p>
            <a:pPr>
              <a:lnSpc>
                <a:spcPct val="112000"/>
              </a:lnSpc>
              <a:spcAft>
                <a:spcPts val="0"/>
              </a:spcAft>
              <a:defRPr sz="1600" b="0">
                <a:solidFill>
                  <a:srgbClr val="EFF6FB"/>
                </a:solidFill>
                <a:latin typeface="DejaVu Sans"/>
              </a:defRPr>
            </a:pPr>
            <a:r>
              <a:t>and pressure aid</a:t>
            </a:r>
          </a:p>
          <a:p>
            <a:pPr>
              <a:lnSpc>
                <a:spcPct val="112000"/>
              </a:lnSpc>
              <a:spcAft>
                <a:spcPts val="0"/>
              </a:spcAft>
              <a:defRPr sz="1600" b="0">
                <a:solidFill>
                  <a:srgbClr val="EFF6FB"/>
                </a:solidFill>
                <a:latin typeface="DejaVu Sans"/>
              </a:defRPr>
            </a:pPr>
            <a:r>
              <a:t>aerodynamic-state awareness.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Sensor fusion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Combine complementary</a:t>
            </a:r>
          </a:p>
          <a:p>
            <a:pPr>
              <a:lnSpc>
                <a:spcPct val="112000"/>
              </a:lnSpc>
              <a:spcAft>
                <a:spcPts val="0"/>
              </a:spcAft>
              <a:defRPr sz="1600" b="0">
                <a:solidFill>
                  <a:srgbClr val="EFF6FB"/>
                </a:solidFill>
                <a:latin typeface="DejaVu Sans"/>
              </a:defRPr>
            </a:pPr>
            <a:r>
              <a:t>measurements; check</a:t>
            </a:r>
          </a:p>
          <a:p>
            <a:pPr>
              <a:lnSpc>
                <a:spcPct val="112000"/>
              </a:lnSpc>
              <a:spcAft>
                <a:spcPts val="0"/>
              </a:spcAft>
              <a:defRPr sz="1600" b="0">
                <a:solidFill>
                  <a:srgbClr val="EFF6FB"/>
                </a:solidFill>
                <a:latin typeface="DejaVu Sans"/>
              </a:defRPr>
            </a:pPr>
            <a:r>
              <a:t>consistency, timing and</a:t>
            </a:r>
          </a:p>
          <a:p>
            <a:pPr>
              <a:lnSpc>
                <a:spcPct val="112000"/>
              </a:lnSpc>
              <a:spcAft>
                <a:spcPts val="0"/>
              </a:spcAft>
              <a:defRPr sz="1600" b="0">
                <a:solidFill>
                  <a:srgbClr val="EFF6FB"/>
                </a:solidFill>
                <a:latin typeface="DejaVu Sans"/>
              </a:defRPr>
            </a:pPr>
            <a:r>
              <a:t>degraded-sensor behaviour.</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10 / FLIGHT CONTROL COMPUTER</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Modes, redundancy and graceful degradation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31</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Mode management</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Manual / assisted / automatic</a:t>
            </a:r>
          </a:p>
          <a:p>
            <a:pPr>
              <a:lnSpc>
                <a:spcPct val="112000"/>
              </a:lnSpc>
              <a:spcAft>
                <a:spcPts val="0"/>
              </a:spcAft>
              <a:defRPr sz="1600" b="0">
                <a:solidFill>
                  <a:srgbClr val="EFF6FB"/>
                </a:solidFill>
                <a:latin typeface="DejaVu Sans"/>
              </a:defRPr>
            </a:pPr>
            <a:r>
              <a:t>modes need clear authority,</a:t>
            </a:r>
          </a:p>
          <a:p>
            <a:pPr>
              <a:lnSpc>
                <a:spcPct val="112000"/>
              </a:lnSpc>
              <a:spcAft>
                <a:spcPts val="0"/>
              </a:spcAft>
              <a:defRPr sz="1600" b="0">
                <a:solidFill>
                  <a:srgbClr val="EFF6FB"/>
                </a:solidFill>
                <a:latin typeface="DejaVu Sans"/>
              </a:defRPr>
            </a:pPr>
            <a:r>
              <a:t>guarded transitions and visible</a:t>
            </a:r>
          </a:p>
          <a:p>
            <a:pPr>
              <a:lnSpc>
                <a:spcPct val="112000"/>
              </a:lnSpc>
              <a:spcAft>
                <a:spcPts val="0"/>
              </a:spcAft>
              <a:defRPr sz="1600" b="0">
                <a:solidFill>
                  <a:srgbClr val="EFF6FB"/>
                </a:solidFill>
                <a:latin typeface="DejaVu Sans"/>
              </a:defRPr>
            </a:pPr>
            <a:r>
              <a:t>status.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Fault tolerance</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Redundant channels,</a:t>
            </a:r>
          </a:p>
          <a:p>
            <a:pPr>
              <a:lnSpc>
                <a:spcPct val="112000"/>
              </a:lnSpc>
              <a:spcAft>
                <a:spcPts val="0"/>
              </a:spcAft>
              <a:defRPr sz="1600" b="0">
                <a:solidFill>
                  <a:srgbClr val="EFF6FB"/>
                </a:solidFill>
                <a:latin typeface="DejaVu Sans"/>
              </a:defRPr>
            </a:pPr>
            <a:r>
              <a:t>watchdogs and health</a:t>
            </a:r>
          </a:p>
          <a:p>
            <a:pPr>
              <a:lnSpc>
                <a:spcPct val="112000"/>
              </a:lnSpc>
              <a:spcAft>
                <a:spcPts val="0"/>
              </a:spcAft>
              <a:defRPr sz="1600" b="0">
                <a:solidFill>
                  <a:srgbClr val="EFF6FB"/>
                </a:solidFill>
                <a:latin typeface="DejaVu Sans"/>
              </a:defRPr>
            </a:pPr>
            <a:r>
              <a:t>monitoring help when</a:t>
            </a:r>
          </a:p>
          <a:p>
            <a:pPr>
              <a:lnSpc>
                <a:spcPct val="112000"/>
              </a:lnSpc>
              <a:spcAft>
                <a:spcPts val="0"/>
              </a:spcAft>
              <a:defRPr sz="1600" b="0">
                <a:solidFill>
                  <a:srgbClr val="EFF6FB"/>
                </a:solidFill>
                <a:latin typeface="DejaVu Sans"/>
              </a:defRPr>
            </a:pPr>
            <a:r>
              <a:t>independent failure paths are</a:t>
            </a:r>
          </a:p>
          <a:p>
            <a:pPr>
              <a:lnSpc>
                <a:spcPct val="112000"/>
              </a:lnSpc>
              <a:spcAft>
                <a:spcPts val="0"/>
              </a:spcAft>
              <a:defRPr sz="1600" b="0">
                <a:solidFill>
                  <a:srgbClr val="EFF6FB"/>
                </a:solidFill>
                <a:latin typeface="DejaVu Sans"/>
              </a:defRPr>
            </a:pPr>
            <a:r>
              <a:t>assessed.</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Lost-link response</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Aircraft-approved hold, return,</a:t>
            </a:r>
          </a:p>
          <a:p>
            <a:pPr>
              <a:lnSpc>
                <a:spcPct val="112000"/>
              </a:lnSpc>
              <a:spcAft>
                <a:spcPts val="0"/>
              </a:spcAft>
              <a:defRPr sz="1600" b="0">
                <a:solidFill>
                  <a:srgbClr val="EFF6FB"/>
                </a:solidFill>
                <a:latin typeface="DejaVu Sans"/>
              </a:defRPr>
            </a:pPr>
            <a:r>
              <a:t>alternate or landing logic</a:t>
            </a:r>
          </a:p>
          <a:p>
            <a:pPr>
              <a:lnSpc>
                <a:spcPct val="112000"/>
              </a:lnSpc>
              <a:spcAft>
                <a:spcPts val="0"/>
              </a:spcAft>
              <a:defRPr sz="1600" b="0">
                <a:solidFill>
                  <a:srgbClr val="EFF6FB"/>
                </a:solidFill>
                <a:latin typeface="DejaVu Sans"/>
              </a:defRPr>
            </a:pPr>
            <a:r>
              <a:t>depends on context, energy,</a:t>
            </a:r>
          </a:p>
          <a:p>
            <a:pPr>
              <a:lnSpc>
                <a:spcPct val="112000"/>
              </a:lnSpc>
              <a:spcAft>
                <a:spcPts val="0"/>
              </a:spcAft>
              <a:defRPr sz="1600" b="0">
                <a:solidFill>
                  <a:srgbClr val="EFF6FB"/>
                </a:solidFill>
                <a:latin typeface="DejaVu Sans"/>
              </a:defRPr>
            </a:pPr>
            <a:r>
              <a:t>weather and airspace.</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11 / LRUS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Important LRUs: the replaceable building blocks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LRU = line-replaceable unit • maintainability boundary depends on the aircraft design</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32</a:t>
            </a:r>
          </a:p>
        </p:txBody>
      </p:sp>
      <p:sp>
        <p:nvSpPr>
          <p:cNvPr id="63" name="Rectangle 62"/>
          <p:cNvSpPr/>
          <p:nvPr/>
        </p:nvSpPr>
        <p:spPr>
          <a:xfrm>
            <a:off x="594360" y="2487168"/>
            <a:ext cx="10972800" cy="48463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77240" y="2569464"/>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FCC / autopilot</a:t>
            </a:r>
          </a:p>
        </p:txBody>
      </p:sp>
      <p:sp>
        <p:nvSpPr>
          <p:cNvPr id="65" name="TextBox 64"/>
          <p:cNvSpPr txBox="1"/>
          <p:nvPr/>
        </p:nvSpPr>
        <p:spPr>
          <a:xfrm>
            <a:off x="3566160" y="2569464"/>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Stabilization, guidance and flight modes</a:t>
            </a:r>
          </a:p>
        </p:txBody>
      </p:sp>
      <p:sp>
        <p:nvSpPr>
          <p:cNvPr id="66" name="TextBox 65"/>
          <p:cNvSpPr txBox="1"/>
          <p:nvPr/>
        </p:nvSpPr>
        <p:spPr>
          <a:xfrm>
            <a:off x="7543800" y="2569464"/>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Control continuity; software configuration</a:t>
            </a:r>
          </a:p>
        </p:txBody>
      </p:sp>
      <p:sp>
        <p:nvSpPr>
          <p:cNvPr id="67" name="Rectangle 66"/>
          <p:cNvSpPr/>
          <p:nvPr/>
        </p:nvSpPr>
        <p:spPr>
          <a:xfrm>
            <a:off x="594360" y="3017520"/>
            <a:ext cx="10972800" cy="484632"/>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3099816"/>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INS / GNSS / air data</a:t>
            </a:r>
          </a:p>
        </p:txBody>
      </p:sp>
      <p:sp>
        <p:nvSpPr>
          <p:cNvPr id="69" name="TextBox 68"/>
          <p:cNvSpPr txBox="1"/>
          <p:nvPr/>
        </p:nvSpPr>
        <p:spPr>
          <a:xfrm>
            <a:off x="3566160" y="3099816"/>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Navigation and measured flight state</a:t>
            </a:r>
          </a:p>
        </p:txBody>
      </p:sp>
      <p:sp>
        <p:nvSpPr>
          <p:cNvPr id="70" name="TextBox 69"/>
          <p:cNvSpPr txBox="1"/>
          <p:nvPr/>
        </p:nvSpPr>
        <p:spPr>
          <a:xfrm>
            <a:off x="7543800" y="3099816"/>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Calibration; alignment; time synchronization</a:t>
            </a:r>
          </a:p>
        </p:txBody>
      </p:sp>
      <p:sp>
        <p:nvSpPr>
          <p:cNvPr id="71" name="Rectangle 70"/>
          <p:cNvSpPr/>
          <p:nvPr/>
        </p:nvSpPr>
        <p:spPr>
          <a:xfrm>
            <a:off x="594360" y="3547872"/>
            <a:ext cx="10972800" cy="48463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77240" y="3630168"/>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Radio / modem</a:t>
            </a:r>
          </a:p>
        </p:txBody>
      </p:sp>
      <p:sp>
        <p:nvSpPr>
          <p:cNvPr id="73" name="TextBox 72"/>
          <p:cNvSpPr txBox="1"/>
          <p:nvPr/>
        </p:nvSpPr>
        <p:spPr>
          <a:xfrm>
            <a:off x="3566160" y="3630168"/>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Command, telemetry and payload transport</a:t>
            </a:r>
          </a:p>
        </p:txBody>
      </p:sp>
      <p:sp>
        <p:nvSpPr>
          <p:cNvPr id="74" name="TextBox 73"/>
          <p:cNvSpPr txBox="1"/>
          <p:nvPr/>
        </p:nvSpPr>
        <p:spPr>
          <a:xfrm>
            <a:off x="7543800" y="3630168"/>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Link integrity; interface compatibility</a:t>
            </a:r>
          </a:p>
        </p:txBody>
      </p:sp>
      <p:sp>
        <p:nvSpPr>
          <p:cNvPr id="75" name="Rectangle 74"/>
          <p:cNvSpPr/>
          <p:nvPr/>
        </p:nvSpPr>
        <p:spPr>
          <a:xfrm>
            <a:off x="594360" y="4078224"/>
            <a:ext cx="10972800" cy="484632"/>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7240" y="4160520"/>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Power distribution unit</a:t>
            </a:r>
          </a:p>
        </p:txBody>
      </p:sp>
      <p:sp>
        <p:nvSpPr>
          <p:cNvPr id="77" name="TextBox 76"/>
          <p:cNvSpPr txBox="1"/>
          <p:nvPr/>
        </p:nvSpPr>
        <p:spPr>
          <a:xfrm>
            <a:off x="3566160" y="4160520"/>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Protected and monitored electrical supply</a:t>
            </a:r>
          </a:p>
        </p:txBody>
      </p:sp>
      <p:sp>
        <p:nvSpPr>
          <p:cNvPr id="78" name="TextBox 77"/>
          <p:cNvSpPr txBox="1"/>
          <p:nvPr/>
        </p:nvSpPr>
        <p:spPr>
          <a:xfrm>
            <a:off x="7543800" y="4160520"/>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Essential bus continuity; fault isolation</a:t>
            </a:r>
          </a:p>
        </p:txBody>
      </p:sp>
      <p:sp>
        <p:nvSpPr>
          <p:cNvPr id="79" name="Rectangle 78"/>
          <p:cNvSpPr/>
          <p:nvPr/>
        </p:nvSpPr>
        <p:spPr>
          <a:xfrm>
            <a:off x="594360" y="4608576"/>
            <a:ext cx="10972800" cy="484632"/>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4690872"/>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ECU / ESC</a:t>
            </a:r>
          </a:p>
        </p:txBody>
      </p:sp>
      <p:sp>
        <p:nvSpPr>
          <p:cNvPr id="81" name="TextBox 80"/>
          <p:cNvSpPr txBox="1"/>
          <p:nvPr/>
        </p:nvSpPr>
        <p:spPr>
          <a:xfrm>
            <a:off x="3566160" y="4690872"/>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Engine or motor control and monitoring</a:t>
            </a:r>
          </a:p>
        </p:txBody>
      </p:sp>
      <p:sp>
        <p:nvSpPr>
          <p:cNvPr id="82" name="TextBox 81"/>
          <p:cNvSpPr txBox="1"/>
          <p:nvPr/>
        </p:nvSpPr>
        <p:spPr>
          <a:xfrm>
            <a:off x="7543800" y="4690872"/>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Propulsion limits; thermal condition</a:t>
            </a:r>
          </a:p>
        </p:txBody>
      </p:sp>
      <p:sp>
        <p:nvSpPr>
          <p:cNvPr id="83" name="Rectangle 82"/>
          <p:cNvSpPr/>
          <p:nvPr/>
        </p:nvSpPr>
        <p:spPr>
          <a:xfrm>
            <a:off x="594360" y="5138928"/>
            <a:ext cx="10972800" cy="484632"/>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77240" y="5221224"/>
            <a:ext cx="2606040" cy="320040"/>
          </a:xfrm>
          <a:prstGeom prst="rect">
            <a:avLst/>
          </a:prstGeom>
          <a:noFill/>
        </p:spPr>
        <p:txBody>
          <a:bodyPr wrap="square" lIns="0" rIns="0" tIns="0" bIns="0">
            <a:spAutoFit/>
          </a:bodyPr>
          <a:lstStyle/>
          <a:p>
            <a:pPr>
              <a:lnSpc>
                <a:spcPct val="112000"/>
              </a:lnSpc>
              <a:spcAft>
                <a:spcPts val="0"/>
              </a:spcAft>
              <a:defRPr sz="1200" b="1">
                <a:solidFill>
                  <a:srgbClr val="4EDFE3"/>
                </a:solidFill>
                <a:latin typeface="DejaVu Sans"/>
              </a:defRPr>
            </a:pPr>
            <a:r>
              <a:t>Payload + actuator units</a:t>
            </a:r>
          </a:p>
        </p:txBody>
      </p:sp>
      <p:sp>
        <p:nvSpPr>
          <p:cNvPr id="85" name="TextBox 84"/>
          <p:cNvSpPr txBox="1"/>
          <p:nvPr/>
        </p:nvSpPr>
        <p:spPr>
          <a:xfrm>
            <a:off x="3566160" y="5221224"/>
            <a:ext cx="3749039"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Mission sensing and physical control</a:t>
            </a:r>
          </a:p>
        </p:txBody>
      </p:sp>
      <p:sp>
        <p:nvSpPr>
          <p:cNvPr id="86" name="TextBox 85"/>
          <p:cNvSpPr txBox="1"/>
          <p:nvPr/>
        </p:nvSpPr>
        <p:spPr>
          <a:xfrm>
            <a:off x="7543800" y="5221224"/>
            <a:ext cx="3840480" cy="320040"/>
          </a:xfrm>
          <a:prstGeom prst="rect">
            <a:avLst/>
          </a:prstGeom>
          <a:noFill/>
        </p:spPr>
        <p:txBody>
          <a:bodyPr wrap="square" lIns="0" rIns="0" tIns="0" bIns="0">
            <a:spAutoFit/>
          </a:bodyPr>
          <a:lstStyle/>
          <a:p>
            <a:pPr>
              <a:lnSpc>
                <a:spcPct val="112000"/>
              </a:lnSpc>
              <a:spcAft>
                <a:spcPts val="0"/>
              </a:spcAft>
              <a:defRPr sz="1100" b="0">
                <a:solidFill>
                  <a:srgbClr val="A7BDCC"/>
                </a:solidFill>
                <a:latin typeface="DejaVu Sans"/>
              </a:defRPr>
            </a:pPr>
            <a:r>
              <a:t>Image quality; motion; installation integrity</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11 / LRUS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Actuators, buses and wiring</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33</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Actuators</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Servos move control surfaces.</a:t>
            </a:r>
          </a:p>
          <a:p>
            <a:pPr>
              <a:lnSpc>
                <a:spcPct val="112000"/>
              </a:lnSpc>
              <a:spcAft>
                <a:spcPts val="0"/>
              </a:spcAft>
              <a:defRPr sz="1600" b="0">
                <a:solidFill>
                  <a:srgbClr val="EFF6FB"/>
                </a:solidFill>
                <a:latin typeface="DejaVu Sans"/>
              </a:defRPr>
            </a:pPr>
            <a:r>
              <a:t>Position feedback and</a:t>
            </a:r>
          </a:p>
          <a:p>
            <a:pPr>
              <a:lnSpc>
                <a:spcPct val="112000"/>
              </a:lnSpc>
              <a:spcAft>
                <a:spcPts val="0"/>
              </a:spcAft>
              <a:defRPr sz="1600" b="0">
                <a:solidFill>
                  <a:srgbClr val="EFF6FB"/>
                </a:solidFill>
                <a:latin typeface="DejaVu Sans"/>
              </a:defRPr>
            </a:pPr>
            <a:r>
              <a:t>mechanical condition</a:t>
            </a:r>
          </a:p>
          <a:p>
            <a:pPr>
              <a:lnSpc>
                <a:spcPct val="112000"/>
              </a:lnSpc>
              <a:spcAft>
                <a:spcPts val="0"/>
              </a:spcAft>
              <a:defRPr sz="1600" b="0">
                <a:solidFill>
                  <a:srgbClr val="EFF6FB"/>
                </a:solidFill>
                <a:latin typeface="DejaVu Sans"/>
              </a:defRPr>
            </a:pPr>
            <a:r>
              <a:t>determine command</a:t>
            </a:r>
          </a:p>
          <a:p>
            <a:pPr>
              <a:lnSpc>
                <a:spcPct val="112000"/>
              </a:lnSpc>
              <a:spcAft>
                <a:spcPts val="0"/>
              </a:spcAft>
              <a:defRPr sz="1600" b="0">
                <a:solidFill>
                  <a:srgbClr val="EFF6FB"/>
                </a:solidFill>
                <a:latin typeface="DejaVu Sans"/>
              </a:defRPr>
            </a:pPr>
            <a:r>
              <a:t>execution.</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Data interfaces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CAN, serial, Ethernet or</a:t>
            </a:r>
          </a:p>
          <a:p>
            <a:pPr>
              <a:lnSpc>
                <a:spcPct val="112000"/>
              </a:lnSpc>
              <a:spcAft>
                <a:spcPts val="0"/>
              </a:spcAft>
              <a:defRPr sz="1600" b="0">
                <a:solidFill>
                  <a:srgbClr val="EFF6FB"/>
                </a:solidFill>
                <a:latin typeface="DejaVu Sans"/>
              </a:defRPr>
            </a:pPr>
            <a:r>
              <a:t>avionics buses may connect</a:t>
            </a:r>
          </a:p>
          <a:p>
            <a:pPr>
              <a:lnSpc>
                <a:spcPct val="112000"/>
              </a:lnSpc>
              <a:spcAft>
                <a:spcPts val="0"/>
              </a:spcAft>
              <a:defRPr sz="1600" b="0">
                <a:solidFill>
                  <a:srgbClr val="EFF6FB"/>
                </a:solidFill>
                <a:latin typeface="DejaVu Sans"/>
              </a:defRPr>
            </a:pPr>
            <a:r>
              <a:t>units. Architecture determines</a:t>
            </a:r>
          </a:p>
          <a:p>
            <a:pPr>
              <a:lnSpc>
                <a:spcPct val="112000"/>
              </a:lnSpc>
              <a:spcAft>
                <a:spcPts val="0"/>
              </a:spcAft>
              <a:defRPr sz="1600" b="0">
                <a:solidFill>
                  <a:srgbClr val="EFF6FB"/>
                </a:solidFill>
                <a:latin typeface="DejaVu Sans"/>
              </a:defRPr>
            </a:pPr>
            <a:r>
              <a:t>timing and reliability.</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Harness engineering</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Routing, strain relief, connector</a:t>
            </a:r>
          </a:p>
          <a:p>
            <a:pPr>
              <a:lnSpc>
                <a:spcPct val="112000"/>
              </a:lnSpc>
              <a:spcAft>
                <a:spcPts val="0"/>
              </a:spcAft>
              <a:defRPr sz="1600" b="0">
                <a:solidFill>
                  <a:srgbClr val="EFF6FB"/>
                </a:solidFill>
                <a:latin typeface="DejaVu Sans"/>
              </a:defRPr>
            </a:pPr>
            <a:r>
              <a:t>keying, shielding and</a:t>
            </a:r>
          </a:p>
          <a:p>
            <a:pPr>
              <a:lnSpc>
                <a:spcPct val="112000"/>
              </a:lnSpc>
              <a:spcAft>
                <a:spcPts val="0"/>
              </a:spcAft>
              <a:defRPr sz="1600" b="0">
                <a:solidFill>
                  <a:srgbClr val="EFF6FB"/>
                </a:solidFill>
                <a:latin typeface="DejaVu Sans"/>
              </a:defRPr>
            </a:pPr>
            <a:r>
              <a:t>separation prevent many</a:t>
            </a:r>
          </a:p>
          <a:p>
            <a:pPr>
              <a:lnSpc>
                <a:spcPct val="112000"/>
              </a:lnSpc>
              <a:spcAft>
                <a:spcPts val="0"/>
              </a:spcAft>
              <a:defRPr sz="1600" b="0">
                <a:solidFill>
                  <a:srgbClr val="EFF6FB"/>
                </a:solidFill>
                <a:latin typeface="DejaVu Sans"/>
              </a:defRPr>
            </a:pPr>
            <a:r>
              <a:t>integration failures.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12 / MISSION SYSTEMS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Payload: the reason the aircraft flies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34</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EO / IR imaging</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Electro-optical and infrared</a:t>
            </a:r>
          </a:p>
          <a:p>
            <a:pPr>
              <a:lnSpc>
                <a:spcPct val="112000"/>
              </a:lnSpc>
              <a:spcAft>
                <a:spcPts val="0"/>
              </a:spcAft>
              <a:defRPr sz="1600" b="0">
                <a:solidFill>
                  <a:srgbClr val="EFF6FB"/>
                </a:solidFill>
                <a:latin typeface="DejaVu Sans"/>
              </a:defRPr>
            </a:pPr>
            <a:r>
              <a:t>sensors; stabilized gimbals;</a:t>
            </a:r>
          </a:p>
          <a:p>
            <a:pPr>
              <a:lnSpc>
                <a:spcPct val="112000"/>
              </a:lnSpc>
              <a:spcAft>
                <a:spcPts val="0"/>
              </a:spcAft>
              <a:defRPr sz="1600" b="0">
                <a:solidFill>
                  <a:srgbClr val="EFF6FB"/>
                </a:solidFill>
                <a:latin typeface="DejaVu Sans"/>
              </a:defRPr>
            </a:pPr>
            <a:r>
              <a:t>daylight, thermal and</a:t>
            </a:r>
          </a:p>
          <a:p>
            <a:pPr>
              <a:lnSpc>
                <a:spcPct val="112000"/>
              </a:lnSpc>
              <a:spcAft>
                <a:spcPts val="0"/>
              </a:spcAft>
              <a:defRPr sz="1600" b="0">
                <a:solidFill>
                  <a:srgbClr val="EFF6FB"/>
                </a:solidFill>
                <a:latin typeface="DejaVu Sans"/>
              </a:defRPr>
            </a:pPr>
            <a:r>
              <a:t>inspection products.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Mapping sensors</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RGB cameras, multispectral</a:t>
            </a:r>
          </a:p>
          <a:p>
            <a:pPr>
              <a:lnSpc>
                <a:spcPct val="112000"/>
              </a:lnSpc>
              <a:spcAft>
                <a:spcPts val="0"/>
              </a:spcAft>
              <a:defRPr sz="1600" b="0">
                <a:solidFill>
                  <a:srgbClr val="EFF6FB"/>
                </a:solidFill>
                <a:latin typeface="DejaVu Sans"/>
              </a:defRPr>
            </a:pPr>
            <a:r>
              <a:t>sensors or LiDAR. Accuracy</a:t>
            </a:r>
          </a:p>
          <a:p>
            <a:pPr>
              <a:lnSpc>
                <a:spcPct val="112000"/>
              </a:lnSpc>
              <a:spcAft>
                <a:spcPts val="0"/>
              </a:spcAft>
              <a:defRPr sz="1600" b="0">
                <a:solidFill>
                  <a:srgbClr val="EFF6FB"/>
                </a:solidFill>
                <a:latin typeface="DejaVu Sans"/>
              </a:defRPr>
            </a:pPr>
            <a:r>
              <a:t>depends on calibration,</a:t>
            </a:r>
          </a:p>
          <a:p>
            <a:pPr>
              <a:lnSpc>
                <a:spcPct val="112000"/>
              </a:lnSpc>
              <a:spcAft>
                <a:spcPts val="0"/>
              </a:spcAft>
              <a:defRPr sz="1600" b="0">
                <a:solidFill>
                  <a:srgbClr val="EFF6FB"/>
                </a:solidFill>
                <a:latin typeface="DejaVu Sans"/>
              </a:defRPr>
            </a:pPr>
            <a:r>
              <a:t>position and processing.</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Integration budget</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Mass, power, data rate,</a:t>
            </a:r>
          </a:p>
          <a:p>
            <a:pPr>
              <a:lnSpc>
                <a:spcPct val="112000"/>
              </a:lnSpc>
              <a:spcAft>
                <a:spcPts val="0"/>
              </a:spcAft>
              <a:defRPr sz="1600" b="0">
                <a:solidFill>
                  <a:srgbClr val="EFF6FB"/>
                </a:solidFill>
                <a:latin typeface="DejaVu Sans"/>
              </a:defRPr>
            </a:pPr>
            <a:r>
              <a:t>cooling, field of view and</a:t>
            </a:r>
          </a:p>
          <a:p>
            <a:pPr>
              <a:lnSpc>
                <a:spcPct val="112000"/>
              </a:lnSpc>
              <a:spcAft>
                <a:spcPts val="0"/>
              </a:spcAft>
              <a:defRPr sz="1600" b="0">
                <a:solidFill>
                  <a:srgbClr val="EFF6FB"/>
                </a:solidFill>
                <a:latin typeface="DejaVu Sans"/>
              </a:defRPr>
            </a:pPr>
            <a:r>
              <a:t>vibration must fit the platform</a:t>
            </a:r>
          </a:p>
          <a:p>
            <a:pPr>
              <a:lnSpc>
                <a:spcPct val="112000"/>
              </a:lnSpc>
              <a:spcAft>
                <a:spcPts val="0"/>
              </a:spcAft>
              <a:defRPr sz="1600" b="0">
                <a:solidFill>
                  <a:srgbClr val="EFF6FB"/>
                </a:solidFill>
                <a:latin typeface="DejaVu Sans"/>
              </a:defRPr>
            </a:pPr>
            <a:r>
              <a:t>and mission.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13 / GROUND CONTROL STATION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Ground control station: the human interface</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35</a:t>
            </a:r>
          </a:p>
        </p:txBody>
      </p:sp>
      <p:pic>
        <p:nvPicPr>
          <p:cNvPr id="62" name="Picture 61" descr="gcs.png"/>
          <p:cNvPicPr>
            <a:picLocks noChangeAspect="1"/>
          </p:cNvPicPr>
          <p:nvPr/>
        </p:nvPicPr>
        <p:blipFill>
          <a:blip r:embed="rId3"/>
          <a:stretch>
            <a:fillRect/>
          </a:stretch>
        </p:blipFill>
        <p:spPr>
          <a:xfrm>
            <a:off x="994409" y="2377440"/>
            <a:ext cx="5417820" cy="3611880"/>
          </a:xfrm>
          <a:prstGeom prst="rect">
            <a:avLst/>
          </a:prstGeom>
        </p:spPr>
      </p:pic>
      <p:sp>
        <p:nvSpPr>
          <p:cNvPr id="63" name="TextBox 62"/>
          <p:cNvSpPr txBox="1"/>
          <p:nvPr/>
        </p:nvSpPr>
        <p:spPr>
          <a:xfrm>
            <a:off x="7315200" y="2450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Flight supervision</a:t>
            </a:r>
          </a:p>
        </p:txBody>
      </p:sp>
      <p:sp>
        <p:nvSpPr>
          <p:cNvPr id="64" name="TextBox 63"/>
          <p:cNvSpPr txBox="1"/>
          <p:nvPr/>
        </p:nvSpPr>
        <p:spPr>
          <a:xfrm>
            <a:off x="7315200" y="2862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Aircraft state, modes, energy and link health.</a:t>
            </a:r>
          </a:p>
        </p:txBody>
      </p:sp>
      <p:sp>
        <p:nvSpPr>
          <p:cNvPr id="65" name="TextBox 64"/>
          <p:cNvSpPr txBox="1"/>
          <p:nvPr/>
        </p:nvSpPr>
        <p:spPr>
          <a:xfrm>
            <a:off x="7315200" y="3593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Mission management</a:t>
            </a:r>
          </a:p>
        </p:txBody>
      </p:sp>
      <p:sp>
        <p:nvSpPr>
          <p:cNvPr id="66" name="TextBox 65"/>
          <p:cNvSpPr txBox="1"/>
          <p:nvPr/>
        </p:nvSpPr>
        <p:spPr>
          <a:xfrm>
            <a:off x="7315200" y="4005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Plan routes, coordinate payload use and assess</a:t>
            </a:r>
          </a:p>
          <a:p>
            <a:pPr>
              <a:lnSpc>
                <a:spcPct val="112000"/>
              </a:lnSpc>
              <a:spcAft>
                <a:spcPts val="0"/>
              </a:spcAft>
              <a:defRPr sz="1300" b="0">
                <a:solidFill>
                  <a:srgbClr val="EFF6FB"/>
                </a:solidFill>
                <a:latin typeface="DejaVu Sans"/>
              </a:defRPr>
            </a:pPr>
            <a:r>
              <a:t>data.</a:t>
            </a:r>
          </a:p>
        </p:txBody>
      </p:sp>
      <p:sp>
        <p:nvSpPr>
          <p:cNvPr id="67" name="TextBox 66"/>
          <p:cNvSpPr txBox="1"/>
          <p:nvPr/>
        </p:nvSpPr>
        <p:spPr>
          <a:xfrm>
            <a:off x="7315200" y="4736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Operational support</a:t>
            </a:r>
          </a:p>
        </p:txBody>
      </p:sp>
      <p:sp>
        <p:nvSpPr>
          <p:cNvPr id="68" name="TextBox 67"/>
          <p:cNvSpPr txBox="1"/>
          <p:nvPr/>
        </p:nvSpPr>
        <p:spPr>
          <a:xfrm>
            <a:off x="7315200" y="5148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Communications, logs, power, cooling and crew</a:t>
            </a:r>
          </a:p>
          <a:p>
            <a:pPr>
              <a:lnSpc>
                <a:spcPct val="112000"/>
              </a:lnSpc>
              <a:spcAft>
                <a:spcPts val="0"/>
              </a:spcAft>
              <a:defRPr sz="1300" b="0">
                <a:solidFill>
                  <a:srgbClr val="EFF6FB"/>
                </a:solidFill>
                <a:latin typeface="DejaVu Sans"/>
              </a:defRPr>
            </a:pPr>
            <a:r>
              <a:t>workspace.</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13 / GROUND CONTROL STATION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Inside the GCS: a conceptual console</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Illustrative human-machine interface • all values below are placeholders</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36</a:t>
            </a:r>
          </a:p>
        </p:txBody>
      </p:sp>
      <p:sp>
        <p:nvSpPr>
          <p:cNvPr id="63" name="Rectangle 62"/>
          <p:cNvSpPr/>
          <p:nvPr/>
        </p:nvSpPr>
        <p:spPr>
          <a:xfrm>
            <a:off x="594360" y="2423160"/>
            <a:ext cx="7315200" cy="3621024"/>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2960" y="2606040"/>
            <a:ext cx="6858000" cy="365760"/>
          </a:xfrm>
          <a:prstGeom prst="rect">
            <a:avLst/>
          </a:prstGeom>
          <a:noFill/>
        </p:spPr>
        <p:txBody>
          <a:bodyPr wrap="square" lIns="0" rIns="0" tIns="0" bIns="0">
            <a:spAutoFit/>
          </a:bodyPr>
          <a:lstStyle/>
          <a:p>
            <a:pPr>
              <a:lnSpc>
                <a:spcPct val="112000"/>
              </a:lnSpc>
              <a:spcAft>
                <a:spcPts val="0"/>
              </a:spcAft>
              <a:defRPr sz="1300" b="1">
                <a:solidFill>
                  <a:srgbClr val="4EDFE3"/>
                </a:solidFill>
                <a:latin typeface="DejaVu Sans"/>
              </a:defRPr>
            </a:pPr>
            <a:r>
              <a:t>MISSION MAP / ROUTE OVERVIEW</a:t>
            </a:r>
          </a:p>
        </p:txBody>
      </p:sp>
      <p:cxnSp>
        <p:nvCxnSpPr>
          <p:cNvPr id="65" name="Connector 64"/>
          <p:cNvCxnSpPr/>
          <p:nvPr/>
        </p:nvCxnSpPr>
        <p:spPr>
          <a:xfrm>
            <a:off x="109728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10312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10896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11480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12064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12648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132320" y="3246120"/>
            <a:ext cx="0" cy="256032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22960" y="3246120"/>
            <a:ext cx="6858000" cy="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22960" y="3886200"/>
            <a:ext cx="6858000" cy="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22960" y="4526280"/>
            <a:ext cx="6858000" cy="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22960" y="5166360"/>
            <a:ext cx="6858000" cy="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22960" y="5806440"/>
            <a:ext cx="6858000" cy="0"/>
          </a:xfrm>
          <a:prstGeom prst="line">
            <a:avLst/>
          </a:prstGeom>
          <a:ln w="10160">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371600" y="4526280"/>
            <a:ext cx="1188720" cy="822960"/>
          </a:xfrm>
          <a:prstGeom prst="line">
            <a:avLst/>
          </a:prstGeom>
          <a:ln w="25400">
            <a:solidFill>
              <a:srgbClr val="4EDFE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560320" y="4526280"/>
            <a:ext cx="1371600" cy="365760"/>
          </a:xfrm>
          <a:prstGeom prst="line">
            <a:avLst/>
          </a:prstGeom>
          <a:ln w="25400">
            <a:solidFill>
              <a:srgbClr val="4EDFE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931920" y="3474720"/>
            <a:ext cx="1280160" cy="1417320"/>
          </a:xfrm>
          <a:prstGeom prst="line">
            <a:avLst/>
          </a:prstGeom>
          <a:ln w="25400">
            <a:solidFill>
              <a:srgbClr val="4EDFE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212080" y="3474720"/>
            <a:ext cx="1828800" cy="457200"/>
          </a:xfrm>
          <a:prstGeom prst="line">
            <a:avLst/>
          </a:prstGeom>
          <a:ln w="25400">
            <a:solidFill>
              <a:srgbClr val="4EDFE3"/>
            </a:solidFill>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316736" y="5294376"/>
            <a:ext cx="109728" cy="109728"/>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63040" y="5138927"/>
            <a:ext cx="548640" cy="27432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t>W1</a:t>
            </a:r>
          </a:p>
        </p:txBody>
      </p:sp>
      <p:sp>
        <p:nvSpPr>
          <p:cNvPr id="83" name="Rectangle 82"/>
          <p:cNvSpPr/>
          <p:nvPr/>
        </p:nvSpPr>
        <p:spPr>
          <a:xfrm>
            <a:off x="2505456" y="4471416"/>
            <a:ext cx="109728" cy="109728"/>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51760" y="4315968"/>
            <a:ext cx="548640" cy="27432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t>W2</a:t>
            </a:r>
          </a:p>
        </p:txBody>
      </p:sp>
      <p:sp>
        <p:nvSpPr>
          <p:cNvPr id="85" name="Rectangle 84"/>
          <p:cNvSpPr/>
          <p:nvPr/>
        </p:nvSpPr>
        <p:spPr>
          <a:xfrm>
            <a:off x="3877056" y="4837176"/>
            <a:ext cx="109728" cy="109728"/>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023359" y="4681727"/>
            <a:ext cx="548640" cy="27432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t>W3</a:t>
            </a:r>
          </a:p>
        </p:txBody>
      </p:sp>
      <p:sp>
        <p:nvSpPr>
          <p:cNvPr id="87" name="Rectangle 86"/>
          <p:cNvSpPr/>
          <p:nvPr/>
        </p:nvSpPr>
        <p:spPr>
          <a:xfrm>
            <a:off x="5157216" y="3419856"/>
            <a:ext cx="109728" cy="109728"/>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303520" y="3264408"/>
            <a:ext cx="548640" cy="27432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t>W4</a:t>
            </a:r>
          </a:p>
        </p:txBody>
      </p:sp>
      <p:sp>
        <p:nvSpPr>
          <p:cNvPr id="89" name="Rectangle 88"/>
          <p:cNvSpPr/>
          <p:nvPr/>
        </p:nvSpPr>
        <p:spPr>
          <a:xfrm>
            <a:off x="6986016" y="3877056"/>
            <a:ext cx="109728" cy="109728"/>
          </a:xfrm>
          <a:prstGeom prst="rect">
            <a:avLst/>
          </a:prstGeom>
          <a:solidFill>
            <a:srgbClr val="F6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132320" y="3721607"/>
            <a:ext cx="548640" cy="27432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t>W5</a:t>
            </a:r>
          </a:p>
        </p:txBody>
      </p:sp>
      <p:sp>
        <p:nvSpPr>
          <p:cNvPr id="91" name="Rectangle 90"/>
          <p:cNvSpPr/>
          <p:nvPr/>
        </p:nvSpPr>
        <p:spPr>
          <a:xfrm>
            <a:off x="8229600" y="2423160"/>
            <a:ext cx="3337560" cy="1005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39327" y="2532888"/>
            <a:ext cx="311810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FLIGHT STATE</a:t>
            </a:r>
          </a:p>
        </p:txBody>
      </p:sp>
      <p:sp>
        <p:nvSpPr>
          <p:cNvPr id="93" name="TextBox 92"/>
          <p:cNvSpPr txBox="1"/>
          <p:nvPr/>
        </p:nvSpPr>
        <p:spPr>
          <a:xfrm>
            <a:off x="8339327" y="3136391"/>
            <a:ext cx="3118104" cy="274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Mode • authority • position</a:t>
            </a:r>
          </a:p>
        </p:txBody>
      </p:sp>
      <p:sp>
        <p:nvSpPr>
          <p:cNvPr id="94" name="Rectangle 93"/>
          <p:cNvSpPr/>
          <p:nvPr/>
        </p:nvSpPr>
        <p:spPr>
          <a:xfrm>
            <a:off x="8229600" y="3611880"/>
            <a:ext cx="3337560" cy="10058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39327" y="3721608"/>
            <a:ext cx="311810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SYSTEM HEALTH</a:t>
            </a:r>
          </a:p>
        </p:txBody>
      </p:sp>
      <p:sp>
        <p:nvSpPr>
          <p:cNvPr id="96" name="TextBox 95"/>
          <p:cNvSpPr txBox="1"/>
          <p:nvPr/>
        </p:nvSpPr>
        <p:spPr>
          <a:xfrm>
            <a:off x="8339327" y="4325112"/>
            <a:ext cx="3118104" cy="274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Energy • navigation • propulsion</a:t>
            </a:r>
          </a:p>
        </p:txBody>
      </p:sp>
      <p:sp>
        <p:nvSpPr>
          <p:cNvPr id="97" name="Rectangle 96"/>
          <p:cNvSpPr/>
          <p:nvPr/>
        </p:nvSpPr>
        <p:spPr>
          <a:xfrm>
            <a:off x="8229600" y="4800600"/>
            <a:ext cx="3337560" cy="1005840"/>
          </a:xfrm>
          <a:prstGeom prst="rect">
            <a:avLst/>
          </a:prstGeom>
          <a:solidFill>
            <a:srgbClr val="102337"/>
          </a:solidFill>
          <a:ln w="8890">
            <a:solidFill>
              <a:srgbClr val="F6B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39327" y="4910328"/>
            <a:ext cx="3118104" cy="548640"/>
          </a:xfrm>
          <a:prstGeom prst="rect">
            <a:avLst/>
          </a:prstGeom>
          <a:noFill/>
        </p:spPr>
        <p:txBody>
          <a:bodyPr wrap="square" lIns="0" rIns="0" tIns="0" bIns="0">
            <a:spAutoFit/>
          </a:bodyPr>
          <a:lstStyle/>
          <a:p>
            <a:pPr>
              <a:lnSpc>
                <a:spcPct val="112000"/>
              </a:lnSpc>
              <a:spcAft>
                <a:spcPts val="0"/>
              </a:spcAft>
              <a:defRPr sz="1500" b="1">
                <a:solidFill>
                  <a:srgbClr val="F6B75A"/>
                </a:solidFill>
                <a:latin typeface="DejaVu Sans"/>
              </a:defRPr>
            </a:pPr>
            <a:r>
              <a:t>LINK + ALERTS</a:t>
            </a:r>
          </a:p>
        </p:txBody>
      </p:sp>
      <p:sp>
        <p:nvSpPr>
          <p:cNvPr id="99" name="TextBox 98"/>
          <p:cNvSpPr txBox="1"/>
          <p:nvPr/>
        </p:nvSpPr>
        <p:spPr>
          <a:xfrm>
            <a:off x="8339327" y="5513832"/>
            <a:ext cx="3118104" cy="2743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Freshness • warning priority</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13 / GROUND CONTROL STATION</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Ground station people and procedures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37</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Remote pilot</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Maintains operational</a:t>
            </a:r>
          </a:p>
          <a:p>
            <a:pPr>
              <a:lnSpc>
                <a:spcPct val="112000"/>
              </a:lnSpc>
              <a:spcAft>
                <a:spcPts val="0"/>
              </a:spcAft>
              <a:defRPr sz="1600" b="0">
                <a:solidFill>
                  <a:srgbClr val="EFF6FB"/>
                </a:solidFill>
                <a:latin typeface="DejaVu Sans"/>
              </a:defRPr>
            </a:pPr>
            <a:r>
              <a:t>authority, situational</a:t>
            </a:r>
          </a:p>
          <a:p>
            <a:pPr>
              <a:lnSpc>
                <a:spcPct val="112000"/>
              </a:lnSpc>
              <a:spcAft>
                <a:spcPts val="0"/>
              </a:spcAft>
              <a:defRPr sz="1600" b="0">
                <a:solidFill>
                  <a:srgbClr val="EFF6FB"/>
                </a:solidFill>
                <a:latin typeface="DejaVu Sans"/>
              </a:defRPr>
            </a:pPr>
            <a:r>
              <a:t>awareness and safe decisions</a:t>
            </a:r>
          </a:p>
          <a:p>
            <a:pPr>
              <a:lnSpc>
                <a:spcPct val="112000"/>
              </a:lnSpc>
              <a:spcAft>
                <a:spcPts val="0"/>
              </a:spcAft>
              <a:defRPr sz="1600" b="0">
                <a:solidFill>
                  <a:srgbClr val="EFF6FB"/>
                </a:solidFill>
                <a:latin typeface="DejaVu Sans"/>
              </a:defRPr>
            </a:pPr>
            <a:r>
              <a:t>appropriate to the operation.</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Payload operator</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Manages mission sensors and</a:t>
            </a:r>
          </a:p>
          <a:p>
            <a:pPr>
              <a:lnSpc>
                <a:spcPct val="112000"/>
              </a:lnSpc>
              <a:spcAft>
                <a:spcPts val="0"/>
              </a:spcAft>
              <a:defRPr sz="1600" b="0">
                <a:solidFill>
                  <a:srgbClr val="EFF6FB"/>
                </a:solidFill>
                <a:latin typeface="DejaVu Sans"/>
              </a:defRPr>
            </a:pPr>
            <a:r>
              <a:t>products while coordinating</a:t>
            </a:r>
          </a:p>
          <a:p>
            <a:pPr>
              <a:lnSpc>
                <a:spcPct val="112000"/>
              </a:lnSpc>
              <a:spcAft>
                <a:spcPts val="0"/>
              </a:spcAft>
              <a:defRPr sz="1600" b="0">
                <a:solidFill>
                  <a:srgbClr val="EFF6FB"/>
                </a:solidFill>
                <a:latin typeface="DejaVu Sans"/>
              </a:defRPr>
            </a:pPr>
            <a:r>
              <a:t>requests with the flight crew.</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Support team</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Maintenance, airspace</a:t>
            </a:r>
          </a:p>
          <a:p>
            <a:pPr>
              <a:lnSpc>
                <a:spcPct val="112000"/>
              </a:lnSpc>
              <a:spcAft>
                <a:spcPts val="0"/>
              </a:spcAft>
              <a:defRPr sz="1600" b="0">
                <a:solidFill>
                  <a:srgbClr val="EFF6FB"/>
                </a:solidFill>
                <a:latin typeface="DejaVu Sans"/>
              </a:defRPr>
            </a:pPr>
            <a:r>
              <a:t>coordination and data</a:t>
            </a:r>
          </a:p>
          <a:p>
            <a:pPr>
              <a:lnSpc>
                <a:spcPct val="112000"/>
              </a:lnSpc>
              <a:spcAft>
                <a:spcPts val="0"/>
              </a:spcAft>
              <a:defRPr sz="1600" b="0">
                <a:solidFill>
                  <a:srgbClr val="EFF6FB"/>
                </a:solidFill>
                <a:latin typeface="DejaVu Sans"/>
              </a:defRPr>
            </a:pPr>
            <a:r>
              <a:t>handling. Roles may be</a:t>
            </a:r>
          </a:p>
          <a:p>
            <a:pPr>
              <a:lnSpc>
                <a:spcPct val="112000"/>
              </a:lnSpc>
              <a:spcAft>
                <a:spcPts val="0"/>
              </a:spcAft>
              <a:defRPr sz="1600" b="0">
                <a:solidFill>
                  <a:srgbClr val="EFF6FB"/>
                </a:solidFill>
                <a:latin typeface="DejaVu Sans"/>
              </a:defRPr>
            </a:pPr>
            <a:r>
              <a:t>combined in small operations.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14 / OPERATIONS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Launch to recovery: the operational sequence</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Illustrative civil survey workflow • follow aircraft-specific procedures in practice</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38</a:t>
            </a:r>
          </a:p>
        </p:txBody>
      </p:sp>
      <p:sp>
        <p:nvSpPr>
          <p:cNvPr id="63" name="Rectangle 62"/>
          <p:cNvSpPr/>
          <p:nvPr/>
        </p:nvSpPr>
        <p:spPr>
          <a:xfrm>
            <a:off x="548640"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8368"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PLAN</a:t>
            </a:r>
          </a:p>
        </p:txBody>
      </p:sp>
      <p:sp>
        <p:nvSpPr>
          <p:cNvPr id="65" name="TextBox 64"/>
          <p:cNvSpPr txBox="1"/>
          <p:nvPr/>
        </p:nvSpPr>
        <p:spPr>
          <a:xfrm>
            <a:off x="658368"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Objective</a:t>
            </a:r>
          </a:p>
          <a:p>
            <a:pPr>
              <a:lnSpc>
                <a:spcPct val="112000"/>
              </a:lnSpc>
              <a:spcAft>
                <a:spcPts val="0"/>
              </a:spcAft>
              <a:defRPr sz="1200" b="0">
                <a:solidFill>
                  <a:srgbClr val="EFF6FB"/>
                </a:solidFill>
                <a:latin typeface="DejaVu Sans"/>
              </a:defRPr>
            </a:pPr>
            <a:r>
              <a:t>Airspace</a:t>
            </a:r>
          </a:p>
          <a:p>
            <a:pPr>
              <a:lnSpc>
                <a:spcPct val="112000"/>
              </a:lnSpc>
              <a:spcAft>
                <a:spcPts val="0"/>
              </a:spcAft>
              <a:defRPr sz="1200" b="0">
                <a:solidFill>
                  <a:srgbClr val="EFF6FB"/>
                </a:solidFill>
                <a:latin typeface="DejaVu Sans"/>
              </a:defRPr>
            </a:pPr>
            <a:r>
              <a:t>Weather</a:t>
            </a:r>
          </a:p>
        </p:txBody>
      </p:sp>
      <p:sp>
        <p:nvSpPr>
          <p:cNvPr id="66" name="Rectangle 65"/>
          <p:cNvSpPr/>
          <p:nvPr/>
        </p:nvSpPr>
        <p:spPr>
          <a:xfrm>
            <a:off x="2496312"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606040"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PRE-FLIGHT</a:t>
            </a:r>
          </a:p>
        </p:txBody>
      </p:sp>
      <p:sp>
        <p:nvSpPr>
          <p:cNvPr id="68" name="TextBox 67"/>
          <p:cNvSpPr txBox="1"/>
          <p:nvPr/>
        </p:nvSpPr>
        <p:spPr>
          <a:xfrm>
            <a:off x="2606040"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Inspection</a:t>
            </a:r>
          </a:p>
          <a:p>
            <a:pPr>
              <a:lnSpc>
                <a:spcPct val="112000"/>
              </a:lnSpc>
              <a:spcAft>
                <a:spcPts val="0"/>
              </a:spcAft>
              <a:defRPr sz="1200" b="0">
                <a:solidFill>
                  <a:srgbClr val="EFF6FB"/>
                </a:solidFill>
                <a:latin typeface="DejaVu Sans"/>
              </a:defRPr>
            </a:pPr>
            <a:r>
              <a:t>Configuration</a:t>
            </a:r>
          </a:p>
          <a:p>
            <a:pPr>
              <a:lnSpc>
                <a:spcPct val="112000"/>
              </a:lnSpc>
              <a:spcAft>
                <a:spcPts val="0"/>
              </a:spcAft>
              <a:defRPr sz="1200" b="0">
                <a:solidFill>
                  <a:srgbClr val="EFF6FB"/>
                </a:solidFill>
                <a:latin typeface="DejaVu Sans"/>
              </a:defRPr>
            </a:pPr>
            <a:r>
              <a:t>Link / sensors</a:t>
            </a:r>
          </a:p>
        </p:txBody>
      </p:sp>
      <p:sp>
        <p:nvSpPr>
          <p:cNvPr id="69" name="Rectangle 68"/>
          <p:cNvSpPr/>
          <p:nvPr/>
        </p:nvSpPr>
        <p:spPr>
          <a:xfrm>
            <a:off x="4443983"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53712"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LAUNCH</a:t>
            </a:r>
          </a:p>
        </p:txBody>
      </p:sp>
      <p:sp>
        <p:nvSpPr>
          <p:cNvPr id="71" name="TextBox 70"/>
          <p:cNvSpPr txBox="1"/>
          <p:nvPr/>
        </p:nvSpPr>
        <p:spPr>
          <a:xfrm>
            <a:off x="4553712"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Area clear</a:t>
            </a:r>
          </a:p>
          <a:p>
            <a:pPr>
              <a:lnSpc>
                <a:spcPct val="112000"/>
              </a:lnSpc>
              <a:spcAft>
                <a:spcPts val="0"/>
              </a:spcAft>
              <a:defRPr sz="1200" b="0">
                <a:solidFill>
                  <a:srgbClr val="EFF6FB"/>
                </a:solidFill>
                <a:latin typeface="DejaVu Sans"/>
              </a:defRPr>
            </a:pPr>
            <a:r>
              <a:t>Method ready</a:t>
            </a:r>
          </a:p>
          <a:p>
            <a:pPr>
              <a:lnSpc>
                <a:spcPct val="112000"/>
              </a:lnSpc>
              <a:spcAft>
                <a:spcPts val="0"/>
              </a:spcAft>
              <a:defRPr sz="1200" b="0">
                <a:solidFill>
                  <a:srgbClr val="EFF6FB"/>
                </a:solidFill>
                <a:latin typeface="DejaVu Sans"/>
              </a:defRPr>
            </a:pPr>
            <a:r>
              <a:t>Mode checked</a:t>
            </a:r>
          </a:p>
        </p:txBody>
      </p:sp>
      <p:sp>
        <p:nvSpPr>
          <p:cNvPr id="72" name="Rectangle 71"/>
          <p:cNvSpPr/>
          <p:nvPr/>
        </p:nvSpPr>
        <p:spPr>
          <a:xfrm>
            <a:off x="6391655"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01383"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MISSION</a:t>
            </a:r>
          </a:p>
        </p:txBody>
      </p:sp>
      <p:sp>
        <p:nvSpPr>
          <p:cNvPr id="74" name="TextBox 73"/>
          <p:cNvSpPr txBox="1"/>
          <p:nvPr/>
        </p:nvSpPr>
        <p:spPr>
          <a:xfrm>
            <a:off x="6501383"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Monitor health</a:t>
            </a:r>
          </a:p>
          <a:p>
            <a:pPr>
              <a:lnSpc>
                <a:spcPct val="112000"/>
              </a:lnSpc>
              <a:spcAft>
                <a:spcPts val="0"/>
              </a:spcAft>
              <a:defRPr sz="1200" b="0">
                <a:solidFill>
                  <a:srgbClr val="EFF6FB"/>
                </a:solidFill>
                <a:latin typeface="DejaVu Sans"/>
              </a:defRPr>
            </a:pPr>
            <a:r>
              <a:t>Collect data</a:t>
            </a:r>
          </a:p>
          <a:p>
            <a:pPr>
              <a:lnSpc>
                <a:spcPct val="112000"/>
              </a:lnSpc>
              <a:spcAft>
                <a:spcPts val="0"/>
              </a:spcAft>
              <a:defRPr sz="1200" b="0">
                <a:solidFill>
                  <a:srgbClr val="EFF6FB"/>
                </a:solidFill>
                <a:latin typeface="DejaVu Sans"/>
              </a:defRPr>
            </a:pPr>
            <a:r>
              <a:t>Maintain reserve</a:t>
            </a:r>
          </a:p>
        </p:txBody>
      </p:sp>
      <p:sp>
        <p:nvSpPr>
          <p:cNvPr id="75" name="Rectangle 74"/>
          <p:cNvSpPr/>
          <p:nvPr/>
        </p:nvSpPr>
        <p:spPr>
          <a:xfrm>
            <a:off x="8339327"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49055"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RECOVERY</a:t>
            </a:r>
          </a:p>
        </p:txBody>
      </p:sp>
      <p:sp>
        <p:nvSpPr>
          <p:cNvPr id="77" name="TextBox 76"/>
          <p:cNvSpPr txBox="1"/>
          <p:nvPr/>
        </p:nvSpPr>
        <p:spPr>
          <a:xfrm>
            <a:off x="8449055"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Approach</a:t>
            </a:r>
          </a:p>
          <a:p>
            <a:pPr>
              <a:lnSpc>
                <a:spcPct val="112000"/>
              </a:lnSpc>
              <a:spcAft>
                <a:spcPts val="0"/>
              </a:spcAft>
              <a:defRPr sz="1200" b="0">
                <a:solidFill>
                  <a:srgbClr val="EFF6FB"/>
                </a:solidFill>
                <a:latin typeface="DejaVu Sans"/>
              </a:defRPr>
            </a:pPr>
            <a:r>
              <a:t>Landing area</a:t>
            </a:r>
          </a:p>
          <a:p>
            <a:pPr>
              <a:lnSpc>
                <a:spcPct val="112000"/>
              </a:lnSpc>
              <a:spcAft>
                <a:spcPts val="0"/>
              </a:spcAft>
              <a:defRPr sz="1200" b="0">
                <a:solidFill>
                  <a:srgbClr val="EFF6FB"/>
                </a:solidFill>
                <a:latin typeface="DejaVu Sans"/>
              </a:defRPr>
            </a:pPr>
            <a:r>
              <a:t>Shutdown</a:t>
            </a:r>
          </a:p>
        </p:txBody>
      </p:sp>
      <p:sp>
        <p:nvSpPr>
          <p:cNvPr id="78" name="Rectangle 77"/>
          <p:cNvSpPr/>
          <p:nvPr/>
        </p:nvSpPr>
        <p:spPr>
          <a:xfrm>
            <a:off x="10286999" y="2971800"/>
            <a:ext cx="1783080" cy="228600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396727" y="3081528"/>
            <a:ext cx="15636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POST-FLIGHT</a:t>
            </a:r>
          </a:p>
        </p:txBody>
      </p:sp>
      <p:sp>
        <p:nvSpPr>
          <p:cNvPr id="80" name="TextBox 79"/>
          <p:cNvSpPr txBox="1"/>
          <p:nvPr/>
        </p:nvSpPr>
        <p:spPr>
          <a:xfrm>
            <a:off x="10396727" y="3685032"/>
            <a:ext cx="1563624" cy="155448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Inspect</a:t>
            </a:r>
          </a:p>
          <a:p>
            <a:pPr>
              <a:lnSpc>
                <a:spcPct val="112000"/>
              </a:lnSpc>
              <a:spcAft>
                <a:spcPts val="0"/>
              </a:spcAft>
              <a:defRPr sz="1200" b="0">
                <a:solidFill>
                  <a:srgbClr val="EFF6FB"/>
                </a:solidFill>
                <a:latin typeface="DejaVu Sans"/>
              </a:defRPr>
            </a:pPr>
            <a:r>
              <a:t>Review logs</a:t>
            </a:r>
          </a:p>
          <a:p>
            <a:pPr>
              <a:lnSpc>
                <a:spcPct val="112000"/>
              </a:lnSpc>
              <a:spcAft>
                <a:spcPts val="0"/>
              </a:spcAft>
              <a:defRPr sz="1200" b="0">
                <a:solidFill>
                  <a:srgbClr val="EFF6FB"/>
                </a:solidFill>
                <a:latin typeface="DejaVu Sans"/>
              </a:defRPr>
            </a:pPr>
            <a:r>
              <a:t>Record defects</a:t>
            </a:r>
          </a:p>
        </p:txBody>
      </p:sp>
      <p:sp>
        <p:nvSpPr>
          <p:cNvPr id="81" name="TextBox 80"/>
          <p:cNvSpPr txBox="1"/>
          <p:nvPr/>
        </p:nvSpPr>
        <p:spPr>
          <a:xfrm>
            <a:off x="685800" y="5596128"/>
            <a:ext cx="10881360" cy="548640"/>
          </a:xfrm>
          <a:prstGeom prst="rect">
            <a:avLst/>
          </a:prstGeom>
          <a:noFill/>
        </p:spPr>
        <p:txBody>
          <a:bodyPr wrap="square" lIns="0" rIns="0" tIns="0" bIns="0">
            <a:spAutoFit/>
          </a:bodyPr>
          <a:lstStyle/>
          <a:p>
            <a:pPr>
              <a:lnSpc>
                <a:spcPct val="112000"/>
              </a:lnSpc>
              <a:spcAft>
                <a:spcPts val="0"/>
              </a:spcAft>
              <a:defRPr sz="1400" b="0">
                <a:solidFill>
                  <a:srgbClr val="A7BDCC"/>
                </a:solidFill>
                <a:latin typeface="DejaVu Sans"/>
              </a:defRPr>
            </a:pPr>
            <a:r>
              <a:t>Launch methods vary: runway, catapult, hand launch or VTOL. Recovery may be runway, VTOL or parachute.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14 / OPERATIONS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Built-in test, maintenance and configuration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39</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Detect + isolate</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Built-in test reports useful</a:t>
            </a:r>
          </a:p>
          <a:p>
            <a:pPr>
              <a:lnSpc>
                <a:spcPct val="112000"/>
              </a:lnSpc>
              <a:spcAft>
                <a:spcPts val="0"/>
              </a:spcAft>
              <a:defRPr sz="1600" b="0">
                <a:solidFill>
                  <a:srgbClr val="EFF6FB"/>
                </a:solidFill>
                <a:latin typeface="DejaVu Sans"/>
              </a:defRPr>
            </a:pPr>
            <a:r>
              <a:t>symptoms. Correlate logs with</a:t>
            </a:r>
          </a:p>
          <a:p>
            <a:pPr>
              <a:lnSpc>
                <a:spcPct val="112000"/>
              </a:lnSpc>
              <a:spcAft>
                <a:spcPts val="0"/>
              </a:spcAft>
              <a:defRPr sz="1600" b="0">
                <a:solidFill>
                  <a:srgbClr val="EFF6FB"/>
                </a:solidFill>
                <a:latin typeface="DejaVu Sans"/>
              </a:defRPr>
            </a:pPr>
            <a:r>
              <a:t>physical inspection and</a:t>
            </a:r>
          </a:p>
          <a:p>
            <a:pPr>
              <a:lnSpc>
                <a:spcPct val="112000"/>
              </a:lnSpc>
              <a:spcAft>
                <a:spcPts val="0"/>
              </a:spcAft>
              <a:defRPr sz="1600" b="0">
                <a:solidFill>
                  <a:srgbClr val="EFF6FB"/>
                </a:solidFill>
                <a:latin typeface="DejaVu Sans"/>
              </a:defRPr>
            </a:pPr>
            <a:r>
              <a:t>approved diagnostics.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Replace + verify</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Correct LRU part, software and</a:t>
            </a:r>
          </a:p>
          <a:p>
            <a:pPr>
              <a:lnSpc>
                <a:spcPct val="112000"/>
              </a:lnSpc>
              <a:spcAft>
                <a:spcPts val="0"/>
              </a:spcAft>
              <a:defRPr sz="1600" b="0">
                <a:solidFill>
                  <a:srgbClr val="EFF6FB"/>
                </a:solidFill>
                <a:latin typeface="DejaVu Sans"/>
              </a:defRPr>
            </a:pPr>
            <a:r>
              <a:t>calibration. Inspect interfaces;</a:t>
            </a:r>
          </a:p>
          <a:p>
            <a:pPr>
              <a:lnSpc>
                <a:spcPct val="112000"/>
              </a:lnSpc>
              <a:spcAft>
                <a:spcPts val="0"/>
              </a:spcAft>
              <a:defRPr sz="1600" b="0">
                <a:solidFill>
                  <a:srgbClr val="EFF6FB"/>
                </a:solidFill>
                <a:latin typeface="DejaVu Sans"/>
              </a:defRPr>
            </a:pPr>
            <a:r>
              <a:t>complete the required</a:t>
            </a:r>
          </a:p>
          <a:p>
            <a:pPr>
              <a:lnSpc>
                <a:spcPct val="112000"/>
              </a:lnSpc>
              <a:spcAft>
                <a:spcPts val="0"/>
              </a:spcAft>
              <a:defRPr sz="1600" b="0">
                <a:solidFill>
                  <a:srgbClr val="EFF6FB"/>
                </a:solidFill>
                <a:latin typeface="DejaVu Sans"/>
              </a:defRPr>
            </a:pPr>
            <a:r>
              <a:t>functional checks.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Close the loop</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Record configuration and</a:t>
            </a:r>
          </a:p>
          <a:p>
            <a:pPr>
              <a:lnSpc>
                <a:spcPct val="112000"/>
              </a:lnSpc>
              <a:spcAft>
                <a:spcPts val="0"/>
              </a:spcAft>
              <a:defRPr sz="1600" b="0">
                <a:solidFill>
                  <a:srgbClr val="EFF6FB"/>
                </a:solidFill>
                <a:latin typeface="DejaVu Sans"/>
              </a:defRPr>
            </a:pPr>
            <a:r>
              <a:t>defects. Track recurring faults,</a:t>
            </a:r>
          </a:p>
          <a:p>
            <a:pPr>
              <a:lnSpc>
                <a:spcPct val="112000"/>
              </a:lnSpc>
              <a:spcAft>
                <a:spcPts val="0"/>
              </a:spcAft>
              <a:defRPr sz="1600" b="0">
                <a:solidFill>
                  <a:srgbClr val="EFF6FB"/>
                </a:solidFill>
                <a:latin typeface="DejaVu Sans"/>
              </a:defRPr>
            </a:pPr>
            <a:r>
              <a:t>life limits and changes across</a:t>
            </a:r>
          </a:p>
          <a:p>
            <a:pPr>
              <a:lnSpc>
                <a:spcPct val="112000"/>
              </a:lnSpc>
              <a:spcAft>
                <a:spcPts val="0"/>
              </a:spcAft>
              <a:defRPr sz="1600" b="0">
                <a:solidFill>
                  <a:srgbClr val="EFF6FB"/>
                </a:solidFill>
                <a:latin typeface="DejaVu Sans"/>
              </a:defRPr>
            </a:pPr>
            <a:r>
              <a:t>aircraft and GCS.</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15 / RESPONSIBLE OPERATIONS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Safety, cyber resilience and regulation</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40</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Flight safety</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Weather limits, terrain</a:t>
            </a:r>
          </a:p>
          <a:p>
            <a:pPr>
              <a:lnSpc>
                <a:spcPct val="112000"/>
              </a:lnSpc>
              <a:spcAft>
                <a:spcPts val="0"/>
              </a:spcAft>
              <a:defRPr sz="1600" b="0">
                <a:solidFill>
                  <a:srgbClr val="EFF6FB"/>
                </a:solidFill>
                <a:latin typeface="DejaVu Sans"/>
              </a:defRPr>
            </a:pPr>
            <a:r>
              <a:t>clearance, reserve energy,</a:t>
            </a:r>
          </a:p>
          <a:p>
            <a:pPr>
              <a:lnSpc>
                <a:spcPct val="112000"/>
              </a:lnSpc>
              <a:spcAft>
                <a:spcPts val="0"/>
              </a:spcAft>
              <a:defRPr sz="1600" b="0">
                <a:solidFill>
                  <a:srgbClr val="EFF6FB"/>
                </a:solidFill>
                <a:latin typeface="DejaVu Sans"/>
              </a:defRPr>
            </a:pPr>
            <a:r>
              <a:t>contingencies and collision-risk</a:t>
            </a:r>
          </a:p>
          <a:p>
            <a:pPr>
              <a:lnSpc>
                <a:spcPct val="112000"/>
              </a:lnSpc>
              <a:spcAft>
                <a:spcPts val="0"/>
              </a:spcAft>
              <a:defRPr sz="1600" b="0">
                <a:solidFill>
                  <a:srgbClr val="EFF6FB"/>
                </a:solidFill>
                <a:latin typeface="DejaVu Sans"/>
              </a:defRPr>
            </a:pPr>
            <a:r>
              <a:t>management.</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Cyber resilience</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Authenticated commands,</a:t>
            </a:r>
          </a:p>
          <a:p>
            <a:pPr>
              <a:lnSpc>
                <a:spcPct val="112000"/>
              </a:lnSpc>
              <a:spcAft>
                <a:spcPts val="0"/>
              </a:spcAft>
              <a:defRPr sz="1600" b="0">
                <a:solidFill>
                  <a:srgbClr val="EFF6FB"/>
                </a:solidFill>
                <a:latin typeface="DejaVu Sans"/>
              </a:defRPr>
            </a:pPr>
            <a:r>
              <a:t>controlled access, verified</a:t>
            </a:r>
          </a:p>
          <a:p>
            <a:pPr>
              <a:lnSpc>
                <a:spcPct val="112000"/>
              </a:lnSpc>
              <a:spcAft>
                <a:spcPts val="0"/>
              </a:spcAft>
              <a:defRPr sz="1600" b="0">
                <a:solidFill>
                  <a:srgbClr val="EFF6FB"/>
                </a:solidFill>
                <a:latin typeface="DejaVu Sans"/>
              </a:defRPr>
            </a:pPr>
            <a:r>
              <a:t>updates, protected keys and</a:t>
            </a:r>
          </a:p>
          <a:p>
            <a:pPr>
              <a:lnSpc>
                <a:spcPct val="112000"/>
              </a:lnSpc>
              <a:spcAft>
                <a:spcPts val="0"/>
              </a:spcAft>
              <a:defRPr sz="1600" b="0">
                <a:solidFill>
                  <a:srgbClr val="EFF6FB"/>
                </a:solidFill>
                <a:latin typeface="DejaVu Sans"/>
              </a:defRPr>
            </a:pPr>
            <a:r>
              <a:t>trustworthy logs.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Legal + social duties</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Airspace permissions, operator</a:t>
            </a:r>
          </a:p>
          <a:p>
            <a:pPr>
              <a:lnSpc>
                <a:spcPct val="112000"/>
              </a:lnSpc>
              <a:spcAft>
                <a:spcPts val="0"/>
              </a:spcAft>
              <a:defRPr sz="1600" b="0">
                <a:solidFill>
                  <a:srgbClr val="EFF6FB"/>
                </a:solidFill>
                <a:latin typeface="DejaVu Sans"/>
              </a:defRPr>
            </a:pPr>
            <a:r>
              <a:t>responsibilities, privacy and</a:t>
            </a:r>
          </a:p>
          <a:p>
            <a:pPr>
              <a:lnSpc>
                <a:spcPct val="112000"/>
              </a:lnSpc>
              <a:spcAft>
                <a:spcPts val="0"/>
              </a:spcAft>
              <a:defRPr sz="1600" b="0">
                <a:solidFill>
                  <a:srgbClr val="EFF6FB"/>
                </a:solidFill>
                <a:latin typeface="DejaVu Sans"/>
              </a:defRPr>
            </a:pPr>
            <a:r>
              <a:t>responsible data handling.</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16 / BROADER ECOSYSTEM</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Small UAVs: the same architecture, tighter budgets</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41</a:t>
            </a:r>
          </a:p>
        </p:txBody>
      </p:sp>
      <p:pic>
        <p:nvPicPr>
          <p:cNvPr id="62" name="Picture 61" descr="SLM-UAV_compatible.png"/>
          <p:cNvPicPr>
            <a:picLocks noChangeAspect="1"/>
          </p:cNvPicPr>
          <p:nvPr/>
        </p:nvPicPr>
        <p:blipFill>
          <a:blip r:embed="rId3"/>
          <a:stretch>
            <a:fillRect/>
          </a:stretch>
        </p:blipFill>
        <p:spPr>
          <a:xfrm>
            <a:off x="411480" y="2388298"/>
            <a:ext cx="6583679" cy="3590163"/>
          </a:xfrm>
          <a:prstGeom prst="rect">
            <a:avLst/>
          </a:prstGeom>
        </p:spPr>
      </p:pic>
      <p:sp>
        <p:nvSpPr>
          <p:cNvPr id="63" name="TextBox 62"/>
          <p:cNvSpPr txBox="1"/>
          <p:nvPr/>
        </p:nvSpPr>
        <p:spPr>
          <a:xfrm>
            <a:off x="7315200" y="2450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Different scale</a:t>
            </a:r>
          </a:p>
        </p:txBody>
      </p:sp>
      <p:sp>
        <p:nvSpPr>
          <p:cNvPr id="64" name="TextBox 63"/>
          <p:cNvSpPr txBox="1"/>
          <p:nvPr/>
        </p:nvSpPr>
        <p:spPr>
          <a:xfrm>
            <a:off x="7315200" y="2862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Smaller systems compress avionics, energy and</a:t>
            </a:r>
          </a:p>
          <a:p>
            <a:pPr>
              <a:lnSpc>
                <a:spcPct val="112000"/>
              </a:lnSpc>
              <a:spcAft>
                <a:spcPts val="0"/>
              </a:spcAft>
              <a:defRPr sz="1300" b="0">
                <a:solidFill>
                  <a:srgbClr val="EFF6FB"/>
                </a:solidFill>
                <a:latin typeface="DejaVu Sans"/>
              </a:defRPr>
            </a:pPr>
            <a:r>
              <a:t>payload into limited volume.</a:t>
            </a:r>
          </a:p>
        </p:txBody>
      </p:sp>
      <p:sp>
        <p:nvSpPr>
          <p:cNvPr id="65" name="TextBox 64"/>
          <p:cNvSpPr txBox="1"/>
          <p:nvPr/>
        </p:nvSpPr>
        <p:spPr>
          <a:xfrm>
            <a:off x="7315200" y="3593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Similar interfaces</a:t>
            </a:r>
          </a:p>
        </p:txBody>
      </p:sp>
      <p:sp>
        <p:nvSpPr>
          <p:cNvPr id="66" name="TextBox 65"/>
          <p:cNvSpPr txBox="1"/>
          <p:nvPr/>
        </p:nvSpPr>
        <p:spPr>
          <a:xfrm>
            <a:off x="7315200" y="4005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Control, navigation, power, payload and ground</a:t>
            </a:r>
          </a:p>
          <a:p>
            <a:pPr>
              <a:lnSpc>
                <a:spcPct val="112000"/>
              </a:lnSpc>
              <a:spcAft>
                <a:spcPts val="0"/>
              </a:spcAft>
              <a:defRPr sz="1300" b="0">
                <a:solidFill>
                  <a:srgbClr val="EFF6FB"/>
                </a:solidFill>
                <a:latin typeface="DejaVu Sans"/>
              </a:defRPr>
            </a:pPr>
            <a:r>
              <a:t>communication remain coupled.</a:t>
            </a:r>
          </a:p>
        </p:txBody>
      </p:sp>
      <p:sp>
        <p:nvSpPr>
          <p:cNvPr id="67" name="TextBox 66"/>
          <p:cNvSpPr txBox="1"/>
          <p:nvPr/>
        </p:nvSpPr>
        <p:spPr>
          <a:xfrm>
            <a:off x="7315200" y="4736592"/>
            <a:ext cx="4297680" cy="384048"/>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Careful identification</a:t>
            </a:r>
          </a:p>
        </p:txBody>
      </p:sp>
      <p:sp>
        <p:nvSpPr>
          <p:cNvPr id="68" name="TextBox 67"/>
          <p:cNvSpPr txBox="1"/>
          <p:nvPr/>
        </p:nvSpPr>
        <p:spPr>
          <a:xfrm>
            <a:off x="7315200" y="5148072"/>
            <a:ext cx="4297680" cy="640080"/>
          </a:xfrm>
          <a:prstGeom prst="rect">
            <a:avLst/>
          </a:prstGeom>
          <a:noFill/>
        </p:spPr>
        <p:txBody>
          <a:bodyPr wrap="square" lIns="0" rIns="0" tIns="0" bIns="0">
            <a:spAutoFit/>
          </a:bodyPr>
          <a:lstStyle/>
          <a:p>
            <a:pPr>
              <a:lnSpc>
                <a:spcPct val="112000"/>
              </a:lnSpc>
              <a:spcAft>
                <a:spcPts val="0"/>
              </a:spcAft>
              <a:defRPr sz="1300" b="0">
                <a:solidFill>
                  <a:srgbClr val="EFF6FB"/>
                </a:solidFill>
                <a:latin typeface="DejaVu Sans"/>
              </a:defRPr>
            </a:pPr>
            <a:r>
              <a:t>SLM-UAV is the supplied asset label; capabilities</a:t>
            </a:r>
          </a:p>
          <a:p>
            <a:pPr>
              <a:lnSpc>
                <a:spcPct val="112000"/>
              </a:lnSpc>
              <a:spcAft>
                <a:spcPts val="0"/>
              </a:spcAft>
              <a:defRPr sz="1300" b="0">
                <a:solidFill>
                  <a:srgbClr val="EFF6FB"/>
                </a:solidFill>
                <a:latin typeface="DejaVu Sans"/>
              </a:defRPr>
            </a:pPr>
            <a:r>
              <a:t>are not inferred.</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16 / BROADER ECOSYSTEM</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Civil applications turn flight into useful data</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42</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Infrastructure</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Inspect power lines, bridges,</a:t>
            </a:r>
          </a:p>
          <a:p>
            <a:pPr>
              <a:lnSpc>
                <a:spcPct val="112000"/>
              </a:lnSpc>
              <a:spcAft>
                <a:spcPts val="0"/>
              </a:spcAft>
              <a:defRPr sz="1600" b="0">
                <a:solidFill>
                  <a:srgbClr val="EFF6FB"/>
                </a:solidFill>
                <a:latin typeface="DejaVu Sans"/>
              </a:defRPr>
            </a:pPr>
            <a:r>
              <a:t>roofs and industrial assets.</a:t>
            </a:r>
          </a:p>
          <a:p>
            <a:pPr>
              <a:lnSpc>
                <a:spcPct val="112000"/>
              </a:lnSpc>
              <a:spcAft>
                <a:spcPts val="0"/>
              </a:spcAft>
              <a:defRPr sz="1600" b="0">
                <a:solidFill>
                  <a:srgbClr val="EFF6FB"/>
                </a:solidFill>
                <a:latin typeface="DejaVu Sans"/>
              </a:defRPr>
            </a:pPr>
            <a:r>
              <a:t>Sensor choice determines</a:t>
            </a:r>
          </a:p>
          <a:p>
            <a:pPr>
              <a:lnSpc>
                <a:spcPct val="112000"/>
              </a:lnSpc>
              <a:spcAft>
                <a:spcPts val="0"/>
              </a:spcAft>
              <a:defRPr sz="1600" b="0">
                <a:solidFill>
                  <a:srgbClr val="EFF6FB"/>
                </a:solidFill>
                <a:latin typeface="DejaVu Sans"/>
              </a:defRPr>
            </a:pPr>
            <a:r>
              <a:t>useful defect visibility.</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Land + environment</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Map terrain, monitor crops,</a:t>
            </a:r>
          </a:p>
          <a:p>
            <a:pPr>
              <a:lnSpc>
                <a:spcPct val="112000"/>
              </a:lnSpc>
              <a:spcAft>
                <a:spcPts val="0"/>
              </a:spcAft>
              <a:defRPr sz="1600" b="0">
                <a:solidFill>
                  <a:srgbClr val="EFF6FB"/>
                </a:solidFill>
                <a:latin typeface="DejaVu Sans"/>
              </a:defRPr>
            </a:pPr>
            <a:r>
              <a:t>assess forests and support</a:t>
            </a:r>
          </a:p>
          <a:p>
            <a:pPr>
              <a:lnSpc>
                <a:spcPct val="112000"/>
              </a:lnSpc>
              <a:spcAft>
                <a:spcPts val="0"/>
              </a:spcAft>
              <a:defRPr sz="1600" b="0">
                <a:solidFill>
                  <a:srgbClr val="EFF6FB"/>
                </a:solidFill>
                <a:latin typeface="DejaVu Sans"/>
              </a:defRPr>
            </a:pPr>
            <a:r>
              <a:t>disaster-response situational</a:t>
            </a:r>
          </a:p>
          <a:p>
            <a:pPr>
              <a:lnSpc>
                <a:spcPct val="112000"/>
              </a:lnSpc>
              <a:spcAft>
                <a:spcPts val="0"/>
              </a:spcAft>
              <a:defRPr sz="1600" b="0">
                <a:solidFill>
                  <a:srgbClr val="EFF6FB"/>
                </a:solidFill>
                <a:latin typeface="DejaVu Sans"/>
              </a:defRPr>
            </a:pPr>
            <a:r>
              <a:t>awareness.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Logistics + science</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Carry approved payloads or</a:t>
            </a:r>
          </a:p>
          <a:p>
            <a:pPr>
              <a:lnSpc>
                <a:spcPct val="112000"/>
              </a:lnSpc>
              <a:spcAft>
                <a:spcPts val="0"/>
              </a:spcAft>
              <a:defRPr sz="1600" b="0">
                <a:solidFill>
                  <a:srgbClr val="EFF6FB"/>
                </a:solidFill>
                <a:latin typeface="DejaVu Sans"/>
              </a:defRPr>
            </a:pPr>
            <a:r>
              <a:t>sample the atmosphere.</a:t>
            </a:r>
          </a:p>
          <a:p>
            <a:pPr>
              <a:lnSpc>
                <a:spcPct val="112000"/>
              </a:lnSpc>
              <a:spcAft>
                <a:spcPts val="0"/>
              </a:spcAft>
              <a:defRPr sz="1600" b="0">
                <a:solidFill>
                  <a:srgbClr val="EFF6FB"/>
                </a:solidFill>
                <a:latin typeface="DejaVu Sans"/>
              </a:defRPr>
            </a:pPr>
            <a:r>
              <a:t>Reliability, access and</a:t>
            </a:r>
          </a:p>
          <a:p>
            <a:pPr>
              <a:lnSpc>
                <a:spcPct val="112000"/>
              </a:lnSpc>
              <a:spcAft>
                <a:spcPts val="0"/>
              </a:spcAft>
              <a:defRPr sz="1600" b="0">
                <a:solidFill>
                  <a:srgbClr val="EFF6FB"/>
                </a:solidFill>
                <a:latin typeface="DejaVu Sans"/>
              </a:defRPr>
            </a:pPr>
            <a:r>
              <a:t>operating approvals shape</a:t>
            </a:r>
          </a:p>
          <a:p>
            <a:pPr>
              <a:lnSpc>
                <a:spcPct val="112000"/>
              </a:lnSpc>
              <a:spcAft>
                <a:spcPts val="0"/>
              </a:spcAft>
              <a:defRPr sz="1600" b="0">
                <a:solidFill>
                  <a:srgbClr val="EFF6FB"/>
                </a:solidFill>
                <a:latin typeface="DejaVu Sans"/>
              </a:defRPr>
            </a:pPr>
            <a:r>
              <a:t>feasibility.</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17 / FUTURE</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The future: more autonomy, more assurance</a:t>
            </a:r>
          </a:p>
        </p:txBody>
      </p:sp>
      <p:cxnSp>
        <p:nvCxnSpPr>
          <p:cNvPr id="59" name="Connector 58"/>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1" name="TextBox 60"/>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43</a:t>
            </a:r>
          </a:p>
        </p:txBody>
      </p:sp>
      <p:sp>
        <p:nvSpPr>
          <p:cNvPr id="62" name="Rectangle 61"/>
          <p:cNvSpPr/>
          <p:nvPr/>
        </p:nvSpPr>
        <p:spPr>
          <a:xfrm>
            <a:off x="50292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01</a:t>
            </a:r>
          </a:p>
        </p:txBody>
      </p:sp>
      <p:sp>
        <p:nvSpPr>
          <p:cNvPr id="64" name="TextBox 63"/>
          <p:cNvSpPr txBox="1"/>
          <p:nvPr/>
        </p:nvSpPr>
        <p:spPr>
          <a:xfrm>
            <a:off x="68580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Onboard perception</a:t>
            </a:r>
          </a:p>
        </p:txBody>
      </p:sp>
      <p:sp>
        <p:nvSpPr>
          <p:cNvPr id="65" name="TextBox 64"/>
          <p:cNvSpPr txBox="1"/>
          <p:nvPr/>
        </p:nvSpPr>
        <p:spPr>
          <a:xfrm>
            <a:off x="68580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Vision and other sensors</a:t>
            </a:r>
          </a:p>
          <a:p>
            <a:pPr>
              <a:lnSpc>
                <a:spcPct val="112000"/>
              </a:lnSpc>
              <a:spcAft>
                <a:spcPts val="0"/>
              </a:spcAft>
              <a:defRPr sz="1600" b="0">
                <a:solidFill>
                  <a:srgbClr val="EFF6FB"/>
                </a:solidFill>
                <a:latin typeface="DejaVu Sans"/>
              </a:defRPr>
            </a:pPr>
            <a:r>
              <a:t>support inspection, navigation</a:t>
            </a:r>
          </a:p>
          <a:p>
            <a:pPr>
              <a:lnSpc>
                <a:spcPct val="112000"/>
              </a:lnSpc>
              <a:spcAft>
                <a:spcPts val="0"/>
              </a:spcAft>
              <a:defRPr sz="1600" b="0">
                <a:solidFill>
                  <a:srgbClr val="EFF6FB"/>
                </a:solidFill>
                <a:latin typeface="DejaVu Sans"/>
              </a:defRPr>
            </a:pPr>
            <a:r>
              <a:t>assistance and obstacle</a:t>
            </a:r>
          </a:p>
          <a:p>
            <a:pPr>
              <a:lnSpc>
                <a:spcPct val="112000"/>
              </a:lnSpc>
              <a:spcAft>
                <a:spcPts val="0"/>
              </a:spcAft>
              <a:defRPr sz="1600" b="0">
                <a:solidFill>
                  <a:srgbClr val="EFF6FB"/>
                </a:solidFill>
                <a:latin typeface="DejaVu Sans"/>
              </a:defRPr>
            </a:pPr>
            <a:r>
              <a:t>awareness.</a:t>
            </a:r>
          </a:p>
        </p:txBody>
      </p:sp>
      <p:sp>
        <p:nvSpPr>
          <p:cNvPr id="66" name="Rectangle 65"/>
          <p:cNvSpPr/>
          <p:nvPr/>
        </p:nvSpPr>
        <p:spPr>
          <a:xfrm>
            <a:off x="429768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02</a:t>
            </a:r>
          </a:p>
        </p:txBody>
      </p:sp>
      <p:sp>
        <p:nvSpPr>
          <p:cNvPr id="68" name="TextBox 67"/>
          <p:cNvSpPr txBox="1"/>
          <p:nvPr/>
        </p:nvSpPr>
        <p:spPr>
          <a:xfrm>
            <a:off x="448056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Energy + architecture</a:t>
            </a:r>
          </a:p>
        </p:txBody>
      </p:sp>
      <p:sp>
        <p:nvSpPr>
          <p:cNvPr id="69" name="TextBox 68"/>
          <p:cNvSpPr txBox="1"/>
          <p:nvPr/>
        </p:nvSpPr>
        <p:spPr>
          <a:xfrm>
            <a:off x="448056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Improved storage, hybrid</a:t>
            </a:r>
          </a:p>
          <a:p>
            <a:pPr>
              <a:lnSpc>
                <a:spcPct val="112000"/>
              </a:lnSpc>
              <a:spcAft>
                <a:spcPts val="0"/>
              </a:spcAft>
              <a:defRPr sz="1600" b="0">
                <a:solidFill>
                  <a:srgbClr val="EFF6FB"/>
                </a:solidFill>
                <a:latin typeface="DejaVu Sans"/>
              </a:defRPr>
            </a:pPr>
            <a:r>
              <a:t>power, efficient structures and</a:t>
            </a:r>
          </a:p>
          <a:p>
            <a:pPr>
              <a:lnSpc>
                <a:spcPct val="112000"/>
              </a:lnSpc>
              <a:spcAft>
                <a:spcPts val="0"/>
              </a:spcAft>
              <a:defRPr sz="1600" b="0">
                <a:solidFill>
                  <a:srgbClr val="EFF6FB"/>
                </a:solidFill>
                <a:latin typeface="DejaVu Sans"/>
              </a:defRPr>
            </a:pPr>
            <a:r>
              <a:t>tailored VTOL configurations.</a:t>
            </a:r>
          </a:p>
        </p:txBody>
      </p:sp>
      <p:sp>
        <p:nvSpPr>
          <p:cNvPr id="70" name="Rectangle 69"/>
          <p:cNvSpPr/>
          <p:nvPr/>
        </p:nvSpPr>
        <p:spPr>
          <a:xfrm>
            <a:off x="8092440" y="2487168"/>
            <a:ext cx="3593592" cy="3383280"/>
          </a:xfrm>
          <a:prstGeom prst="rect">
            <a:avLst/>
          </a:prstGeom>
          <a:solidFill>
            <a:srgbClr val="10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5320" y="2651760"/>
            <a:ext cx="3227832" cy="320040"/>
          </a:xfrm>
          <a:prstGeom prst="rect">
            <a:avLst/>
          </a:prstGeom>
          <a:noFill/>
        </p:spPr>
        <p:txBody>
          <a:bodyPr wrap="square" lIns="0" rIns="0" tIns="0" bIns="0">
            <a:spAutoFit/>
          </a:bodyPr>
          <a:lstStyle/>
          <a:p>
            <a:pPr>
              <a:lnSpc>
                <a:spcPct val="112000"/>
              </a:lnSpc>
              <a:spcAft>
                <a:spcPts val="0"/>
              </a:spcAft>
              <a:defRPr sz="1100" b="1">
                <a:solidFill>
                  <a:srgbClr val="F6B75A"/>
                </a:solidFill>
                <a:latin typeface="DejaVu Sans"/>
              </a:defRPr>
            </a:pPr>
            <a:r>
              <a:t>03</a:t>
            </a:r>
          </a:p>
        </p:txBody>
      </p:sp>
      <p:sp>
        <p:nvSpPr>
          <p:cNvPr id="72" name="TextBox 71"/>
          <p:cNvSpPr txBox="1"/>
          <p:nvPr/>
        </p:nvSpPr>
        <p:spPr>
          <a:xfrm>
            <a:off x="8275320" y="3081528"/>
            <a:ext cx="3227832" cy="685800"/>
          </a:xfrm>
          <a:prstGeom prst="rect">
            <a:avLst/>
          </a:prstGeom>
          <a:noFill/>
        </p:spPr>
        <p:txBody>
          <a:bodyPr wrap="square" lIns="0" rIns="0" tIns="0" bIns="0">
            <a:spAutoFit/>
          </a:bodyPr>
          <a:lstStyle/>
          <a:p>
            <a:pPr>
              <a:lnSpc>
                <a:spcPct val="112000"/>
              </a:lnSpc>
              <a:spcAft>
                <a:spcPts val="0"/>
              </a:spcAft>
              <a:defRPr sz="2000" b="1">
                <a:solidFill>
                  <a:srgbClr val="4EDFE3"/>
                </a:solidFill>
                <a:latin typeface="DejaVu Sans"/>
              </a:defRPr>
            </a:pPr>
            <a:r>
              <a:t>Airspace integration</a:t>
            </a:r>
          </a:p>
        </p:txBody>
      </p:sp>
      <p:sp>
        <p:nvSpPr>
          <p:cNvPr id="73" name="TextBox 72"/>
          <p:cNvSpPr txBox="1"/>
          <p:nvPr/>
        </p:nvSpPr>
        <p:spPr>
          <a:xfrm>
            <a:off x="8275320" y="3813048"/>
            <a:ext cx="3227832" cy="1965960"/>
          </a:xfrm>
          <a:prstGeom prst="rect">
            <a:avLst/>
          </a:prstGeom>
          <a:noFill/>
        </p:spPr>
        <p:txBody>
          <a:bodyPr wrap="square" lIns="0" rIns="0" tIns="0" bIns="0">
            <a:spAutoFit/>
          </a:bodyPr>
          <a:lstStyle/>
          <a:p>
            <a:pPr>
              <a:lnSpc>
                <a:spcPct val="112000"/>
              </a:lnSpc>
              <a:spcAft>
                <a:spcPts val="0"/>
              </a:spcAft>
              <a:defRPr sz="1600" b="0">
                <a:solidFill>
                  <a:srgbClr val="EFF6FB"/>
                </a:solidFill>
                <a:latin typeface="DejaVu Sans"/>
              </a:defRPr>
            </a:pPr>
            <a:r>
              <a:t>Remote identification, traffic</a:t>
            </a:r>
          </a:p>
          <a:p>
            <a:pPr>
              <a:lnSpc>
                <a:spcPct val="112000"/>
              </a:lnSpc>
              <a:spcAft>
                <a:spcPts val="0"/>
              </a:spcAft>
              <a:defRPr sz="1600" b="0">
                <a:solidFill>
                  <a:srgbClr val="EFF6FB"/>
                </a:solidFill>
                <a:latin typeface="DejaVu Sans"/>
              </a:defRPr>
            </a:pPr>
            <a:r>
              <a:t>services and detect-and-avoid</a:t>
            </a:r>
          </a:p>
          <a:p>
            <a:pPr>
              <a:lnSpc>
                <a:spcPct val="112000"/>
              </a:lnSpc>
              <a:spcAft>
                <a:spcPts val="0"/>
              </a:spcAft>
              <a:defRPr sz="1600" b="0">
                <a:solidFill>
                  <a:srgbClr val="EFF6FB"/>
                </a:solidFill>
                <a:latin typeface="DejaVu Sans"/>
              </a:defRPr>
            </a:pPr>
            <a:r>
              <a:t>capabilities must be validated</a:t>
            </a:r>
          </a:p>
          <a:p>
            <a:pPr>
              <a:lnSpc>
                <a:spcPct val="112000"/>
              </a:lnSpc>
              <a:spcAft>
                <a:spcPts val="0"/>
              </a:spcAft>
              <a:defRPr sz="1600" b="0">
                <a:solidFill>
                  <a:srgbClr val="EFF6FB"/>
                </a:solidFill>
                <a:latin typeface="DejaVu Sans"/>
              </a:defRPr>
            </a:pPr>
            <a:r>
              <a:t>together.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18 / SYNTHESIS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 UAV is an integrated chain of decisions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Structure supports the mission; onboard control keeps flight stable; links connect people and data.</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44</a:t>
            </a:r>
          </a:p>
        </p:txBody>
      </p:sp>
      <p:pic>
        <p:nvPicPr>
          <p:cNvPr id="63" name="Picture 62" descr="ARCHER.png"/>
          <p:cNvPicPr>
            <a:picLocks noChangeAspect="1"/>
          </p:cNvPicPr>
          <p:nvPr/>
        </p:nvPicPr>
        <p:blipFill>
          <a:blip r:embed="rId3"/>
          <a:stretch>
            <a:fillRect/>
          </a:stretch>
        </p:blipFill>
        <p:spPr>
          <a:xfrm>
            <a:off x="1393527" y="2514600"/>
            <a:ext cx="5076784" cy="3108960"/>
          </a:xfrm>
          <a:prstGeom prst="rect">
            <a:avLst/>
          </a:prstGeom>
        </p:spPr>
      </p:pic>
      <p:sp>
        <p:nvSpPr>
          <p:cNvPr id="64" name="TextBox 63"/>
          <p:cNvSpPr txBox="1"/>
          <p:nvPr/>
        </p:nvSpPr>
        <p:spPr>
          <a:xfrm>
            <a:off x="7589520" y="2560320"/>
            <a:ext cx="3977639" cy="365760"/>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AIRCRAFT</a:t>
            </a:r>
          </a:p>
        </p:txBody>
      </p:sp>
      <p:sp>
        <p:nvSpPr>
          <p:cNvPr id="65" name="TextBox 64"/>
          <p:cNvSpPr txBox="1"/>
          <p:nvPr/>
        </p:nvSpPr>
        <p:spPr>
          <a:xfrm>
            <a:off x="7589520" y="2971800"/>
            <a:ext cx="3977639"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Structure + propulsion + flight control</a:t>
            </a:r>
          </a:p>
        </p:txBody>
      </p:sp>
      <p:sp>
        <p:nvSpPr>
          <p:cNvPr id="66" name="TextBox 65"/>
          <p:cNvSpPr txBox="1"/>
          <p:nvPr/>
        </p:nvSpPr>
        <p:spPr>
          <a:xfrm>
            <a:off x="7589520" y="3630168"/>
            <a:ext cx="3977639" cy="365760"/>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CONNECTIVITY</a:t>
            </a:r>
          </a:p>
        </p:txBody>
      </p:sp>
      <p:sp>
        <p:nvSpPr>
          <p:cNvPr id="67" name="TextBox 66"/>
          <p:cNvSpPr txBox="1"/>
          <p:nvPr/>
        </p:nvSpPr>
        <p:spPr>
          <a:xfrm>
            <a:off x="7589520" y="4041648"/>
            <a:ext cx="3977639"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Datalink + antenna + ground terminals</a:t>
            </a:r>
          </a:p>
        </p:txBody>
      </p:sp>
      <p:sp>
        <p:nvSpPr>
          <p:cNvPr id="68" name="TextBox 67"/>
          <p:cNvSpPr txBox="1"/>
          <p:nvPr/>
        </p:nvSpPr>
        <p:spPr>
          <a:xfrm>
            <a:off x="7589520" y="4700016"/>
            <a:ext cx="3977639" cy="365760"/>
          </a:xfrm>
          <a:prstGeom prst="rect">
            <a:avLst/>
          </a:prstGeom>
          <a:noFill/>
        </p:spPr>
        <p:txBody>
          <a:bodyPr wrap="square" lIns="0" rIns="0" tIns="0" bIns="0">
            <a:spAutoFit/>
          </a:bodyPr>
          <a:lstStyle/>
          <a:p>
            <a:pPr>
              <a:lnSpc>
                <a:spcPct val="112000"/>
              </a:lnSpc>
              <a:spcAft>
                <a:spcPts val="0"/>
              </a:spcAft>
              <a:defRPr sz="1700" b="1">
                <a:solidFill>
                  <a:srgbClr val="4EDFE3"/>
                </a:solidFill>
                <a:latin typeface="DejaVu Sans"/>
              </a:defRPr>
            </a:pPr>
            <a:r>
              <a:t>MISSION SYSTEM</a:t>
            </a:r>
          </a:p>
        </p:txBody>
      </p:sp>
      <p:sp>
        <p:nvSpPr>
          <p:cNvPr id="69" name="TextBox 68"/>
          <p:cNvSpPr txBox="1"/>
          <p:nvPr/>
        </p:nvSpPr>
        <p:spPr>
          <a:xfrm>
            <a:off x="7589520" y="5111496"/>
            <a:ext cx="3977639" cy="640080"/>
          </a:xfrm>
          <a:prstGeom prst="rect">
            <a:avLst/>
          </a:prstGeom>
          <a:noFill/>
        </p:spPr>
        <p:txBody>
          <a:bodyPr wrap="square" lIns="0" rIns="0" tIns="0" bIns="0">
            <a:spAutoFit/>
          </a:bodyPr>
          <a:lstStyle/>
          <a:p>
            <a:pPr>
              <a:lnSpc>
                <a:spcPct val="112000"/>
              </a:lnSpc>
              <a:spcAft>
                <a:spcPts val="0"/>
              </a:spcAft>
              <a:defRPr sz="1400" b="0">
                <a:solidFill>
                  <a:srgbClr val="EFF6FB"/>
                </a:solidFill>
                <a:latin typeface="DejaVu Sans"/>
              </a:defRPr>
            </a:pPr>
            <a:r>
              <a:t>Payload + crew + maintenance +</a:t>
            </a:r>
          </a:p>
          <a:p>
            <a:pPr>
              <a:lnSpc>
                <a:spcPct val="112000"/>
              </a:lnSpc>
              <a:spcAft>
                <a:spcPts val="0"/>
              </a:spcAft>
              <a:defRPr sz="1400" b="0">
                <a:solidFill>
                  <a:srgbClr val="EFF6FB"/>
                </a:solidFill>
                <a:latin typeface="DejaVu Sans"/>
              </a:defRPr>
            </a:pPr>
            <a:r>
              <a:t>assurance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APPENDIX A</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Glossary: the terms behind the diagrams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Acronyms used throughout this presentation</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45</a:t>
            </a:r>
          </a:p>
        </p:txBody>
      </p:sp>
      <p:sp>
        <p:nvSpPr>
          <p:cNvPr id="63" name="TextBox 62"/>
          <p:cNvSpPr txBox="1"/>
          <p:nvPr/>
        </p:nvSpPr>
        <p:spPr>
          <a:xfrm>
            <a:off x="685800" y="2377440"/>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UAV / UAS</a:t>
            </a:r>
          </a:p>
        </p:txBody>
      </p:sp>
      <p:sp>
        <p:nvSpPr>
          <p:cNvPr id="64" name="TextBox 63"/>
          <p:cNvSpPr txBox="1"/>
          <p:nvPr/>
        </p:nvSpPr>
        <p:spPr>
          <a:xfrm>
            <a:off x="3840480" y="2377440"/>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Unmanned aerial vehicle / system</a:t>
            </a:r>
          </a:p>
        </p:txBody>
      </p:sp>
      <p:sp>
        <p:nvSpPr>
          <p:cNvPr id="65" name="TextBox 64"/>
          <p:cNvSpPr txBox="1"/>
          <p:nvPr/>
        </p:nvSpPr>
        <p:spPr>
          <a:xfrm>
            <a:off x="685800" y="2734056"/>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RPA / RPAS</a:t>
            </a:r>
          </a:p>
        </p:txBody>
      </p:sp>
      <p:sp>
        <p:nvSpPr>
          <p:cNvPr id="66" name="TextBox 65"/>
          <p:cNvSpPr txBox="1"/>
          <p:nvPr/>
        </p:nvSpPr>
        <p:spPr>
          <a:xfrm>
            <a:off x="3840480" y="2734056"/>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Remotely piloted aircraft / system</a:t>
            </a:r>
          </a:p>
        </p:txBody>
      </p:sp>
      <p:sp>
        <p:nvSpPr>
          <p:cNvPr id="67" name="TextBox 66"/>
          <p:cNvSpPr txBox="1"/>
          <p:nvPr/>
        </p:nvSpPr>
        <p:spPr>
          <a:xfrm>
            <a:off x="685800" y="3090672"/>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FCC / LRU</a:t>
            </a:r>
          </a:p>
        </p:txBody>
      </p:sp>
      <p:sp>
        <p:nvSpPr>
          <p:cNvPr id="68" name="TextBox 67"/>
          <p:cNvSpPr txBox="1"/>
          <p:nvPr/>
        </p:nvSpPr>
        <p:spPr>
          <a:xfrm>
            <a:off x="3840480" y="3090672"/>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Flight control computer / line-replaceable unit</a:t>
            </a:r>
          </a:p>
        </p:txBody>
      </p:sp>
      <p:sp>
        <p:nvSpPr>
          <p:cNvPr id="69" name="TextBox 68"/>
          <p:cNvSpPr txBox="1"/>
          <p:nvPr/>
        </p:nvSpPr>
        <p:spPr>
          <a:xfrm>
            <a:off x="685800" y="3447288"/>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GCS / GDT / SDT</a:t>
            </a:r>
          </a:p>
        </p:txBody>
      </p:sp>
      <p:sp>
        <p:nvSpPr>
          <p:cNvPr id="70" name="TextBox 69"/>
          <p:cNvSpPr txBox="1"/>
          <p:nvPr/>
        </p:nvSpPr>
        <p:spPr>
          <a:xfrm>
            <a:off x="3840480" y="3447288"/>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Ground control / ground data / satellite data terminal</a:t>
            </a:r>
          </a:p>
        </p:txBody>
      </p:sp>
      <p:sp>
        <p:nvSpPr>
          <p:cNvPr id="71" name="TextBox 70"/>
          <p:cNvSpPr txBox="1"/>
          <p:nvPr/>
        </p:nvSpPr>
        <p:spPr>
          <a:xfrm>
            <a:off x="685800" y="3803904"/>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IMU / INS / GNSS</a:t>
            </a:r>
          </a:p>
        </p:txBody>
      </p:sp>
      <p:sp>
        <p:nvSpPr>
          <p:cNvPr id="72" name="TextBox 71"/>
          <p:cNvSpPr txBox="1"/>
          <p:nvPr/>
        </p:nvSpPr>
        <p:spPr>
          <a:xfrm>
            <a:off x="3840480" y="3803904"/>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Inertial measurement unit / inertial navigation / satellite navigation</a:t>
            </a:r>
          </a:p>
        </p:txBody>
      </p:sp>
      <p:sp>
        <p:nvSpPr>
          <p:cNvPr id="73" name="TextBox 72"/>
          <p:cNvSpPr txBox="1"/>
          <p:nvPr/>
        </p:nvSpPr>
        <p:spPr>
          <a:xfrm>
            <a:off x="685800" y="4160520"/>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EO / IR</a:t>
            </a:r>
          </a:p>
        </p:txBody>
      </p:sp>
      <p:sp>
        <p:nvSpPr>
          <p:cNvPr id="74" name="TextBox 73"/>
          <p:cNvSpPr txBox="1"/>
          <p:nvPr/>
        </p:nvSpPr>
        <p:spPr>
          <a:xfrm>
            <a:off x="3840480" y="4160520"/>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Electro-optical / infrared</a:t>
            </a:r>
          </a:p>
        </p:txBody>
      </p:sp>
      <p:sp>
        <p:nvSpPr>
          <p:cNvPr id="75" name="TextBox 74"/>
          <p:cNvSpPr txBox="1"/>
          <p:nvPr/>
        </p:nvSpPr>
        <p:spPr>
          <a:xfrm>
            <a:off x="685800" y="4517136"/>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ECU / ESC</a:t>
            </a:r>
          </a:p>
        </p:txBody>
      </p:sp>
      <p:sp>
        <p:nvSpPr>
          <p:cNvPr id="76" name="TextBox 75"/>
          <p:cNvSpPr txBox="1"/>
          <p:nvPr/>
        </p:nvSpPr>
        <p:spPr>
          <a:xfrm>
            <a:off x="3840480" y="4517136"/>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Engine control unit / electronic speed controller</a:t>
            </a:r>
          </a:p>
        </p:txBody>
      </p:sp>
      <p:sp>
        <p:nvSpPr>
          <p:cNvPr id="77" name="TextBox 76"/>
          <p:cNvSpPr txBox="1"/>
          <p:nvPr/>
        </p:nvSpPr>
        <p:spPr>
          <a:xfrm>
            <a:off x="685800" y="4873752"/>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LOS / BLOS</a:t>
            </a:r>
          </a:p>
        </p:txBody>
      </p:sp>
      <p:sp>
        <p:nvSpPr>
          <p:cNvPr id="78" name="TextBox 77"/>
          <p:cNvSpPr txBox="1"/>
          <p:nvPr/>
        </p:nvSpPr>
        <p:spPr>
          <a:xfrm>
            <a:off x="3840480" y="4873752"/>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Line-of-sight / beyond-line-of-sight communications</a:t>
            </a:r>
          </a:p>
        </p:txBody>
      </p:sp>
      <p:sp>
        <p:nvSpPr>
          <p:cNvPr id="79" name="TextBox 78"/>
          <p:cNvSpPr txBox="1"/>
          <p:nvPr/>
        </p:nvSpPr>
        <p:spPr>
          <a:xfrm>
            <a:off x="685800" y="5230368"/>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VLOS / BVLOS</a:t>
            </a:r>
          </a:p>
        </p:txBody>
      </p:sp>
      <p:sp>
        <p:nvSpPr>
          <p:cNvPr id="80" name="TextBox 79"/>
          <p:cNvSpPr txBox="1"/>
          <p:nvPr/>
        </p:nvSpPr>
        <p:spPr>
          <a:xfrm>
            <a:off x="3840480" y="5230368"/>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Visual / beyond visual line-of-sight operations</a:t>
            </a:r>
          </a:p>
        </p:txBody>
      </p:sp>
      <p:sp>
        <p:nvSpPr>
          <p:cNvPr id="81" name="TextBox 80"/>
          <p:cNvSpPr txBox="1"/>
          <p:nvPr/>
        </p:nvSpPr>
        <p:spPr>
          <a:xfrm>
            <a:off x="685800" y="5586984"/>
            <a:ext cx="3017520" cy="292608"/>
          </a:xfrm>
          <a:prstGeom prst="rect">
            <a:avLst/>
          </a:prstGeom>
          <a:noFill/>
        </p:spPr>
        <p:txBody>
          <a:bodyPr wrap="square" lIns="0" rIns="0" tIns="0" bIns="0">
            <a:spAutoFit/>
          </a:bodyPr>
          <a:lstStyle/>
          <a:p>
            <a:pPr>
              <a:lnSpc>
                <a:spcPct val="112000"/>
              </a:lnSpc>
              <a:spcAft>
                <a:spcPts val="0"/>
              </a:spcAft>
              <a:defRPr sz="1100" b="1">
                <a:solidFill>
                  <a:srgbClr val="4EDFE3"/>
                </a:solidFill>
                <a:latin typeface="DejaVu Sans"/>
              </a:defRPr>
            </a:pPr>
            <a:r>
              <a:t>MALE / HALE</a:t>
            </a:r>
          </a:p>
        </p:txBody>
      </p:sp>
      <p:sp>
        <p:nvSpPr>
          <p:cNvPr id="82" name="TextBox 81"/>
          <p:cNvSpPr txBox="1"/>
          <p:nvPr/>
        </p:nvSpPr>
        <p:spPr>
          <a:xfrm>
            <a:off x="3840480" y="5586984"/>
            <a:ext cx="7589520" cy="292608"/>
          </a:xfrm>
          <a:prstGeom prst="rect">
            <a:avLst/>
          </a:prstGeom>
          <a:noFill/>
        </p:spPr>
        <p:txBody>
          <a:bodyPr wrap="square" lIns="0" rIns="0" tIns="0" bIns="0">
            <a:spAutoFit/>
          </a:bodyPr>
          <a:lstStyle/>
          <a:p>
            <a:pPr>
              <a:lnSpc>
                <a:spcPct val="112000"/>
              </a:lnSpc>
              <a:spcAft>
                <a:spcPts val="0"/>
              </a:spcAft>
              <a:defRPr sz="1100" b="0">
                <a:solidFill>
                  <a:srgbClr val="EFF6FB"/>
                </a:solidFill>
                <a:latin typeface="DejaVu Sans"/>
              </a:defRPr>
            </a:pPr>
            <a:r>
              <a:t>Medium / high altitude long endurance</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APPENDIX B / FURTHER READING</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Reference guide: history and Indian programmes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Official reference links • these sites were blocked by this session’s network policy</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46</a:t>
            </a:r>
          </a:p>
        </p:txBody>
      </p:sp>
      <p:sp>
        <p:nvSpPr>
          <p:cNvPr id="63" name="TextBox 62"/>
          <p:cNvSpPr txBox="1"/>
          <p:nvPr/>
        </p:nvSpPr>
        <p:spPr>
          <a:xfrm>
            <a:off x="685800" y="2423160"/>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National Museum of the U.S. Air Force</a:t>
            </a:r>
          </a:p>
        </p:txBody>
      </p:sp>
      <p:sp>
        <p:nvSpPr>
          <p:cNvPr id="64" name="TextBox 63"/>
          <p:cNvSpPr txBox="1"/>
          <p:nvPr/>
        </p:nvSpPr>
        <p:spPr>
          <a:xfrm>
            <a:off x="685800" y="2743200"/>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Kettering Bug and reconnaissance-drone history</a:t>
            </a:r>
          </a:p>
        </p:txBody>
      </p:sp>
      <p:sp>
        <p:nvSpPr>
          <p:cNvPr id="65" name="TextBox 64"/>
          <p:cNvSpPr txBox="1"/>
          <p:nvPr/>
        </p:nvSpPr>
        <p:spPr>
          <a:xfrm>
            <a:off x="8229600" y="2743200"/>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3"/>
              </a:rPr>
              <a:t>https://www.nationalmuseum.af.mil/</a:t>
            </a:r>
          </a:p>
        </p:txBody>
      </p:sp>
      <p:sp>
        <p:nvSpPr>
          <p:cNvPr id="66" name="TextBox 65"/>
          <p:cNvSpPr txBox="1"/>
          <p:nvPr/>
        </p:nvSpPr>
        <p:spPr>
          <a:xfrm>
            <a:off x="685800" y="3273552"/>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Imperial War Museums</a:t>
            </a:r>
          </a:p>
        </p:txBody>
      </p:sp>
      <p:sp>
        <p:nvSpPr>
          <p:cNvPr id="67" name="TextBox 66"/>
          <p:cNvSpPr txBox="1"/>
          <p:nvPr/>
        </p:nvSpPr>
        <p:spPr>
          <a:xfrm>
            <a:off x="685800" y="3593592"/>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Early British target aircraft and drone history</a:t>
            </a:r>
          </a:p>
        </p:txBody>
      </p:sp>
      <p:sp>
        <p:nvSpPr>
          <p:cNvPr id="68" name="TextBox 67"/>
          <p:cNvSpPr txBox="1"/>
          <p:nvPr/>
        </p:nvSpPr>
        <p:spPr>
          <a:xfrm>
            <a:off x="8229600" y="3593592"/>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4"/>
              </a:rPr>
              <a:t>https://www.iwm.org.uk/</a:t>
            </a:r>
          </a:p>
        </p:txBody>
      </p:sp>
      <p:sp>
        <p:nvSpPr>
          <p:cNvPr id="69" name="TextBox 68"/>
          <p:cNvSpPr txBox="1"/>
          <p:nvPr/>
        </p:nvSpPr>
        <p:spPr>
          <a:xfrm>
            <a:off x="685800" y="4123944"/>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DRDO / Aeronautical Development Establishment</a:t>
            </a:r>
          </a:p>
        </p:txBody>
      </p:sp>
      <p:sp>
        <p:nvSpPr>
          <p:cNvPr id="70" name="TextBox 69"/>
          <p:cNvSpPr txBox="1"/>
          <p:nvPr/>
        </p:nvSpPr>
        <p:spPr>
          <a:xfrm>
            <a:off x="685800" y="4443983"/>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Lakshya, Nishant, Rustom / TAPAS, ABHYAS and demonstrators</a:t>
            </a:r>
          </a:p>
        </p:txBody>
      </p:sp>
      <p:sp>
        <p:nvSpPr>
          <p:cNvPr id="71" name="TextBox 70"/>
          <p:cNvSpPr txBox="1"/>
          <p:nvPr/>
        </p:nvSpPr>
        <p:spPr>
          <a:xfrm>
            <a:off x="8229600" y="4443983"/>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5"/>
              </a:rPr>
              <a:t>https://www.drdo.gov.in/</a:t>
            </a:r>
          </a:p>
        </p:txBody>
      </p:sp>
      <p:sp>
        <p:nvSpPr>
          <p:cNvPr id="72" name="TextBox 71"/>
          <p:cNvSpPr txBox="1"/>
          <p:nvPr/>
        </p:nvSpPr>
        <p:spPr>
          <a:xfrm>
            <a:off x="685800" y="4974336"/>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Ministry of Defence / Press Information Bureau</a:t>
            </a:r>
          </a:p>
        </p:txBody>
      </p:sp>
      <p:sp>
        <p:nvSpPr>
          <p:cNvPr id="73" name="TextBox 72"/>
          <p:cNvSpPr txBox="1"/>
          <p:nvPr/>
        </p:nvSpPr>
        <p:spPr>
          <a:xfrm>
            <a:off x="685800" y="5294375"/>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Dated Indian programme announcements and trial reports</a:t>
            </a:r>
          </a:p>
        </p:txBody>
      </p:sp>
      <p:sp>
        <p:nvSpPr>
          <p:cNvPr id="74" name="TextBox 73"/>
          <p:cNvSpPr txBox="1"/>
          <p:nvPr/>
        </p:nvSpPr>
        <p:spPr>
          <a:xfrm>
            <a:off x="8229600" y="5294375"/>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6"/>
              </a:rPr>
              <a:t>https://pib.gov.in/</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APPENDIX B / FURTHER READING</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Reference guide: engineering and operating rules</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Verify current rules and aircraft-specific limits before any real operation</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47</a:t>
            </a:r>
          </a:p>
        </p:txBody>
      </p:sp>
      <p:sp>
        <p:nvSpPr>
          <p:cNvPr id="63" name="TextBox 62"/>
          <p:cNvSpPr txBox="1"/>
          <p:nvPr/>
        </p:nvSpPr>
        <p:spPr>
          <a:xfrm>
            <a:off x="685800" y="2423160"/>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NASA aeronautics education</a:t>
            </a:r>
          </a:p>
        </p:txBody>
      </p:sp>
      <p:sp>
        <p:nvSpPr>
          <p:cNvPr id="64" name="TextBox 63"/>
          <p:cNvSpPr txBox="1"/>
          <p:nvPr/>
        </p:nvSpPr>
        <p:spPr>
          <a:xfrm>
            <a:off x="685800" y="2743200"/>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Aerodynamic forces, lift, drag and propulsion</a:t>
            </a:r>
          </a:p>
        </p:txBody>
      </p:sp>
      <p:sp>
        <p:nvSpPr>
          <p:cNvPr id="65" name="TextBox 64"/>
          <p:cNvSpPr txBox="1"/>
          <p:nvPr/>
        </p:nvSpPr>
        <p:spPr>
          <a:xfrm>
            <a:off x="8229600" y="2743200"/>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3"/>
              </a:rPr>
              <a:t>https://www.nasa.gov/</a:t>
            </a:r>
          </a:p>
        </p:txBody>
      </p:sp>
      <p:sp>
        <p:nvSpPr>
          <p:cNvPr id="66" name="TextBox 65"/>
          <p:cNvSpPr txBox="1"/>
          <p:nvPr/>
        </p:nvSpPr>
        <p:spPr>
          <a:xfrm>
            <a:off x="685800" y="3273552"/>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FAA unmanned aircraft systems</a:t>
            </a:r>
          </a:p>
        </p:txBody>
      </p:sp>
      <p:sp>
        <p:nvSpPr>
          <p:cNvPr id="67" name="TextBox 66"/>
          <p:cNvSpPr txBox="1"/>
          <p:nvPr/>
        </p:nvSpPr>
        <p:spPr>
          <a:xfrm>
            <a:off x="685800" y="3593592"/>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UAS operations and regulatory resources</a:t>
            </a:r>
          </a:p>
        </p:txBody>
      </p:sp>
      <p:sp>
        <p:nvSpPr>
          <p:cNvPr id="68" name="TextBox 67"/>
          <p:cNvSpPr txBox="1"/>
          <p:nvPr/>
        </p:nvSpPr>
        <p:spPr>
          <a:xfrm>
            <a:off x="8229600" y="3593592"/>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4"/>
              </a:rPr>
              <a:t>https://www.faa.gov/uas</a:t>
            </a:r>
          </a:p>
        </p:txBody>
      </p:sp>
      <p:sp>
        <p:nvSpPr>
          <p:cNvPr id="69" name="TextBox 68"/>
          <p:cNvSpPr txBox="1"/>
          <p:nvPr/>
        </p:nvSpPr>
        <p:spPr>
          <a:xfrm>
            <a:off x="685800" y="4123944"/>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DGCA / Digital Sky</a:t>
            </a:r>
          </a:p>
        </p:txBody>
      </p:sp>
      <p:sp>
        <p:nvSpPr>
          <p:cNvPr id="70" name="TextBox 69"/>
          <p:cNvSpPr txBox="1"/>
          <p:nvPr/>
        </p:nvSpPr>
        <p:spPr>
          <a:xfrm>
            <a:off x="685800" y="4443983"/>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India: current rules, airspace and civil drone requirements</a:t>
            </a:r>
          </a:p>
        </p:txBody>
      </p:sp>
      <p:sp>
        <p:nvSpPr>
          <p:cNvPr id="71" name="TextBox 70"/>
          <p:cNvSpPr txBox="1"/>
          <p:nvPr/>
        </p:nvSpPr>
        <p:spPr>
          <a:xfrm>
            <a:off x="8229600" y="4443983"/>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5"/>
              </a:rPr>
              <a:t>https://digitalsky.dgca.gov.in/</a:t>
            </a:r>
          </a:p>
        </p:txBody>
      </p:sp>
      <p:sp>
        <p:nvSpPr>
          <p:cNvPr id="72" name="TextBox 71"/>
          <p:cNvSpPr txBox="1"/>
          <p:nvPr/>
        </p:nvSpPr>
        <p:spPr>
          <a:xfrm>
            <a:off x="685800" y="4974336"/>
            <a:ext cx="10789920" cy="27432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ICAO unmanned aviation</a:t>
            </a:r>
          </a:p>
        </p:txBody>
      </p:sp>
      <p:sp>
        <p:nvSpPr>
          <p:cNvPr id="73" name="TextBox 72"/>
          <p:cNvSpPr txBox="1"/>
          <p:nvPr/>
        </p:nvSpPr>
        <p:spPr>
          <a:xfrm>
            <a:off x="685800" y="5294375"/>
            <a:ext cx="7315200" cy="32004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RPAS terminology and international integration context</a:t>
            </a:r>
          </a:p>
        </p:txBody>
      </p:sp>
      <p:sp>
        <p:nvSpPr>
          <p:cNvPr id="74" name="TextBox 73"/>
          <p:cNvSpPr txBox="1"/>
          <p:nvPr/>
        </p:nvSpPr>
        <p:spPr>
          <a:xfrm>
            <a:off x="8229600" y="5294375"/>
            <a:ext cx="3200400" cy="365760"/>
          </a:xfrm>
          <a:prstGeom prst="rect">
            <a:avLst/>
          </a:prstGeom>
          <a:noFill/>
        </p:spPr>
        <p:txBody>
          <a:bodyPr wrap="square" lIns="0" rIns="0" tIns="0" bIns="0">
            <a:spAutoFit/>
          </a:bodyPr>
          <a:lstStyle/>
          <a:p>
            <a:pPr>
              <a:lnSpc>
                <a:spcPct val="112000"/>
              </a:lnSpc>
              <a:spcAft>
                <a:spcPts val="0"/>
              </a:spcAft>
              <a:defRPr sz="1000" b="0">
                <a:solidFill>
                  <a:srgbClr val="F6B75A"/>
                </a:solidFill>
                <a:latin typeface="DejaVu Sans"/>
              </a:defRPr>
            </a:pPr>
            <a:r>
              <a:rPr>
                <a:hlinkClick r:id="rId6"/>
              </a:rPr>
              <a:t>https://www.icao.int/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Rectangle 1"/>
          <p:cNvSpPr/>
          <p:nvPr/>
        </p:nvSpPr>
        <p:spPr>
          <a:xfrm>
            <a:off x="0" y="0"/>
            <a:ext cx="12191999"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5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7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63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18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233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891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548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206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64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179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836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809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467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124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755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412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0704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97280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3856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70432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70080" y="0"/>
            <a:ext cx="0" cy="685800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657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7315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10972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14630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18288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21945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25603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29260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32918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36576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40233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43891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47548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512064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548640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585216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0" y="621792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0" y="6583680"/>
            <a:ext cx="12191999" cy="0"/>
          </a:xfrm>
          <a:prstGeom prst="line">
            <a:avLst/>
          </a:prstGeom>
          <a:ln w="2794">
            <a:solidFill>
              <a:srgbClr val="17344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0" y="0"/>
            <a:ext cx="12191999" cy="109728"/>
          </a:xfrm>
          <a:prstGeom prst="rect">
            <a:avLst/>
          </a:prstGeom>
          <a:solidFill>
            <a:srgbClr val="4E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310896"/>
            <a:ext cx="10058400" cy="27432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APPENDIX C / PRODUCTION NOTES</a:t>
            </a:r>
          </a:p>
        </p:txBody>
      </p:sp>
      <p:sp>
        <p:nvSpPr>
          <p:cNvPr id="58" name="TextBox 57"/>
          <p:cNvSpPr txBox="1"/>
          <p:nvPr/>
        </p:nvSpPr>
        <p:spPr>
          <a:xfrm>
            <a:off x="502920" y="795528"/>
            <a:ext cx="11155680" cy="960120"/>
          </a:xfrm>
          <a:prstGeom prst="rect">
            <a:avLst/>
          </a:prstGeom>
          <a:noFill/>
        </p:spPr>
        <p:txBody>
          <a:bodyPr wrap="square" lIns="0" rIns="0" tIns="0" bIns="0">
            <a:spAutoFit/>
          </a:bodyPr>
          <a:lstStyle/>
          <a:p>
            <a:pPr>
              <a:lnSpc>
                <a:spcPct val="112000"/>
              </a:lnSpc>
              <a:spcAft>
                <a:spcPts val="0"/>
              </a:spcAft>
              <a:defRPr sz="3000" b="1">
                <a:solidFill>
                  <a:srgbClr val="EFF6FB"/>
                </a:solidFill>
                <a:latin typeface="DejaVu Sans"/>
              </a:defRPr>
            </a:pPr>
            <a:r>
              <a:t>Assets, diagram scope and Canva import</a:t>
            </a:r>
          </a:p>
        </p:txBody>
      </p:sp>
      <p:sp>
        <p:nvSpPr>
          <p:cNvPr id="59" name="TextBox 58"/>
          <p:cNvSpPr txBox="1"/>
          <p:nvPr/>
        </p:nvSpPr>
        <p:spPr>
          <a:xfrm>
            <a:off x="521207" y="1773936"/>
            <a:ext cx="11064240" cy="502920"/>
          </a:xfrm>
          <a:prstGeom prst="rect">
            <a:avLst/>
          </a:prstGeom>
          <a:noFill/>
        </p:spPr>
        <p:txBody>
          <a:bodyPr wrap="square" lIns="0" rIns="0" tIns="0" bIns="0">
            <a:spAutoFit/>
          </a:bodyPr>
          <a:lstStyle/>
          <a:p>
            <a:pPr>
              <a:lnSpc>
                <a:spcPct val="112000"/>
              </a:lnSpc>
              <a:spcAft>
                <a:spcPts val="0"/>
              </a:spcAft>
              <a:defRPr sz="1300" b="0">
                <a:solidFill>
                  <a:srgbClr val="A7BDCC"/>
                </a:solidFill>
                <a:latin typeface="DejaVu Sans"/>
              </a:defRPr>
            </a:pPr>
            <a:r>
              <a:t>An editable 16:9 PowerPoint, with a matching PDF reading copy</a:t>
            </a:r>
          </a:p>
        </p:txBody>
      </p:sp>
      <p:cxnSp>
        <p:nvCxnSpPr>
          <p:cNvPr id="60" name="Connector 59"/>
          <p:cNvCxnSpPr/>
          <p:nvPr/>
        </p:nvCxnSpPr>
        <p:spPr>
          <a:xfrm>
            <a:off x="502920" y="6419088"/>
            <a:ext cx="11183112" cy="0"/>
          </a:xfrm>
          <a:prstGeom prst="line">
            <a:avLst/>
          </a:prstGeom>
          <a:ln w="12700">
            <a:solidFill>
              <a:srgbClr val="173449"/>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519672"/>
            <a:ext cx="9144000" cy="201168"/>
          </a:xfrm>
          <a:prstGeom prst="rect">
            <a:avLst/>
          </a:prstGeom>
          <a:noFill/>
        </p:spPr>
        <p:txBody>
          <a:bodyPr wrap="square" lIns="0" rIns="0" tIns="0" bIns="0">
            <a:spAutoFit/>
          </a:bodyPr>
          <a:lstStyle/>
          <a:p>
            <a:pPr>
              <a:lnSpc>
                <a:spcPct val="112000"/>
              </a:lnSpc>
              <a:spcAft>
                <a:spcPts val="0"/>
              </a:spcAft>
              <a:defRPr sz="800" b="0">
                <a:solidFill>
                  <a:srgbClr val="A7BDCC"/>
                </a:solidFill>
                <a:latin typeface="DejaVu Sans"/>
              </a:defRPr>
            </a:pPr>
            <a:r>
              <a:t>UAV / SYSTEMS • HISTORY • OPERATIONS</a:t>
            </a:r>
          </a:p>
        </p:txBody>
      </p:sp>
      <p:sp>
        <p:nvSpPr>
          <p:cNvPr id="62" name="TextBox 61"/>
          <p:cNvSpPr txBox="1"/>
          <p:nvPr/>
        </p:nvSpPr>
        <p:spPr>
          <a:xfrm>
            <a:off x="11247120" y="6492240"/>
            <a:ext cx="457200" cy="228600"/>
          </a:xfrm>
          <a:prstGeom prst="rect">
            <a:avLst/>
          </a:prstGeom>
          <a:noFill/>
        </p:spPr>
        <p:txBody>
          <a:bodyPr wrap="square" lIns="0" rIns="0" tIns="0" bIns="0">
            <a:spAutoFit/>
          </a:bodyPr>
          <a:lstStyle/>
          <a:p>
            <a:pPr>
              <a:lnSpc>
                <a:spcPct val="112000"/>
              </a:lnSpc>
              <a:spcAft>
                <a:spcPts val="0"/>
              </a:spcAft>
              <a:defRPr sz="1000" b="1">
                <a:solidFill>
                  <a:srgbClr val="4EDFE3"/>
                </a:solidFill>
                <a:latin typeface="DejaVu Sans"/>
              </a:defRPr>
            </a:pPr>
            <a:r>
              <a:t>48</a:t>
            </a:r>
          </a:p>
        </p:txBody>
      </p:sp>
      <p:sp>
        <p:nvSpPr>
          <p:cNvPr id="63" name="Rectangle 62"/>
          <p:cNvSpPr/>
          <p:nvPr/>
        </p:nvSpPr>
        <p:spPr>
          <a:xfrm>
            <a:off x="685800" y="2560320"/>
            <a:ext cx="3474720" cy="30632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5528" y="2670048"/>
            <a:ext cx="32552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IMAGE PROVENANCE</a:t>
            </a:r>
          </a:p>
        </p:txBody>
      </p:sp>
      <p:sp>
        <p:nvSpPr>
          <p:cNvPr id="65" name="TextBox 64"/>
          <p:cNvSpPr txBox="1"/>
          <p:nvPr/>
        </p:nvSpPr>
        <p:spPr>
          <a:xfrm>
            <a:off x="795528" y="3273552"/>
            <a:ext cx="3255263" cy="23317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abhijeetkr1436802/codex_env</a:t>
            </a:r>
          </a:p>
          <a:p>
            <a:pPr>
              <a:lnSpc>
                <a:spcPct val="112000"/>
              </a:lnSpc>
              <a:spcAft>
                <a:spcPts val="0"/>
              </a:spcAft>
              <a:defRPr sz="1200" b="0">
                <a:solidFill>
                  <a:srgbClr val="EFF6FB"/>
                </a:solidFill>
                <a:latin typeface="DejaVu Sans"/>
              </a:defRPr>
            </a:pPr>
            <a:r>
              <a:t>Commit: 084ac3a561b7…</a:t>
            </a:r>
          </a:p>
          <a:p>
            <a:pPr>
              <a:lnSpc>
                <a:spcPct val="112000"/>
              </a:lnSpc>
              <a:spcAft>
                <a:spcPts val="0"/>
              </a:spcAft>
              <a:defRPr sz="1200" b="0">
                <a:solidFill>
                  <a:srgbClr val="EFF6FB"/>
                </a:solidFill>
                <a:latin typeface="DejaVu Sans"/>
              </a:defRPr>
            </a:pPr>
            <a:r>
              <a:t>10 repository images used</a:t>
            </a:r>
          </a:p>
          <a:p>
            <a:pPr>
              <a:lnSpc>
                <a:spcPct val="112000"/>
              </a:lnSpc>
              <a:spcAft>
                <a:spcPts val="0"/>
              </a:spcAft>
              <a:defRPr sz="1200" b="0">
                <a:solidFill>
                  <a:srgbClr val="EFF6FB"/>
                </a:solidFill>
                <a:latin typeface="DejaVu Sans"/>
              </a:defRPr>
            </a:pPr>
            <a:r>
              <a:t>Asset names retained</a:t>
            </a:r>
          </a:p>
        </p:txBody>
      </p:sp>
      <p:sp>
        <p:nvSpPr>
          <p:cNvPr id="66" name="Rectangle 65"/>
          <p:cNvSpPr/>
          <p:nvPr/>
        </p:nvSpPr>
        <p:spPr>
          <a:xfrm>
            <a:off x="4389120" y="2560320"/>
            <a:ext cx="3474720" cy="30632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98848" y="2670048"/>
            <a:ext cx="3255263"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ILLUSTRATION SCOPE</a:t>
            </a:r>
          </a:p>
        </p:txBody>
      </p:sp>
      <p:sp>
        <p:nvSpPr>
          <p:cNvPr id="68" name="TextBox 67"/>
          <p:cNvSpPr txBox="1"/>
          <p:nvPr/>
        </p:nvSpPr>
        <p:spPr>
          <a:xfrm>
            <a:off x="4498848" y="3273552"/>
            <a:ext cx="3255263" cy="23317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Generic vector blueprint</a:t>
            </a:r>
          </a:p>
          <a:p>
            <a:pPr>
              <a:lnSpc>
                <a:spcPct val="112000"/>
              </a:lnSpc>
              <a:spcAft>
                <a:spcPts val="0"/>
              </a:spcAft>
              <a:defRPr sz="1200" b="0">
                <a:solidFill>
                  <a:srgbClr val="EFF6FB"/>
                </a:solidFill>
                <a:latin typeface="DejaVu Sans"/>
              </a:defRPr>
            </a:pPr>
            <a:r>
              <a:t>Conceptual internal zones</a:t>
            </a:r>
          </a:p>
          <a:p>
            <a:pPr>
              <a:lnSpc>
                <a:spcPct val="112000"/>
              </a:lnSpc>
              <a:spcAft>
                <a:spcPts val="0"/>
              </a:spcAft>
              <a:defRPr sz="1200" b="0">
                <a:solidFill>
                  <a:srgbClr val="EFF6FB"/>
                </a:solidFill>
                <a:latin typeface="DejaVu Sans"/>
              </a:defRPr>
            </a:pPr>
            <a:r>
              <a:t>Functional block diagrams</a:t>
            </a:r>
          </a:p>
          <a:p>
            <a:pPr>
              <a:lnSpc>
                <a:spcPct val="112000"/>
              </a:lnSpc>
              <a:spcAft>
                <a:spcPts val="0"/>
              </a:spcAft>
              <a:defRPr sz="1200" b="0">
                <a:solidFill>
                  <a:srgbClr val="EFF6FB"/>
                </a:solidFill>
                <a:latin typeface="DejaVu Sans"/>
              </a:defRPr>
            </a:pPr>
            <a:r>
              <a:t>No verified model cutaway</a:t>
            </a:r>
          </a:p>
        </p:txBody>
      </p:sp>
      <p:sp>
        <p:nvSpPr>
          <p:cNvPr id="69" name="Rectangle 68"/>
          <p:cNvSpPr/>
          <p:nvPr/>
        </p:nvSpPr>
        <p:spPr>
          <a:xfrm>
            <a:off x="8092440" y="2560320"/>
            <a:ext cx="3383280" cy="3063240"/>
          </a:xfrm>
          <a:prstGeom prst="rect">
            <a:avLst/>
          </a:prstGeom>
          <a:solidFill>
            <a:srgbClr val="102337"/>
          </a:solidFill>
          <a:ln w="8890">
            <a:solidFill>
              <a:srgbClr val="4ED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02167" y="2670048"/>
            <a:ext cx="3163824" cy="548640"/>
          </a:xfrm>
          <a:prstGeom prst="rect">
            <a:avLst/>
          </a:prstGeom>
          <a:noFill/>
        </p:spPr>
        <p:txBody>
          <a:bodyPr wrap="square" lIns="0" rIns="0" tIns="0" bIns="0">
            <a:spAutoFit/>
          </a:bodyPr>
          <a:lstStyle/>
          <a:p>
            <a:pPr>
              <a:lnSpc>
                <a:spcPct val="112000"/>
              </a:lnSpc>
              <a:spcAft>
                <a:spcPts val="0"/>
              </a:spcAft>
              <a:defRPr sz="1500" b="1">
                <a:solidFill>
                  <a:srgbClr val="4EDFE3"/>
                </a:solidFill>
                <a:latin typeface="DejaVu Sans"/>
              </a:defRPr>
            </a:pPr>
            <a:r>
              <a:t>IMPORT TO CANVA</a:t>
            </a:r>
          </a:p>
        </p:txBody>
      </p:sp>
      <p:sp>
        <p:nvSpPr>
          <p:cNvPr id="71" name="TextBox 70"/>
          <p:cNvSpPr txBox="1"/>
          <p:nvPr/>
        </p:nvSpPr>
        <p:spPr>
          <a:xfrm>
            <a:off x="8202167" y="3273552"/>
            <a:ext cx="3163824" cy="2331720"/>
          </a:xfrm>
          <a:prstGeom prst="rect">
            <a:avLst/>
          </a:prstGeom>
          <a:noFill/>
        </p:spPr>
        <p:txBody>
          <a:bodyPr wrap="square" lIns="0" rIns="0" tIns="0" bIns="0">
            <a:spAutoFit/>
          </a:bodyPr>
          <a:lstStyle/>
          <a:p>
            <a:pPr>
              <a:lnSpc>
                <a:spcPct val="112000"/>
              </a:lnSpc>
              <a:spcAft>
                <a:spcPts val="0"/>
              </a:spcAft>
              <a:defRPr sz="1200" b="0">
                <a:solidFill>
                  <a:srgbClr val="EFF6FB"/>
                </a:solidFill>
                <a:latin typeface="DejaVu Sans"/>
              </a:defRPr>
            </a:pPr>
            <a:r>
              <a:t>Upload the .pptx to Canva</a:t>
            </a:r>
          </a:p>
          <a:p>
            <a:pPr>
              <a:lnSpc>
                <a:spcPct val="112000"/>
              </a:lnSpc>
              <a:spcAft>
                <a:spcPts val="0"/>
              </a:spcAft>
              <a:defRPr sz="1200" b="0">
                <a:solidFill>
                  <a:srgbClr val="EFF6FB"/>
                </a:solidFill>
                <a:latin typeface="DejaVu Sans"/>
              </a:defRPr>
            </a:pPr>
            <a:r>
              <a:t>Open as a presentation</a:t>
            </a:r>
          </a:p>
          <a:p>
            <a:pPr>
              <a:lnSpc>
                <a:spcPct val="112000"/>
              </a:lnSpc>
              <a:spcAft>
                <a:spcPts val="0"/>
              </a:spcAft>
              <a:defRPr sz="1200" b="0">
                <a:solidFill>
                  <a:srgbClr val="EFF6FB"/>
                </a:solidFill>
                <a:latin typeface="DejaVu Sans"/>
              </a:defRPr>
            </a:pPr>
            <a:r>
              <a:t>Check layout and fonts</a:t>
            </a:r>
          </a:p>
          <a:p>
            <a:pPr>
              <a:lnSpc>
                <a:spcPct val="112000"/>
              </a:lnSpc>
              <a:spcAft>
                <a:spcPts val="0"/>
              </a:spcAft>
              <a:defRPr sz="1200" b="0">
                <a:solidFill>
                  <a:srgbClr val="EFF6FB"/>
                </a:solidFill>
                <a:latin typeface="DejaVu Sans"/>
              </a:defRPr>
            </a:pPr>
            <a:r>
              <a:t>Add animations if desired</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UAV: Unmanned Aerial Vehicles</dc:title>
  <dc:subject>History, aircraft engineering, LRUs and ground systems</dc:subject>
  <dc:creator>Prepared for Abhijeet</dc:creator>
  <cp:keywords>UAV, UAS, India, propulsion, FCC, datalink, GCS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